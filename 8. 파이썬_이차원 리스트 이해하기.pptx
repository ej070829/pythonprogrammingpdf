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50" r:id="rId2"/>
    <p:sldId id="372" r:id="rId3"/>
    <p:sldId id="1436" r:id="rId4"/>
    <p:sldId id="329" r:id="rId5"/>
    <p:sldId id="330" r:id="rId6"/>
    <p:sldId id="332" r:id="rId7"/>
    <p:sldId id="375" r:id="rId8"/>
    <p:sldId id="364" r:id="rId9"/>
    <p:sldId id="383" r:id="rId10"/>
    <p:sldId id="1440" r:id="rId11"/>
    <p:sldId id="384" r:id="rId12"/>
    <p:sldId id="1441" r:id="rId13"/>
    <p:sldId id="385" r:id="rId14"/>
    <p:sldId id="398" r:id="rId15"/>
    <p:sldId id="1448" r:id="rId16"/>
    <p:sldId id="399" r:id="rId17"/>
    <p:sldId id="1442" r:id="rId18"/>
    <p:sldId id="386" r:id="rId19"/>
    <p:sldId id="1449" r:id="rId20"/>
    <p:sldId id="400" r:id="rId21"/>
    <p:sldId id="1443" r:id="rId22"/>
    <p:sldId id="325" r:id="rId23"/>
    <p:sldId id="1445" r:id="rId24"/>
    <p:sldId id="1446" r:id="rId25"/>
    <p:sldId id="1450" r:id="rId26"/>
    <p:sldId id="328" r:id="rId27"/>
    <p:sldId id="1447" r:id="rId28"/>
    <p:sldId id="1439" r:id="rId29"/>
    <p:sldId id="1451" r:id="rId30"/>
    <p:sldId id="338" r:id="rId31"/>
    <p:sldId id="1452" r:id="rId32"/>
    <p:sldId id="553" r:id="rId33"/>
  </p:sldIdLst>
  <p:sldSz cx="9144000" cy="5143500" type="screen16x9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0000"/>
    <a:srgbClr val="EE7D16"/>
    <a:srgbClr val="213540"/>
    <a:srgbClr val="FFD44E"/>
    <a:srgbClr val="704837"/>
    <a:srgbClr val="7396F5"/>
    <a:srgbClr val="EE6E73"/>
    <a:srgbClr val="FE4E50"/>
    <a:srgbClr val="E6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6" autoAdjust="0"/>
    <p:restoredTop sz="95494" autoAdjust="0"/>
  </p:normalViewPr>
  <p:slideViewPr>
    <p:cSldViewPr>
      <p:cViewPr varScale="1">
        <p:scale>
          <a:sx n="146" d="100"/>
          <a:sy n="146" d="100"/>
        </p:scale>
        <p:origin x="67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r">
              <a:defRPr sz="1300"/>
            </a:lvl1pPr>
          </a:lstStyle>
          <a:p>
            <a:fld id="{72D9A5FD-E331-4056-855E-36F30E6A9905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7" rIns="96616" bIns="4830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5"/>
            <a:ext cx="5510530" cy="3946118"/>
          </a:xfrm>
          <a:prstGeom prst="rect">
            <a:avLst/>
          </a:prstGeom>
        </p:spPr>
        <p:txBody>
          <a:bodyPr vert="horz" lIns="96616" tIns="48307" rIns="96616" bIns="483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r">
              <a:defRPr sz="1300"/>
            </a:lvl1pPr>
          </a:lstStyle>
          <a:p>
            <a:fld id="{9599A198-E9C2-43A8-BA3B-B3D7BEBA52A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49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78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9073-F921-9709-D6DA-418635CCB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BA82A-BC88-82D9-4804-315AF9675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E60772-1165-77CB-B83D-064C02E03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B34BCD-13D5-F916-D62B-2AB9651DC5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390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0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845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139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3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3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438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438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A11ED-A5EB-AA99-22AD-05367AD9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F3EB9D-A176-0D3A-51C7-CF0BA19D8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DDFF72-EC8D-FD50-F414-EC0A602AD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840C-8769-C65D-ECBF-1DD380DC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765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99A198-E9C2-43A8-BA3B-B3D7BEBA52A1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54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54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1206" y="1518044"/>
            <a:ext cx="7941598" cy="21604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프로그램 언어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[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파이썬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8. 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이차원 리스트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12롯데마트드림Medium" panose="02020603020101020101" pitchFamily="18" charset="-127"/>
              <a:ea typeface="나눔바른고딕 옛한글" panose="020B0603020101020101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8CE04E-3AEA-2546-82B6-E6078099DA44}"/>
              </a:ext>
            </a:extLst>
          </p:cNvPr>
          <p:cNvSpPr txBox="1"/>
          <p:nvPr/>
        </p:nvSpPr>
        <p:spPr>
          <a:xfrm>
            <a:off x="8677468" y="411510"/>
            <a:ext cx="366126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359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차원 리스트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000" t="53383" b="9051"/>
          <a:stretch/>
        </p:blipFill>
        <p:spPr>
          <a:xfrm>
            <a:off x="3995936" y="2571750"/>
            <a:ext cx="4896544" cy="136815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6250" t="8736" r="38750" b="67539"/>
          <a:stretch/>
        </p:blipFill>
        <p:spPr>
          <a:xfrm>
            <a:off x="1102722" y="2643758"/>
            <a:ext cx="1440160" cy="864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3588" y="1260123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solidFill>
                  <a:srgbClr val="FF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차원 리스트</a:t>
            </a:r>
            <a:endParaRPr lang="en-US" altLang="ko-KR" dirty="0">
              <a:solidFill>
                <a:srgbClr val="FF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aa = [0,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0]</a:t>
            </a:r>
            <a:endParaRPr lang="ko-KR" alt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1030" y="1260123"/>
            <a:ext cx="3666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solidFill>
                  <a:srgbClr val="FF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차원 리스트</a:t>
            </a:r>
            <a:endParaRPr lang="en-US" altLang="ko-KR" dirty="0">
              <a:solidFill>
                <a:srgbClr val="FF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aa= [[0,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0],[0,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0],[0,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0,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0]]</a:t>
            </a:r>
            <a:endParaRPr lang="ko-KR" alt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13" y="1279944"/>
            <a:ext cx="213875" cy="24060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651" y="1323029"/>
            <a:ext cx="213875" cy="24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8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8DA4-0496-C492-4C7A-8849FD23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6746F-5E5F-288F-9E3A-20B7EFA2B3FF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E1451-2231-BFBF-3189-BC7346B1F90C}"/>
              </a:ext>
            </a:extLst>
          </p:cNvPr>
          <p:cNvSpPr txBox="1"/>
          <p:nvPr/>
        </p:nvSpPr>
        <p:spPr>
          <a:xfrm>
            <a:off x="323528" y="444110"/>
            <a:ext cx="248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차원 리스트 이해하기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E1350-323B-2014-A9E6-F2CA805EA1D7}"/>
              </a:ext>
            </a:extLst>
          </p:cNvPr>
          <p:cNvSpPr txBox="1"/>
          <p:nvPr/>
        </p:nvSpPr>
        <p:spPr>
          <a:xfrm>
            <a:off x="805973" y="982697"/>
            <a:ext cx="4342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</a:t>
            </a:r>
            <a:r>
              <a:rPr lang="ko-KR" altLang="en-US" sz="1600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차원 리스트 </a:t>
            </a:r>
            <a:r>
              <a:rPr lang="en-US" altLang="ko-KR" sz="1600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이중</a:t>
            </a:r>
            <a:r>
              <a:rPr lang="en-US" altLang="ko-KR" sz="1600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 </a:t>
            </a:r>
            <a:r>
              <a:rPr lang="ko-KR" altLang="en-US" sz="1600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 형태로 이해하기</a:t>
            </a:r>
            <a:endParaRPr lang="en-US" altLang="ko-KR" sz="1600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r>
              <a:rPr lang="en-US" altLang="ko-KR" sz="1600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차원 리스트</a:t>
            </a:r>
            <a:endParaRPr lang="en-US" altLang="ko-KR" sz="16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 </a:t>
            </a:r>
            <a:r>
              <a:rPr lang="en-US" altLang="ko-KR" sz="1600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arr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=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lang="ko-KR" altLang="en-US" sz="1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661BA33-1C9A-C717-F872-E3CC8FE89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871329"/>
              </p:ext>
            </p:extLst>
          </p:nvPr>
        </p:nvGraphicFramePr>
        <p:xfrm>
          <a:off x="973117" y="2364730"/>
          <a:ext cx="1512168" cy="14203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04738250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068957107"/>
                    </a:ext>
                  </a:extLst>
                </a:gridCol>
              </a:tblGrid>
              <a:tr h="4734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201689"/>
                  </a:ext>
                </a:extLst>
              </a:tr>
              <a:tr h="4734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0064"/>
                  </a:ext>
                </a:extLst>
              </a:tr>
              <a:tr h="4734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6687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9589E96-9F42-129B-A63F-7FB58ABCEFB3}"/>
              </a:ext>
            </a:extLst>
          </p:cNvPr>
          <p:cNvSpPr txBox="1"/>
          <p:nvPr/>
        </p:nvSpPr>
        <p:spPr>
          <a:xfrm>
            <a:off x="4118340" y="1494532"/>
            <a:ext cx="4342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차원 리스트</a:t>
            </a:r>
            <a:endParaRPr lang="en-US" altLang="ko-KR" sz="16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 </a:t>
            </a:r>
            <a:r>
              <a:rPr lang="en-US" altLang="ko-KR" sz="1600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arr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=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0],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endParaRPr lang="en-US" altLang="ko-KR" sz="16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           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0],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endParaRPr lang="en-US" altLang="ko-KR" sz="16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           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0,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0]</a:t>
            </a:r>
            <a:r>
              <a:rPr lang="ko-KR" altLang="en-US" sz="16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lang="ko-KR" altLang="en-US" sz="1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0A68A02-4236-1711-9BF2-0140B4A7B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122571"/>
              </p:ext>
            </p:extLst>
          </p:nvPr>
        </p:nvGraphicFramePr>
        <p:xfrm>
          <a:off x="4499992" y="2838182"/>
          <a:ext cx="3670891" cy="1893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0097">
                  <a:extLst>
                    <a:ext uri="{9D8B030D-6E8A-4147-A177-3AD203B41FA5}">
                      <a16:colId xmlns:a16="http://schemas.microsoft.com/office/drawing/2014/main" val="3047382509"/>
                    </a:ext>
                  </a:extLst>
                </a:gridCol>
                <a:gridCol w="913598">
                  <a:extLst>
                    <a:ext uri="{9D8B030D-6E8A-4147-A177-3AD203B41FA5}">
                      <a16:colId xmlns:a16="http://schemas.microsoft.com/office/drawing/2014/main" val="4256316284"/>
                    </a:ext>
                  </a:extLst>
                </a:gridCol>
                <a:gridCol w="913598">
                  <a:extLst>
                    <a:ext uri="{9D8B030D-6E8A-4147-A177-3AD203B41FA5}">
                      <a16:colId xmlns:a16="http://schemas.microsoft.com/office/drawing/2014/main" val="3572936091"/>
                    </a:ext>
                  </a:extLst>
                </a:gridCol>
                <a:gridCol w="913598">
                  <a:extLst>
                    <a:ext uri="{9D8B030D-6E8A-4147-A177-3AD203B41FA5}">
                      <a16:colId xmlns:a16="http://schemas.microsoft.com/office/drawing/2014/main" val="3068957107"/>
                    </a:ext>
                  </a:extLst>
                </a:gridCol>
              </a:tblGrid>
              <a:tr h="47345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/>
                        <a:t>i</a:t>
                      </a:r>
                      <a:r>
                        <a:rPr lang="en-US" altLang="ko-KR" dirty="0"/>
                        <a:t>       j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</a:t>
                      </a:r>
                      <a:r>
                        <a:rPr lang="en-US" altLang="ko-KR" dirty="0" err="1"/>
                        <a:t>i</a:t>
                      </a:r>
                      <a:r>
                        <a:rPr lang="en-US" altLang="ko-KR" dirty="0"/>
                        <a:t>][0]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</a:t>
                      </a:r>
                      <a:r>
                        <a:rPr lang="en-US" altLang="ko-KR" dirty="0" err="1"/>
                        <a:t>i</a:t>
                      </a:r>
                      <a:r>
                        <a:rPr lang="en-US" altLang="ko-KR" dirty="0"/>
                        <a:t>][1]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</a:t>
                      </a:r>
                      <a:r>
                        <a:rPr lang="en-US" altLang="ko-KR" dirty="0" err="1"/>
                        <a:t>i</a:t>
                      </a:r>
                      <a:r>
                        <a:rPr lang="en-US" altLang="ko-KR" dirty="0"/>
                        <a:t>][2]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878692"/>
                  </a:ext>
                </a:extLst>
              </a:tr>
              <a:tr h="4734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76201689"/>
                  </a:ext>
                </a:extLst>
              </a:tr>
              <a:tr h="4734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0064"/>
                  </a:ext>
                </a:extLst>
              </a:tr>
              <a:tr h="4734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66871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7B8E375-4E97-DAB6-7202-0BC789730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03528"/>
              </p:ext>
            </p:extLst>
          </p:nvPr>
        </p:nvGraphicFramePr>
        <p:xfrm>
          <a:off x="7020272" y="1475289"/>
          <a:ext cx="144015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730826904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1777185703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735028287"/>
                    </a:ext>
                  </a:extLst>
                </a:gridCol>
              </a:tblGrid>
              <a:tr h="3393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50945903"/>
                  </a:ext>
                </a:extLst>
              </a:tr>
              <a:tr h="3393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529491"/>
                  </a:ext>
                </a:extLst>
              </a:tr>
              <a:tr h="3393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48032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21DDA39-14C1-0FAC-8BB9-1EEC394AB055}"/>
              </a:ext>
            </a:extLst>
          </p:cNvPr>
          <p:cNvSpPr txBox="1"/>
          <p:nvPr/>
        </p:nvSpPr>
        <p:spPr>
          <a:xfrm>
            <a:off x="6564288" y="1326014"/>
            <a:ext cx="2400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 </a:t>
            </a:r>
            <a:r>
              <a:rPr lang="en-US" altLang="ko-KR" sz="28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    ,    ,    ],</a:t>
            </a:r>
            <a:endParaRPr lang="en-US" altLang="ko-KR" sz="28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r>
              <a:rPr lang="en-US" altLang="ko-KR" sz="28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</a:t>
            </a:r>
            <a:r>
              <a:rPr lang="en-US" altLang="ko-KR" sz="28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    ,    ,    ],</a:t>
            </a:r>
            <a:endParaRPr lang="en-US" altLang="ko-KR" sz="28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r>
              <a:rPr lang="en-US" altLang="ko-KR" sz="28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</a:t>
            </a:r>
            <a:r>
              <a:rPr lang="en-US" altLang="ko-KR" sz="28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    ,    ,    ] </a:t>
            </a:r>
            <a:r>
              <a:rPr lang="en-US" altLang="ko-KR" sz="28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2305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차원 리스트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t="29313" b="6144"/>
          <a:stretch/>
        </p:blipFill>
        <p:spPr>
          <a:xfrm>
            <a:off x="827584" y="2084966"/>
            <a:ext cx="6192688" cy="2510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95BFBC-7B2A-40EA-74FD-8DE09D48FE07}"/>
              </a:ext>
            </a:extLst>
          </p:cNvPr>
          <p:cNvSpPr txBox="1"/>
          <p:nvPr/>
        </p:nvSpPr>
        <p:spPr>
          <a:xfrm>
            <a:off x="683568" y="910595"/>
            <a:ext cx="5705545" cy="114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는 리스트의 이름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row, column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은 행과 열 번호</a:t>
            </a:r>
            <a:endParaRPr lang="en-US" altLang="ko-KR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에 있는 모든 요소는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a[row][column]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의 형식</a:t>
            </a:r>
            <a:endParaRPr lang="en-US" altLang="ko-KR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의 각 요소를 고유하게 식별하는 인덱스</a:t>
            </a:r>
          </a:p>
        </p:txBody>
      </p:sp>
    </p:spTree>
    <p:extLst>
      <p:ext uri="{BB962C8B-B14F-4D97-AF65-F5344CB8AC3E}">
        <p14:creationId xmlns:p14="http://schemas.microsoft.com/office/powerpoint/2010/main" val="187323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차원 리스트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t="20788" r="43755" b="61632"/>
          <a:stretch/>
        </p:blipFill>
        <p:spPr>
          <a:xfrm>
            <a:off x="625434" y="1370912"/>
            <a:ext cx="3960440" cy="777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9D6848-17C4-73E4-A80A-62F044B36EDF}"/>
              </a:ext>
            </a:extLst>
          </p:cNvPr>
          <p:cNvSpPr txBox="1"/>
          <p:nvPr/>
        </p:nvSpPr>
        <p:spPr>
          <a:xfrm>
            <a:off x="683568" y="910595"/>
            <a:ext cx="5705545" cy="404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이차원 리스트  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b = [[1, 2],[3, 4]]</a:t>
            </a:r>
            <a:endParaRPr lang="ko-KR" altLang="en-US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1C57D3-DAC1-F29D-0EAF-080A67215FBC}"/>
              </a:ext>
            </a:extLst>
          </p:cNvPr>
          <p:cNvSpPr txBox="1"/>
          <p:nvPr/>
        </p:nvSpPr>
        <p:spPr>
          <a:xfrm>
            <a:off x="683568" y="2475723"/>
            <a:ext cx="5705545" cy="114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길이가 다른 행을 가지는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차원 리스트</a:t>
            </a:r>
            <a:endParaRPr lang="en-US" altLang="ko-KR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다차원 리스트는 표현하는 방식은 매우 다양함</a:t>
            </a:r>
            <a:endParaRPr lang="en-US" altLang="ko-KR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b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에 있는 행의 길이는 같을 필요 없음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C1AF5CA-B7A1-5F88-D9D7-5102FEF7BA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895" t="74159" r="16363" b="6912"/>
          <a:stretch/>
        </p:blipFill>
        <p:spPr>
          <a:xfrm>
            <a:off x="764032" y="3793831"/>
            <a:ext cx="5544616" cy="83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41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차원 리스트의 예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683568" y="915566"/>
            <a:ext cx="7537360" cy="584775"/>
            <a:chOff x="827584" y="978282"/>
            <a:chExt cx="7537360" cy="584775"/>
          </a:xfrm>
        </p:grpSpPr>
        <p:sp>
          <p:nvSpPr>
            <p:cNvPr id="6" name="TextBox 5"/>
            <p:cNvSpPr txBox="1"/>
            <p:nvPr/>
          </p:nvSpPr>
          <p:spPr>
            <a:xfrm>
              <a:off x="1020128" y="978282"/>
              <a:ext cx="73448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리스트 </a:t>
              </a:r>
              <a:r>
                <a:rPr lang="en-US" altLang="ko-KR" sz="16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array1 </a:t>
              </a:r>
              <a:r>
                <a:rPr lang="ko-KR" altLang="en-US" sz="16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요소 값을 아래와 같이 초기화한 후 각 리스트 요소 값을 행과 열로 출력하시오</a:t>
              </a:r>
              <a:r>
                <a:rPr lang="en-US" altLang="ko-KR" sz="16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  <a:endPara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584" y="1006431"/>
              <a:ext cx="213875" cy="240609"/>
            </a:xfrm>
            <a:prstGeom prst="rect">
              <a:avLst/>
            </a:prstGeom>
          </p:spPr>
        </p:pic>
      </p:grp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665452" y="2075485"/>
          <a:ext cx="2658315" cy="12091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886105">
                  <a:extLst>
                    <a:ext uri="{9D8B030D-6E8A-4147-A177-3AD203B41FA5}">
                      <a16:colId xmlns:a16="http://schemas.microsoft.com/office/drawing/2014/main" val="2457724759"/>
                    </a:ext>
                  </a:extLst>
                </a:gridCol>
                <a:gridCol w="886105">
                  <a:extLst>
                    <a:ext uri="{9D8B030D-6E8A-4147-A177-3AD203B41FA5}">
                      <a16:colId xmlns:a16="http://schemas.microsoft.com/office/drawing/2014/main" val="4194018556"/>
                    </a:ext>
                  </a:extLst>
                </a:gridCol>
                <a:gridCol w="886105">
                  <a:extLst>
                    <a:ext uri="{9D8B030D-6E8A-4147-A177-3AD203B41FA5}">
                      <a16:colId xmlns:a16="http://schemas.microsoft.com/office/drawing/2014/main" val="580043340"/>
                    </a:ext>
                  </a:extLst>
                </a:gridCol>
              </a:tblGrid>
              <a:tr h="5689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array1[0][0]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2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array1[0][1]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3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array1[0][2]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351110"/>
                  </a:ext>
                </a:extLst>
              </a:tr>
              <a:tr h="5556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4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array1[1][0]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5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array1[1][1]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6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array1[1][2]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467305"/>
                  </a:ext>
                </a:extLst>
              </a:tr>
            </a:tbl>
          </a:graphicData>
        </a:graphic>
      </p:graphicFrame>
      <p:sp>
        <p:nvSpPr>
          <p:cNvPr id="22" name="오른쪽 화살표 21"/>
          <p:cNvSpPr/>
          <p:nvPr/>
        </p:nvSpPr>
        <p:spPr>
          <a:xfrm>
            <a:off x="4100957" y="2167607"/>
            <a:ext cx="360040" cy="395288"/>
          </a:xfrm>
          <a:prstGeom prst="rightArrow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F05441-0353-6022-FC9B-6FEF56491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887653"/>
            <a:ext cx="28448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2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원호 16"/>
          <p:cNvSpPr/>
          <p:nvPr/>
        </p:nvSpPr>
        <p:spPr>
          <a:xfrm rot="16200000">
            <a:off x="2108884" y="1363654"/>
            <a:ext cx="354798" cy="3061413"/>
          </a:xfrm>
          <a:prstGeom prst="arc">
            <a:avLst>
              <a:gd name="adj1" fmla="val 5164217"/>
              <a:gd name="adj2" fmla="val 16418425"/>
            </a:avLst>
          </a:prstGeom>
          <a:ln w="19050">
            <a:solidFill>
              <a:srgbClr val="558ED5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차원 리스트의 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560" y="935916"/>
            <a:ext cx="734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array1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를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아래와 같이 초기화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60" y="1938217"/>
            <a:ext cx="734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리스트의 요소 값을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for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문을 이용하여 출력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039375"/>
              </p:ext>
            </p:extLst>
          </p:nvPr>
        </p:nvGraphicFramePr>
        <p:xfrm>
          <a:off x="967931" y="2691098"/>
          <a:ext cx="2658315" cy="12091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886105">
                  <a:extLst>
                    <a:ext uri="{9D8B030D-6E8A-4147-A177-3AD203B41FA5}">
                      <a16:colId xmlns:a16="http://schemas.microsoft.com/office/drawing/2014/main" val="2457724759"/>
                    </a:ext>
                  </a:extLst>
                </a:gridCol>
                <a:gridCol w="886105">
                  <a:extLst>
                    <a:ext uri="{9D8B030D-6E8A-4147-A177-3AD203B41FA5}">
                      <a16:colId xmlns:a16="http://schemas.microsoft.com/office/drawing/2014/main" val="4194018556"/>
                    </a:ext>
                  </a:extLst>
                </a:gridCol>
                <a:gridCol w="886105">
                  <a:extLst>
                    <a:ext uri="{9D8B030D-6E8A-4147-A177-3AD203B41FA5}">
                      <a16:colId xmlns:a16="http://schemas.microsoft.com/office/drawing/2014/main" val="580043340"/>
                    </a:ext>
                  </a:extLst>
                </a:gridCol>
              </a:tblGrid>
              <a:tr h="5689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array1[0][0]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2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array1[0][1]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3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array1[0][2]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351110"/>
                  </a:ext>
                </a:extLst>
              </a:tr>
              <a:tr h="5556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4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array1[1][0]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5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array1[1][1]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6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12롯데마트드림Bold" panose="02020603020101020101" pitchFamily="18" charset="-127"/>
                          <a:ea typeface="12롯데마트드림Bold" panose="02020603020101020101" pitchFamily="18" charset="-127"/>
                        </a:rPr>
                        <a:t>array1[1][2]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12롯데마트드림Bold" panose="02020603020101020101" pitchFamily="18" charset="-127"/>
                        <a:ea typeface="12롯데마트드림Bold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1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467305"/>
                  </a:ext>
                </a:extLst>
              </a:tr>
            </a:tbl>
          </a:graphicData>
        </a:graphic>
      </p:graphicFrame>
      <p:sp>
        <p:nvSpPr>
          <p:cNvPr id="13" name="원호 12"/>
          <p:cNvSpPr/>
          <p:nvPr/>
        </p:nvSpPr>
        <p:spPr>
          <a:xfrm>
            <a:off x="1152691" y="2483104"/>
            <a:ext cx="281398" cy="1740784"/>
          </a:xfrm>
          <a:prstGeom prst="arc">
            <a:avLst>
              <a:gd name="adj1" fmla="val 4730918"/>
              <a:gd name="adj2" fmla="val 16646635"/>
            </a:avLst>
          </a:prstGeom>
          <a:ln w="19050">
            <a:solidFill>
              <a:schemeClr val="accent3">
                <a:lumMod val="7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345462" y="2392098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869E4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바깥 </a:t>
            </a:r>
            <a:r>
              <a:rPr lang="en-US" altLang="ko-KR" sz="1400" dirty="0">
                <a:solidFill>
                  <a:srgbClr val="869E4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400" dirty="0">
                <a:solidFill>
                  <a:srgbClr val="869E4F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559" y="2517737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558ED5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안쪽 </a:t>
            </a:r>
            <a:r>
              <a:rPr lang="en-US" altLang="ko-KR" sz="1400" dirty="0">
                <a:solidFill>
                  <a:srgbClr val="558ED5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400" dirty="0">
                <a:solidFill>
                  <a:srgbClr val="558ED5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E216EB1-2E3A-497F-0607-F6CF6ADCD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70" y="1399599"/>
            <a:ext cx="2743200" cy="393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FC510B8-571A-BD2A-0B87-91AD04834C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493"/>
          <a:stretch/>
        </p:blipFill>
        <p:spPr>
          <a:xfrm>
            <a:off x="4593113" y="1276062"/>
            <a:ext cx="4475387" cy="273584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F312466-99FC-1C5B-E808-3EC5E2B83705}"/>
              </a:ext>
            </a:extLst>
          </p:cNvPr>
          <p:cNvSpPr/>
          <p:nvPr/>
        </p:nvSpPr>
        <p:spPr>
          <a:xfrm>
            <a:off x="7092280" y="2211710"/>
            <a:ext cx="1566025" cy="306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651C9-7A43-C199-0A0D-BE420278AA7D}"/>
              </a:ext>
            </a:extLst>
          </p:cNvPr>
          <p:cNvSpPr txBox="1"/>
          <p:nvPr/>
        </p:nvSpPr>
        <p:spPr>
          <a:xfrm>
            <a:off x="7268300" y="3403182"/>
            <a:ext cx="18002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각 행의 길이를 의미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8C0D40D-B9B6-75A4-963F-19D425487A8C}"/>
              </a:ext>
            </a:extLst>
          </p:cNvPr>
          <p:cNvCxnSpPr>
            <a:cxnSpLocks/>
          </p:cNvCxnSpPr>
          <p:nvPr/>
        </p:nvCxnSpPr>
        <p:spPr>
          <a:xfrm flipH="1" flipV="1">
            <a:off x="8658305" y="2571750"/>
            <a:ext cx="162167" cy="88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초기화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31679-7846-F751-15B1-9BB18F8937D1}"/>
              </a:ext>
            </a:extLst>
          </p:cNvPr>
          <p:cNvSpPr txBox="1"/>
          <p:nvPr/>
        </p:nvSpPr>
        <p:spPr>
          <a:xfrm>
            <a:off x="611560" y="935916"/>
            <a:ext cx="734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 초기값 요소는 쉼표로 구분된 목록이 대괄호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[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]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로 묶어진 형태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58D467-C975-5D0D-8E47-50F5188E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396944"/>
            <a:ext cx="5461000" cy="2019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B7FE19-88A9-DA9A-C48F-0BBB4FAC7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832" y="3050385"/>
            <a:ext cx="2588165" cy="97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3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04825" y="1035199"/>
            <a:ext cx="814514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아래의 예와 같이 초기화한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48" y="1625145"/>
            <a:ext cx="609454" cy="696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9B98C-8D5A-D0DC-E87F-22D3CFD00552}"/>
              </a:ext>
            </a:extLst>
          </p:cNvPr>
          <p:cNvSpPr txBox="1">
            <a:spLocks/>
          </p:cNvSpPr>
          <p:nvPr/>
        </p:nvSpPr>
        <p:spPr>
          <a:xfrm>
            <a:off x="499427" y="2620201"/>
            <a:ext cx="8145145" cy="1488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아래의 출력 예와 같이 초기화 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A45036-5453-629E-6B4D-E449D138E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048" y="3255610"/>
            <a:ext cx="3390310" cy="75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62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92E5-6482-A460-3155-F59DE94B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FFB639C-A9FF-D623-B038-BD129EC56C63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5275EE-B954-F0CC-A30D-19D2294E7266}"/>
              </a:ext>
            </a:extLst>
          </p:cNvPr>
          <p:cNvSpPr/>
          <p:nvPr/>
        </p:nvSpPr>
        <p:spPr>
          <a:xfrm>
            <a:off x="504825" y="1035199"/>
            <a:ext cx="814514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아래의 예와 같이 초기화한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5CB5B-C24E-592D-45C2-04B284E49700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47A880-641C-7DC9-E461-5C3E67592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48" y="1625145"/>
            <a:ext cx="609454" cy="696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227859-880F-AACD-2918-41DB40FB356E}"/>
              </a:ext>
            </a:extLst>
          </p:cNvPr>
          <p:cNvSpPr txBox="1">
            <a:spLocks/>
          </p:cNvSpPr>
          <p:nvPr/>
        </p:nvSpPr>
        <p:spPr>
          <a:xfrm>
            <a:off x="499427" y="2620201"/>
            <a:ext cx="8145145" cy="1488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아래의 출력 예와 같이 초기화 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F07784-BFD9-E58E-557B-3324F273E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048" y="3255610"/>
            <a:ext cx="3390310" cy="756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1B9452B-C5F2-7B83-1CB8-E409404CC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570094"/>
            <a:ext cx="3524742" cy="19719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7FD60E8-0937-AD58-1305-61689E9ED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724" y="3075806"/>
            <a:ext cx="4220723" cy="154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3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499643A-A6DB-5038-335A-B8E115963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" t="51097" r="-1"/>
          <a:stretch/>
        </p:blipFill>
        <p:spPr>
          <a:xfrm>
            <a:off x="1559429" y="1579089"/>
            <a:ext cx="2286000" cy="67323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7B4B2F3-19F1-3943-C519-7951A8557224}"/>
              </a:ext>
            </a:extLst>
          </p:cNvPr>
          <p:cNvSpPr/>
          <p:nvPr/>
        </p:nvSpPr>
        <p:spPr>
          <a:xfrm>
            <a:off x="504825" y="977500"/>
            <a:ext cx="814514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1.2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아래의 예와 같이 초기화한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E6A9C-8B96-6E94-4DCA-2B141A0E4A13}"/>
              </a:ext>
            </a:extLst>
          </p:cNvPr>
          <p:cNvSpPr txBox="1">
            <a:spLocks/>
          </p:cNvSpPr>
          <p:nvPr/>
        </p:nvSpPr>
        <p:spPr>
          <a:xfrm>
            <a:off x="499427" y="2571750"/>
            <a:ext cx="8145145" cy="1488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2. 2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아래의 출력 예와 같이 초기화 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B273AD-19E3-2D9B-4CDF-A2EDA7DDFD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921"/>
          <a:stretch/>
        </p:blipFill>
        <p:spPr>
          <a:xfrm>
            <a:off x="1559429" y="3147814"/>
            <a:ext cx="2868555" cy="68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F556CD-E4C5-DB6B-2BA5-495AA00F211E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4C403-B486-9FA5-2AA3-351FED20FCD1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</p:spTree>
    <p:extLst>
      <p:ext uri="{BB962C8B-B14F-4D97-AF65-F5344CB8AC3E}">
        <p14:creationId xmlns:p14="http://schemas.microsoft.com/office/powerpoint/2010/main" val="22917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F4F17-C447-1210-1E54-3031656E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E4A7340-97B8-E9A8-71A1-5100592AA5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" t="51097" r="-1"/>
          <a:stretch/>
        </p:blipFill>
        <p:spPr>
          <a:xfrm>
            <a:off x="1559429" y="1579089"/>
            <a:ext cx="2286000" cy="67323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4F7333D-6879-E36D-08E4-61F2462BEA29}"/>
              </a:ext>
            </a:extLst>
          </p:cNvPr>
          <p:cNvSpPr/>
          <p:nvPr/>
        </p:nvSpPr>
        <p:spPr>
          <a:xfrm>
            <a:off x="504825" y="977500"/>
            <a:ext cx="814514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1.2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아래의 예와 같이 초기화한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8B967-02C0-EB26-3AE4-8B8BAEA7D18E}"/>
              </a:ext>
            </a:extLst>
          </p:cNvPr>
          <p:cNvSpPr txBox="1">
            <a:spLocks/>
          </p:cNvSpPr>
          <p:nvPr/>
        </p:nvSpPr>
        <p:spPr>
          <a:xfrm>
            <a:off x="499427" y="2571750"/>
            <a:ext cx="8145145" cy="1488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2. 2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아래의 출력 예와 같이 초기화 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4F5E2E-A258-116E-22B3-93A6FA129B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921"/>
          <a:stretch/>
        </p:blipFill>
        <p:spPr>
          <a:xfrm>
            <a:off x="1559429" y="3147814"/>
            <a:ext cx="2868555" cy="68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CA2147-FBC3-6C7F-F05B-61F45D0D2447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6068F0-D8E0-18CC-00B6-9057FDEE1878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8482BE-847A-232F-71E3-24B59142D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628531"/>
            <a:ext cx="3820058" cy="18385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5EFD7A0-A03F-7C4C-6093-43E6DC812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984" y="2980596"/>
            <a:ext cx="4543469" cy="154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4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91797" y="940274"/>
            <a:ext cx="814514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아래의 예와 같이 초기화한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9B98C-8D5A-D0DC-E87F-22D3CFD00552}"/>
              </a:ext>
            </a:extLst>
          </p:cNvPr>
          <p:cNvSpPr txBox="1">
            <a:spLocks/>
          </p:cNvSpPr>
          <p:nvPr/>
        </p:nvSpPr>
        <p:spPr>
          <a:xfrm>
            <a:off x="504825" y="2715126"/>
            <a:ext cx="8145145" cy="1488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아래의 출력 예와 같이 초기화 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9D7F33-AC52-B4AC-B6AC-49BF9BEB4F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49"/>
          <a:stretch/>
        </p:blipFill>
        <p:spPr>
          <a:xfrm>
            <a:off x="1417716" y="1561189"/>
            <a:ext cx="2576824" cy="63458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C8C6D8E-1C22-CD78-E487-376EED6BA1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562"/>
          <a:stretch/>
        </p:blipFill>
        <p:spPr>
          <a:xfrm>
            <a:off x="1419421" y="3291830"/>
            <a:ext cx="2297300" cy="7626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EA51BC6-CC00-1A3F-AA04-D6FA2AF9F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385" y="742437"/>
            <a:ext cx="5236258" cy="17970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6780069-C67E-EA56-FD56-0C2901102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382" y="2816685"/>
            <a:ext cx="5118263" cy="188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81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56452" y="986566"/>
            <a:ext cx="8145145" cy="57849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3. </a:t>
            </a:r>
            <a:r>
              <a:rPr lang="en-US" altLang="ko-KR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arr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[][] 3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 ~ J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까지 대입하고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8492" y="444110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리스트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선언 후 </a:t>
            </a:r>
            <a:r>
              <a:rPr lang="ko-KR" altLang="en-US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특정값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초기화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654BB0-00C8-234E-A99F-419B84A269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070" b="10788"/>
          <a:stretch/>
        </p:blipFill>
        <p:spPr>
          <a:xfrm>
            <a:off x="3137962" y="3778699"/>
            <a:ext cx="2311400" cy="648072"/>
          </a:xfrm>
          <a:prstGeom prst="rect">
            <a:avLst/>
          </a:prstGeom>
        </p:spPr>
      </p:pic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59581C26-3043-06E8-9921-B640B02CA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454998"/>
              </p:ext>
            </p:extLst>
          </p:nvPr>
        </p:nvGraphicFramePr>
        <p:xfrm>
          <a:off x="6011779" y="1619257"/>
          <a:ext cx="3009666" cy="140462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003222">
                  <a:extLst>
                    <a:ext uri="{9D8B030D-6E8A-4147-A177-3AD203B41FA5}">
                      <a16:colId xmlns:a16="http://schemas.microsoft.com/office/drawing/2014/main" val="3730121397"/>
                    </a:ext>
                  </a:extLst>
                </a:gridCol>
                <a:gridCol w="1003222">
                  <a:extLst>
                    <a:ext uri="{9D8B030D-6E8A-4147-A177-3AD203B41FA5}">
                      <a16:colId xmlns:a16="http://schemas.microsoft.com/office/drawing/2014/main" val="1546123902"/>
                    </a:ext>
                  </a:extLst>
                </a:gridCol>
                <a:gridCol w="1003222">
                  <a:extLst>
                    <a:ext uri="{9D8B030D-6E8A-4147-A177-3AD203B41FA5}">
                      <a16:colId xmlns:a16="http://schemas.microsoft.com/office/drawing/2014/main" val="265191306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소문자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7632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7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22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83117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대문자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08263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65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90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48218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3E9E05F-A589-8F2A-CB5F-6D98C5C65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342" y="1473200"/>
            <a:ext cx="39243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4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621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04686" y="979690"/>
            <a:ext cx="8145145" cy="57849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4. 3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 ~ 9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까지 대입하고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endParaRPr lang="en-US" altLang="ko-KR" sz="14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8492" y="444110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리스트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선언 후 </a:t>
            </a:r>
            <a:r>
              <a:rPr lang="ko-KR" altLang="en-US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특정값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초기화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504686" y="2612183"/>
            <a:ext cx="8145145" cy="87754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5. 10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부터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씩 증가하면서 대입하고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63067" y="1437744"/>
            <a:ext cx="771686" cy="321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063067" y="3126478"/>
            <a:ext cx="771686" cy="321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70F7D74-5ECF-2938-4760-BF360F434B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654" b="15327"/>
          <a:stretch/>
        </p:blipFill>
        <p:spPr>
          <a:xfrm>
            <a:off x="1972568" y="1557493"/>
            <a:ext cx="2311400" cy="57910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3D5B39F-EF71-DA67-9765-C6B84C239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931" y="3190602"/>
            <a:ext cx="21844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58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7FEA-9595-DEE9-888A-86997ECF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73868F-826E-A420-F147-AD94F1C4341E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7CE7B-56B0-62D9-DFD5-4C6ED4CCFF3C}"/>
              </a:ext>
            </a:extLst>
          </p:cNvPr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F8421-F16C-807D-C1C4-36FEE56F1F70}"/>
              </a:ext>
            </a:extLst>
          </p:cNvPr>
          <p:cNvSpPr txBox="1">
            <a:spLocks/>
          </p:cNvSpPr>
          <p:nvPr/>
        </p:nvSpPr>
        <p:spPr>
          <a:xfrm>
            <a:off x="504686" y="979690"/>
            <a:ext cx="8145145" cy="57849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4. 3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 ~ 9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까지 대입하고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endParaRPr lang="en-US" altLang="ko-KR" sz="14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D5F97-C157-153B-3547-D34CB9D4C9C9}"/>
              </a:ext>
            </a:extLst>
          </p:cNvPr>
          <p:cNvSpPr txBox="1"/>
          <p:nvPr/>
        </p:nvSpPr>
        <p:spPr>
          <a:xfrm>
            <a:off x="3148492" y="444110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리스트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선언 후 </a:t>
            </a:r>
            <a:r>
              <a:rPr lang="ko-KR" altLang="en-US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특정값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초기화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5FEEB-1089-5E31-80F5-54124AF2C79F}"/>
              </a:ext>
            </a:extLst>
          </p:cNvPr>
          <p:cNvSpPr txBox="1">
            <a:spLocks/>
          </p:cNvSpPr>
          <p:nvPr/>
        </p:nvSpPr>
        <p:spPr>
          <a:xfrm>
            <a:off x="504686" y="2612183"/>
            <a:ext cx="8145145" cy="87754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5. 10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부터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씩 증가하면서 대입하고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B93592-381A-D483-44C2-56A47D84CA47}"/>
              </a:ext>
            </a:extLst>
          </p:cNvPr>
          <p:cNvSpPr/>
          <p:nvPr/>
        </p:nvSpPr>
        <p:spPr>
          <a:xfrm>
            <a:off x="1063067" y="1437744"/>
            <a:ext cx="771686" cy="321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FA8561-A99E-B4E8-AC31-A6D6A74EE8D9}"/>
              </a:ext>
            </a:extLst>
          </p:cNvPr>
          <p:cNvSpPr/>
          <p:nvPr/>
        </p:nvSpPr>
        <p:spPr>
          <a:xfrm>
            <a:off x="1063067" y="3126478"/>
            <a:ext cx="771686" cy="321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7B84043-254C-7EB8-D70C-F691771CC0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654" b="15327"/>
          <a:stretch/>
        </p:blipFill>
        <p:spPr>
          <a:xfrm>
            <a:off x="1972568" y="1557493"/>
            <a:ext cx="2311400" cy="57910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599D4A9-8703-04A2-49A2-3DF89AF29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931" y="3190602"/>
            <a:ext cx="2184400" cy="749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5E89ACB-D65B-15EF-3852-507826A55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80" y="232268"/>
            <a:ext cx="2860847" cy="23440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9FC666-04CB-8F33-4491-0100B8B95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4334" y="2859782"/>
            <a:ext cx="4568135" cy="198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3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C97416-6A64-FED3-4959-08C04834E820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FB840-665E-15BE-B77E-0B1E8C7604F6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생성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C01310-8A0B-6446-A643-16CEDFF4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317663"/>
            <a:ext cx="5023699" cy="21354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7A9C3E-B3B1-8792-AA45-4E46ADCC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3418507"/>
            <a:ext cx="1920058" cy="1042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3E2858-1934-64B0-C340-7743E3FF4074}"/>
              </a:ext>
            </a:extLst>
          </p:cNvPr>
          <p:cNvSpPr txBox="1"/>
          <p:nvPr/>
        </p:nvSpPr>
        <p:spPr>
          <a:xfrm>
            <a:off x="3148492" y="444110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리스트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선언 후 </a:t>
            </a:r>
            <a:r>
              <a:rPr lang="ko-KR" altLang="en-US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특정값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초기화</a:t>
            </a:r>
          </a:p>
        </p:txBody>
      </p:sp>
    </p:spTree>
    <p:extLst>
      <p:ext uri="{BB962C8B-B14F-4D97-AF65-F5344CB8AC3E}">
        <p14:creationId xmlns:p14="http://schemas.microsoft.com/office/powerpoint/2010/main" val="2731672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471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7FEF5-2987-39DD-1252-5208329A469E}"/>
              </a:ext>
            </a:extLst>
          </p:cNvPr>
          <p:cNvSpPr txBox="1">
            <a:spLocks/>
          </p:cNvSpPr>
          <p:nvPr/>
        </p:nvSpPr>
        <p:spPr>
          <a:xfrm>
            <a:off x="611560" y="834607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arr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[ 2][3]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6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값을 입력 받은 후 아래와 같이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87B05-6D8A-0330-B423-C63E38A4C58D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183ED-D0AF-3F43-6416-56134E8C1E8F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B8D39-F9ED-3A90-D78E-A8175D185382}"/>
              </a:ext>
            </a:extLst>
          </p:cNvPr>
          <p:cNvSpPr txBox="1">
            <a:spLocks/>
          </p:cNvSpPr>
          <p:nvPr/>
        </p:nvSpPr>
        <p:spPr>
          <a:xfrm>
            <a:off x="611559" y="2918134"/>
            <a:ext cx="8145145" cy="146123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값을 입력 받은 후 아래와 같이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BC1E2D2-D7B2-7D27-374C-41EFCDF58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321" y="2305174"/>
            <a:ext cx="1460500" cy="482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8878B8-8207-C001-5F98-788082C93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21" y="4270598"/>
            <a:ext cx="1460500" cy="533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3DD66C-C319-9522-88FD-2DC9B32869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9" y="1233108"/>
            <a:ext cx="2172927" cy="504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377411-6005-2D1C-B810-136229EF4D99}"/>
              </a:ext>
            </a:extLst>
          </p:cNvPr>
          <p:cNvSpPr txBox="1"/>
          <p:nvPr/>
        </p:nvSpPr>
        <p:spPr>
          <a:xfrm>
            <a:off x="1559991" y="1310919"/>
            <a:ext cx="62228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1 2 3</a:t>
            </a:r>
            <a:endParaRPr lang="ko-KR" altLang="en-US" sz="14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D15DF6-3E91-C118-8715-CEF0B440C3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9" y="3269010"/>
            <a:ext cx="2172927" cy="5040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03D58C-C175-7A21-7046-E7CC165A4F12}"/>
              </a:ext>
            </a:extLst>
          </p:cNvPr>
          <p:cNvSpPr txBox="1"/>
          <p:nvPr/>
        </p:nvSpPr>
        <p:spPr>
          <a:xfrm>
            <a:off x="1559991" y="3346821"/>
            <a:ext cx="965329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개 고양이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346FF62-B8F9-067D-74AA-394D08AD68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8" y="1658602"/>
            <a:ext cx="2172927" cy="5040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5073B3-A1CD-2C76-C62C-BF49739EE86F}"/>
              </a:ext>
            </a:extLst>
          </p:cNvPr>
          <p:cNvSpPr txBox="1"/>
          <p:nvPr/>
        </p:nvSpPr>
        <p:spPr>
          <a:xfrm>
            <a:off x="1559990" y="1735278"/>
            <a:ext cx="62228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4 5 6</a:t>
            </a:r>
            <a:endParaRPr lang="ko-KR" altLang="en-US" sz="14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F36326F-641C-2D4D-19DA-FCA7560760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9" y="3678991"/>
            <a:ext cx="2172927" cy="5040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55E4AC5-0D61-7354-4CD9-450D58A95178}"/>
              </a:ext>
            </a:extLst>
          </p:cNvPr>
          <p:cNvSpPr txBox="1"/>
          <p:nvPr/>
        </p:nvSpPr>
        <p:spPr>
          <a:xfrm>
            <a:off x="1559991" y="3756802"/>
            <a:ext cx="78579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곰 사슴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BA01308-5049-5226-1E72-DAA7FC0038F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755" b="-1"/>
          <a:stretch/>
        </p:blipFill>
        <p:spPr>
          <a:xfrm>
            <a:off x="3201297" y="100169"/>
            <a:ext cx="5336089" cy="749534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36DF19-92A4-4141-61AA-106C791102A4}"/>
              </a:ext>
            </a:extLst>
          </p:cNvPr>
          <p:cNvSpPr/>
          <p:nvPr/>
        </p:nvSpPr>
        <p:spPr>
          <a:xfrm>
            <a:off x="5989807" y="118832"/>
            <a:ext cx="108000" cy="21333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FE55F-DB04-2585-59FD-8096E6E2E3C5}"/>
              </a:ext>
            </a:extLst>
          </p:cNvPr>
          <p:cNvSpPr txBox="1"/>
          <p:nvPr/>
        </p:nvSpPr>
        <p:spPr>
          <a:xfrm>
            <a:off x="5899376" y="60772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</a:t>
            </a:r>
            <a:endParaRPr lang="ko-KR" altLang="en-US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BF9B9F-E688-5AA8-FBAB-4E2847A999F3}"/>
              </a:ext>
            </a:extLst>
          </p:cNvPr>
          <p:cNvSpPr txBox="1"/>
          <p:nvPr/>
        </p:nvSpPr>
        <p:spPr>
          <a:xfrm>
            <a:off x="6421770" y="102600"/>
            <a:ext cx="14452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행의 길이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줄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8342EC-4494-7A3A-73F3-01407FE56938}"/>
              </a:ext>
            </a:extLst>
          </p:cNvPr>
          <p:cNvGrpSpPr/>
          <p:nvPr/>
        </p:nvGrpSpPr>
        <p:grpSpPr>
          <a:xfrm>
            <a:off x="4804904" y="313604"/>
            <a:ext cx="288862" cy="307777"/>
            <a:chOff x="6051776" y="213172"/>
            <a:chExt cx="288862" cy="30777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895FFB7-F134-3EB2-6876-90A3F75CE574}"/>
                </a:ext>
              </a:extLst>
            </p:cNvPr>
            <p:cNvSpPr/>
            <p:nvPr/>
          </p:nvSpPr>
          <p:spPr>
            <a:xfrm>
              <a:off x="6142207" y="271232"/>
              <a:ext cx="108000" cy="213331"/>
            </a:xfrm>
            <a:prstGeom prst="rect">
              <a:avLst/>
            </a:prstGeom>
            <a:solidFill>
              <a:srgbClr val="F7F7F7"/>
            </a:solidFill>
            <a:ln>
              <a:solidFill>
                <a:srgbClr val="F7F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BD71BD-CB64-88C9-E699-1674252EBE26}"/>
                </a:ext>
              </a:extLst>
            </p:cNvPr>
            <p:cNvSpPr txBox="1"/>
            <p:nvPr/>
          </p:nvSpPr>
          <p:spPr>
            <a:xfrm>
              <a:off x="6051776" y="213172"/>
              <a:ext cx="2888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2</a:t>
              </a:r>
              <a:endParaRPr lang="ko-KR" altLang="en-US" sz="1400" b="1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30AF039-111A-59E5-98AE-E2E0D17EFA4A}"/>
              </a:ext>
            </a:extLst>
          </p:cNvPr>
          <p:cNvSpPr txBox="1"/>
          <p:nvPr/>
        </p:nvSpPr>
        <p:spPr>
          <a:xfrm>
            <a:off x="7144377" y="870868"/>
            <a:ext cx="16123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각 열은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한줄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입력</a:t>
            </a:r>
          </a:p>
        </p:txBody>
      </p:sp>
    </p:spTree>
    <p:extLst>
      <p:ext uri="{BB962C8B-B14F-4D97-AF65-F5344CB8AC3E}">
        <p14:creationId xmlns:p14="http://schemas.microsoft.com/office/powerpoint/2010/main" val="3298755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ECC58-BC88-0538-24AA-2EA3EEEB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6481BF-A111-F266-A8A7-5E9C1E6C25B0}"/>
              </a:ext>
            </a:extLst>
          </p:cNvPr>
          <p:cNvSpPr txBox="1">
            <a:spLocks/>
          </p:cNvSpPr>
          <p:nvPr/>
        </p:nvSpPr>
        <p:spPr>
          <a:xfrm>
            <a:off x="611560" y="834607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arr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[ 2][3]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6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값을 입력 받은 후 아래와 같이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64E4D-2CB0-CFD4-7550-A24500CCF127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F3920-CE9C-E57F-2E06-3BC611FAC7A0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268D8-1900-6733-D18F-034C726B82DF}"/>
              </a:ext>
            </a:extLst>
          </p:cNvPr>
          <p:cNvSpPr txBox="1">
            <a:spLocks/>
          </p:cNvSpPr>
          <p:nvPr/>
        </p:nvSpPr>
        <p:spPr>
          <a:xfrm>
            <a:off x="611559" y="2918134"/>
            <a:ext cx="8145145" cy="146123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값을 입력 받은 후 아래와 같이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</a:t>
            </a:r>
            <a:r>
              <a:rPr lang="en-US" altLang="ko-KR" sz="1400" b="0" strike="noStrike" cap="none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) </a:t>
            </a: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E0CA1CB-EC46-AE60-70D6-A70A0014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321" y="2305174"/>
            <a:ext cx="1460500" cy="482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781826B-460B-E018-4CAE-5852BC0BD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21" y="4270598"/>
            <a:ext cx="1460500" cy="533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4700D3E-F004-D7BF-C7DA-9F5FDBA17C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9" y="1233108"/>
            <a:ext cx="2172927" cy="504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EDBB69-CE45-930F-9AFA-62DC6041EC46}"/>
              </a:ext>
            </a:extLst>
          </p:cNvPr>
          <p:cNvSpPr txBox="1"/>
          <p:nvPr/>
        </p:nvSpPr>
        <p:spPr>
          <a:xfrm>
            <a:off x="1559991" y="1310919"/>
            <a:ext cx="62228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1 2 3</a:t>
            </a:r>
            <a:endParaRPr lang="ko-KR" altLang="en-US" sz="14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2DCA6E-91B8-D00F-F1BA-7BBCF3BD8B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9" y="3269010"/>
            <a:ext cx="2172927" cy="5040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407202-B0C1-31B2-D730-4290BDED1BAB}"/>
              </a:ext>
            </a:extLst>
          </p:cNvPr>
          <p:cNvSpPr txBox="1"/>
          <p:nvPr/>
        </p:nvSpPr>
        <p:spPr>
          <a:xfrm>
            <a:off x="1559991" y="3346821"/>
            <a:ext cx="965329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개 고양이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1EA2AD-5F09-2D3E-04C8-F60B1A5BDA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8" y="1658602"/>
            <a:ext cx="2172927" cy="5040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E9219E-15DB-A8F7-EBD5-DE5BB2F751EC}"/>
              </a:ext>
            </a:extLst>
          </p:cNvPr>
          <p:cNvSpPr txBox="1"/>
          <p:nvPr/>
        </p:nvSpPr>
        <p:spPr>
          <a:xfrm>
            <a:off x="1559990" y="1735278"/>
            <a:ext cx="62228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4 5 6</a:t>
            </a:r>
            <a:endParaRPr lang="ko-KR" altLang="en-US" sz="14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FB65B89-0495-80B7-9A31-3B029EF83C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09" t="46491"/>
          <a:stretch/>
        </p:blipFill>
        <p:spPr>
          <a:xfrm>
            <a:off x="1462969" y="3678991"/>
            <a:ext cx="2172927" cy="5040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FFB48AA-49E5-D677-3947-75539E86A5FF}"/>
              </a:ext>
            </a:extLst>
          </p:cNvPr>
          <p:cNvSpPr txBox="1"/>
          <p:nvPr/>
        </p:nvSpPr>
        <p:spPr>
          <a:xfrm>
            <a:off x="1559991" y="3756802"/>
            <a:ext cx="78579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곰 사슴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EDF765F-D734-C3CB-C6DC-5794D9A849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755" b="-1"/>
          <a:stretch/>
        </p:blipFill>
        <p:spPr>
          <a:xfrm>
            <a:off x="3201297" y="100169"/>
            <a:ext cx="5336089" cy="749534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E04BB8E-A61A-2EA2-268B-B852D71FB35C}"/>
              </a:ext>
            </a:extLst>
          </p:cNvPr>
          <p:cNvSpPr/>
          <p:nvPr/>
        </p:nvSpPr>
        <p:spPr>
          <a:xfrm>
            <a:off x="5989807" y="118832"/>
            <a:ext cx="108000" cy="21333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1E3BE8-8CE3-77BE-5E24-32F9FF0A38BA}"/>
              </a:ext>
            </a:extLst>
          </p:cNvPr>
          <p:cNvSpPr txBox="1"/>
          <p:nvPr/>
        </p:nvSpPr>
        <p:spPr>
          <a:xfrm>
            <a:off x="5899376" y="60772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</a:t>
            </a:r>
            <a:endParaRPr lang="ko-KR" altLang="en-US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1B9B9E-A414-454F-ABE9-5E6502FF0207}"/>
              </a:ext>
            </a:extLst>
          </p:cNvPr>
          <p:cNvSpPr txBox="1"/>
          <p:nvPr/>
        </p:nvSpPr>
        <p:spPr>
          <a:xfrm>
            <a:off x="6421770" y="102600"/>
            <a:ext cx="14452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행의 길이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줄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0F8C23F-E1B8-4188-92CA-C2BDA525B635}"/>
              </a:ext>
            </a:extLst>
          </p:cNvPr>
          <p:cNvGrpSpPr/>
          <p:nvPr/>
        </p:nvGrpSpPr>
        <p:grpSpPr>
          <a:xfrm>
            <a:off x="4804904" y="313604"/>
            <a:ext cx="288862" cy="307777"/>
            <a:chOff x="6051776" y="213172"/>
            <a:chExt cx="288862" cy="30777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3DC6715-E9ED-0506-5D9C-0AD91E04613D}"/>
                </a:ext>
              </a:extLst>
            </p:cNvPr>
            <p:cNvSpPr/>
            <p:nvPr/>
          </p:nvSpPr>
          <p:spPr>
            <a:xfrm>
              <a:off x="6142207" y="271232"/>
              <a:ext cx="108000" cy="213331"/>
            </a:xfrm>
            <a:prstGeom prst="rect">
              <a:avLst/>
            </a:prstGeom>
            <a:solidFill>
              <a:srgbClr val="F7F7F7"/>
            </a:solidFill>
            <a:ln>
              <a:solidFill>
                <a:srgbClr val="F7F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C36761-C1DB-A17E-6217-118FB724EADF}"/>
                </a:ext>
              </a:extLst>
            </p:cNvPr>
            <p:cNvSpPr txBox="1"/>
            <p:nvPr/>
          </p:nvSpPr>
          <p:spPr>
            <a:xfrm>
              <a:off x="6051776" y="213172"/>
              <a:ext cx="2888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2</a:t>
              </a:r>
              <a:endParaRPr lang="ko-KR" altLang="en-US" sz="1400" b="1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9753814-CFDD-7CB2-141F-EC7FADA35EDB}"/>
              </a:ext>
            </a:extLst>
          </p:cNvPr>
          <p:cNvSpPr txBox="1"/>
          <p:nvPr/>
        </p:nvSpPr>
        <p:spPr>
          <a:xfrm>
            <a:off x="7144377" y="870868"/>
            <a:ext cx="16123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각 열은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한줄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입력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8EE901-1CA3-4DC4-28C9-F534BC3A2B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887" y="1387049"/>
            <a:ext cx="4877481" cy="167663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82FBBAD-4F93-C76A-B47C-C3A6683E8E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887" y="3241310"/>
            <a:ext cx="4572638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44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44634" y="1045817"/>
            <a:ext cx="8145145" cy="1488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아래의 출력 예와 같이 초기화 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40396" y="2497640"/>
            <a:ext cx="814514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두개의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각 요소를 합한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만들고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579887"/>
            <a:ext cx="3243070" cy="7234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78677F-F0B1-DCF5-A14D-A7297FF0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683" y="2913084"/>
            <a:ext cx="1224136" cy="7797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6AE8D3-D8C7-115E-3DC9-F6945E9F0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563" y="2912501"/>
            <a:ext cx="1224136" cy="7797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8D33265-6BC5-B375-7C3E-4FE7FDB07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443" y="2912210"/>
            <a:ext cx="1224136" cy="7797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446D062-43E5-D9EA-B6E0-D3C3EF6E5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3683" y="3755164"/>
            <a:ext cx="1224136" cy="7797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0BC0E57-DA33-C9FC-18A1-A65851FB9F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0563" y="3755164"/>
            <a:ext cx="1224136" cy="7797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907F6EB-B97F-BE9C-D8A5-F7BC6B9988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6658" y="3755164"/>
            <a:ext cx="1224136" cy="7797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D61150F-E791-FF85-F4E5-0DFB9C2650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7379" y="3397329"/>
            <a:ext cx="2068997" cy="90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79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CE38-BD13-730C-8861-3AE8C353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04FFD13-62F4-4DD2-4E3C-2C45713ABB6E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0187F-7512-5C9E-D031-5EC853232ACC}"/>
              </a:ext>
            </a:extLst>
          </p:cNvPr>
          <p:cNvSpPr txBox="1">
            <a:spLocks/>
          </p:cNvSpPr>
          <p:nvPr/>
        </p:nvSpPr>
        <p:spPr>
          <a:xfrm>
            <a:off x="544634" y="1045817"/>
            <a:ext cx="8145145" cy="1488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1. 3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아래의 출력 예와 같이 초기화 한 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86F28-27DA-62D7-B080-BCBA10347BA8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CB8B8B-819A-25FC-2188-3D170C856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579887"/>
            <a:ext cx="3243070" cy="7234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A26CF22-C20C-C8F4-7AA3-4FCB3A767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571750"/>
            <a:ext cx="4909635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57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5F018-BE74-13B4-3D15-E3C47CF6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FFBF12F-BBE4-20BF-5A02-7624DBCA70CE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A94D20-B2A4-4EEC-286F-F9303D664D4D}"/>
              </a:ext>
            </a:extLst>
          </p:cNvPr>
          <p:cNvSpPr/>
          <p:nvPr/>
        </p:nvSpPr>
        <p:spPr>
          <a:xfrm>
            <a:off x="377852" y="915566"/>
            <a:ext cx="814514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두개의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각 요소를 합한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만들고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9ACFD-44C8-FE12-4B12-AC10D6861938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694734-8D18-AF5B-443F-4F59D8E7F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139" y="1331010"/>
            <a:ext cx="1224136" cy="7797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356D5F-1D2B-6BE8-8DBC-BEB0AF394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019" y="1330427"/>
            <a:ext cx="1224136" cy="7797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96E779-FAE4-11B4-9FAA-2DD1760C4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899" y="1330136"/>
            <a:ext cx="1224136" cy="7797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92990F-2F75-17D2-94D1-95F326F9D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139" y="2173090"/>
            <a:ext cx="1224136" cy="7797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EF2CD38-659C-E69F-EA0D-573484ED9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8019" y="2173090"/>
            <a:ext cx="1224136" cy="7797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EDEC7F-E2E7-BF93-271A-9F446D4B01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4114" y="2173090"/>
            <a:ext cx="1224136" cy="7797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8CBC88B-34B9-1981-BB89-A54B4255D2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5117" y="3319874"/>
            <a:ext cx="2068997" cy="9080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E353EC-BF43-E4AD-2B82-CAFBF70E3C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5412" y="1459207"/>
            <a:ext cx="3726780" cy="298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69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8349" y="1500414"/>
            <a:ext cx="8145145" cy="1461169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3. 2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리스트 두 개를 만들어서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입력을 받고 두 리스트의 곱을 구하여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90B5BB-F04B-67F5-8ACC-1F82BEA1B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950517"/>
            <a:ext cx="1371600" cy="76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B042A73-5455-EE9E-5E3D-88AB77178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695016"/>
            <a:ext cx="1371600" cy="444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B836FD8-891F-EF26-5344-8625EA07E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779" y="1932462"/>
            <a:ext cx="1371600" cy="8001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4B705A-4D5C-D2B6-0D80-A452F08D0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2779" y="2716014"/>
            <a:ext cx="1371600" cy="431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BF6014-7033-7136-2EA8-3904DC286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040" y="2166426"/>
            <a:ext cx="3149600" cy="800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FBD5BA-EB97-695A-995D-0AE4711ABFE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755" b="-1"/>
          <a:stretch/>
        </p:blipFill>
        <p:spPr>
          <a:xfrm>
            <a:off x="3201297" y="247145"/>
            <a:ext cx="5336089" cy="74953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36552B3-342F-047B-9A2F-2FBA3AB70954}"/>
              </a:ext>
            </a:extLst>
          </p:cNvPr>
          <p:cNvSpPr/>
          <p:nvPr/>
        </p:nvSpPr>
        <p:spPr>
          <a:xfrm>
            <a:off x="5989807" y="265808"/>
            <a:ext cx="108000" cy="21333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18A306-14F9-1817-6BB7-C5753F8767AA}"/>
              </a:ext>
            </a:extLst>
          </p:cNvPr>
          <p:cNvSpPr txBox="1"/>
          <p:nvPr/>
        </p:nvSpPr>
        <p:spPr>
          <a:xfrm>
            <a:off x="5899376" y="207748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</a:t>
            </a:r>
            <a:endParaRPr lang="ko-KR" altLang="en-US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732780-A6F0-B3F4-96FE-FB247DCBF178}"/>
              </a:ext>
            </a:extLst>
          </p:cNvPr>
          <p:cNvSpPr txBox="1"/>
          <p:nvPr/>
        </p:nvSpPr>
        <p:spPr>
          <a:xfrm>
            <a:off x="6421770" y="249576"/>
            <a:ext cx="14452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행의 길이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8531CE4-B6ED-0E31-1796-FC7B35BAC7B6}"/>
              </a:ext>
            </a:extLst>
          </p:cNvPr>
          <p:cNvGrpSpPr/>
          <p:nvPr/>
        </p:nvGrpSpPr>
        <p:grpSpPr>
          <a:xfrm>
            <a:off x="4804904" y="460580"/>
            <a:ext cx="288862" cy="307777"/>
            <a:chOff x="6051776" y="213172"/>
            <a:chExt cx="288862" cy="307777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E70A784-7B08-89C1-14D4-180CB06939BD}"/>
                </a:ext>
              </a:extLst>
            </p:cNvPr>
            <p:cNvSpPr/>
            <p:nvPr/>
          </p:nvSpPr>
          <p:spPr>
            <a:xfrm>
              <a:off x="6142207" y="271232"/>
              <a:ext cx="108000" cy="213331"/>
            </a:xfrm>
            <a:prstGeom prst="rect">
              <a:avLst/>
            </a:prstGeom>
            <a:solidFill>
              <a:srgbClr val="F7F7F7"/>
            </a:solidFill>
            <a:ln>
              <a:solidFill>
                <a:srgbClr val="F7F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2A7C115-4818-36B2-4773-702DC4C630EF}"/>
                </a:ext>
              </a:extLst>
            </p:cNvPr>
            <p:cNvSpPr txBox="1"/>
            <p:nvPr/>
          </p:nvSpPr>
          <p:spPr>
            <a:xfrm>
              <a:off x="6051776" y="213172"/>
              <a:ext cx="2888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2</a:t>
              </a:r>
              <a:endParaRPr lang="ko-KR" altLang="en-US" sz="1400" b="1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22BA8DC-65E8-EAD2-FA9E-446054041556}"/>
              </a:ext>
            </a:extLst>
          </p:cNvPr>
          <p:cNvSpPr txBox="1"/>
          <p:nvPr/>
        </p:nvSpPr>
        <p:spPr>
          <a:xfrm>
            <a:off x="7144377" y="1017844"/>
            <a:ext cx="16123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각 열은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한줄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입력</a:t>
            </a:r>
          </a:p>
        </p:txBody>
      </p:sp>
    </p:spTree>
    <p:extLst>
      <p:ext uri="{BB962C8B-B14F-4D97-AF65-F5344CB8AC3E}">
        <p14:creationId xmlns:p14="http://schemas.microsoft.com/office/powerpoint/2010/main" val="461039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EBDB-0309-99F6-6BAC-1F3C63D1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01C66A5-E1BB-AB5D-2294-45FDC6468DB2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536DA-0DB5-D169-0860-1A53E3B49779}"/>
              </a:ext>
            </a:extLst>
          </p:cNvPr>
          <p:cNvSpPr txBox="1">
            <a:spLocks/>
          </p:cNvSpPr>
          <p:nvPr/>
        </p:nvSpPr>
        <p:spPr>
          <a:xfrm>
            <a:off x="688349" y="1500414"/>
            <a:ext cx="8145145" cy="1461169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3. 2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리스트 두 개를 만들어서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입력을 받고 두 리스트의 곱을 구하여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B6670-B0DD-B2BE-ADD9-F968D432BE79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C5BF85-E62F-F1C5-5EB4-FEFBBAECB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950517"/>
            <a:ext cx="1371600" cy="76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19CAA5-DF30-703B-9E28-E25294796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695016"/>
            <a:ext cx="1371600" cy="444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2B1E557-76B1-04FA-B8B1-9E168DAD2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779" y="1932462"/>
            <a:ext cx="1371600" cy="8001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D3D127-E45D-A220-F6C8-2C0EA90FB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2779" y="2716014"/>
            <a:ext cx="1371600" cy="431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21C5F59-B43D-D017-CF9B-E349EC51E9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16" y="3483965"/>
            <a:ext cx="3149600" cy="800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4C400B3-B4DD-FC87-DB37-FF605B6E521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755" b="-1"/>
          <a:stretch/>
        </p:blipFill>
        <p:spPr>
          <a:xfrm>
            <a:off x="3201297" y="247145"/>
            <a:ext cx="5336089" cy="74953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CC5DDAB-B02D-AD34-8519-E613873CDC31}"/>
              </a:ext>
            </a:extLst>
          </p:cNvPr>
          <p:cNvSpPr/>
          <p:nvPr/>
        </p:nvSpPr>
        <p:spPr>
          <a:xfrm>
            <a:off x="5989807" y="265808"/>
            <a:ext cx="108000" cy="21333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44ABF1-13A4-F8BE-F4BB-F3915FE4FB77}"/>
              </a:ext>
            </a:extLst>
          </p:cNvPr>
          <p:cNvSpPr txBox="1"/>
          <p:nvPr/>
        </p:nvSpPr>
        <p:spPr>
          <a:xfrm>
            <a:off x="5899376" y="207748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</a:t>
            </a:r>
            <a:endParaRPr lang="ko-KR" altLang="en-US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88396-09C7-42E2-D42D-7285973F41BD}"/>
              </a:ext>
            </a:extLst>
          </p:cNvPr>
          <p:cNvSpPr txBox="1"/>
          <p:nvPr/>
        </p:nvSpPr>
        <p:spPr>
          <a:xfrm>
            <a:off x="6421770" y="249576"/>
            <a:ext cx="14452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행의 길이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A378EEF-1836-8487-32AD-3F0EF383F229}"/>
              </a:ext>
            </a:extLst>
          </p:cNvPr>
          <p:cNvGrpSpPr/>
          <p:nvPr/>
        </p:nvGrpSpPr>
        <p:grpSpPr>
          <a:xfrm>
            <a:off x="4804904" y="460580"/>
            <a:ext cx="288862" cy="307777"/>
            <a:chOff x="6051776" y="213172"/>
            <a:chExt cx="288862" cy="307777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F9E857F-E8C2-BF86-3526-80A20F57880D}"/>
                </a:ext>
              </a:extLst>
            </p:cNvPr>
            <p:cNvSpPr/>
            <p:nvPr/>
          </p:nvSpPr>
          <p:spPr>
            <a:xfrm>
              <a:off x="6142207" y="271232"/>
              <a:ext cx="108000" cy="213331"/>
            </a:xfrm>
            <a:prstGeom prst="rect">
              <a:avLst/>
            </a:prstGeom>
            <a:solidFill>
              <a:srgbClr val="F7F7F7"/>
            </a:solidFill>
            <a:ln>
              <a:solidFill>
                <a:srgbClr val="F7F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431ED4-6EC5-0A6C-4B93-EBA0E3C94E4E}"/>
                </a:ext>
              </a:extLst>
            </p:cNvPr>
            <p:cNvSpPr txBox="1"/>
            <p:nvPr/>
          </p:nvSpPr>
          <p:spPr>
            <a:xfrm>
              <a:off x="6051776" y="213172"/>
              <a:ext cx="2888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2</a:t>
              </a:r>
              <a:endParaRPr lang="ko-KR" altLang="en-US" sz="1400" b="1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144166A-B532-714F-4B40-89150707BA22}"/>
              </a:ext>
            </a:extLst>
          </p:cNvPr>
          <p:cNvSpPr txBox="1"/>
          <p:nvPr/>
        </p:nvSpPr>
        <p:spPr>
          <a:xfrm>
            <a:off x="7144377" y="1017844"/>
            <a:ext cx="16123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각 열은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한줄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입력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A1D4C5A-294C-2312-D2E8-B6C558477E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517" y="2043615"/>
            <a:ext cx="4512836" cy="248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06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3C8A-05A9-1F59-E85B-49669BFE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83A82F4-5DE5-E008-27B7-4E0ADDAAA110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3AA0D7-628F-FC9F-19AC-10A11536429C}"/>
              </a:ext>
            </a:extLst>
          </p:cNvPr>
          <p:cNvSpPr/>
          <p:nvPr/>
        </p:nvSpPr>
        <p:spPr>
          <a:xfrm>
            <a:off x="504825" y="915566"/>
            <a:ext cx="8145145" cy="1185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6. 4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아래와 같이 초기화한 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치례대로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출력하고 마지막 줄에 리스트의 모든 값을 더한 결과를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B7B40-B3F5-483F-F2F3-79D707C4D8BD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4371465-F770-5538-40EC-F2CFA027B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69390"/>
              </p:ext>
            </p:extLst>
          </p:nvPr>
        </p:nvGraphicFramePr>
        <p:xfrm>
          <a:off x="1764331" y="1636697"/>
          <a:ext cx="1400175" cy="1036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383183793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42349817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708530231"/>
                    </a:ext>
                  </a:extLst>
                </a:gridCol>
              </a:tblGrid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/>
                        <a:t>3</a:t>
                      </a:r>
                      <a:endParaRPr lang="ko-KR" altLang="en-US" sz="1100" b="0" dirty="0"/>
                    </a:p>
                  </a:txBody>
                  <a:tcPr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/>
                        <a:t>5</a:t>
                      </a:r>
                      <a:endParaRPr lang="ko-KR" altLang="en-US" sz="1100" b="0" dirty="0"/>
                    </a:p>
                  </a:txBody>
                  <a:tcPr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/>
                        <a:t>9</a:t>
                      </a:r>
                      <a:endParaRPr lang="ko-KR" altLang="en-US" sz="1100" b="0" dirty="0"/>
                    </a:p>
                  </a:txBody>
                  <a:tcPr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448046"/>
                  </a:ext>
                </a:extLst>
              </a:tr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</a:t>
                      </a:r>
                      <a:endParaRPr lang="ko-KR" altLang="en-US" sz="1100" dirty="0"/>
                    </a:p>
                  </a:txBody>
                  <a:tcP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</a:t>
                      </a:r>
                      <a:endParaRPr lang="ko-KR" altLang="en-US" sz="1100" dirty="0"/>
                    </a:p>
                  </a:txBody>
                  <a:tcP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13083349"/>
                  </a:ext>
                </a:extLst>
              </a:tr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856971"/>
                  </a:ext>
                </a:extLst>
              </a:tr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69316"/>
                  </a:ext>
                </a:extLst>
              </a:tr>
            </a:tbl>
          </a:graphicData>
        </a:graphic>
      </p:graphicFrame>
      <p:sp>
        <p:nvSpPr>
          <p:cNvPr id="6" name="오른쪽 화살표 5">
            <a:extLst>
              <a:ext uri="{FF2B5EF4-FFF2-40B4-BE49-F238E27FC236}">
                <a16:creationId xmlns:a16="http://schemas.microsoft.com/office/drawing/2014/main" id="{992A8FAD-C177-DCC0-1922-D79FAF6D65D4}"/>
              </a:ext>
            </a:extLst>
          </p:cNvPr>
          <p:cNvSpPr/>
          <p:nvPr/>
        </p:nvSpPr>
        <p:spPr>
          <a:xfrm>
            <a:off x="3492523" y="2098018"/>
            <a:ext cx="360040" cy="259246"/>
          </a:xfrm>
          <a:prstGeom prst="rightArrow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6BADD49-34DE-CF9F-604B-34A0EB4B4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807" y="1582449"/>
            <a:ext cx="1069918" cy="124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27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4BE6-DAFD-3564-C937-95781763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2B99E32-7DBA-65F1-22FC-68EB22E1728A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A1CE64-7FA7-3B65-E5DD-F10FFAC40CD5}"/>
              </a:ext>
            </a:extLst>
          </p:cNvPr>
          <p:cNvSpPr/>
          <p:nvPr/>
        </p:nvSpPr>
        <p:spPr>
          <a:xfrm>
            <a:off x="504825" y="915566"/>
            <a:ext cx="8145145" cy="1185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6. 4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선언하고 아래와 같이 초기화한 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치례대로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출력하고 마지막 줄에 리스트의 모든 값을 더한 결과를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CA04D-FF84-638E-DFA5-F660A2AE1C63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4E3AD6A-25E6-7901-A1B0-922F75813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550925"/>
              </p:ext>
            </p:extLst>
          </p:nvPr>
        </p:nvGraphicFramePr>
        <p:xfrm>
          <a:off x="1764331" y="1636697"/>
          <a:ext cx="1400175" cy="1036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383183793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42349817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708530231"/>
                    </a:ext>
                  </a:extLst>
                </a:gridCol>
              </a:tblGrid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/>
                        <a:t>3</a:t>
                      </a:r>
                      <a:endParaRPr lang="ko-KR" altLang="en-US" sz="1100" b="0" dirty="0"/>
                    </a:p>
                  </a:txBody>
                  <a:tcPr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/>
                        <a:t>5</a:t>
                      </a:r>
                      <a:endParaRPr lang="ko-KR" altLang="en-US" sz="1100" b="0" dirty="0"/>
                    </a:p>
                  </a:txBody>
                  <a:tcPr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/>
                        <a:t>9</a:t>
                      </a:r>
                      <a:endParaRPr lang="ko-KR" altLang="en-US" sz="1100" b="0" dirty="0"/>
                    </a:p>
                  </a:txBody>
                  <a:tcPr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448046"/>
                  </a:ext>
                </a:extLst>
              </a:tr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</a:t>
                      </a:r>
                      <a:endParaRPr lang="ko-KR" altLang="en-US" sz="1100" dirty="0"/>
                    </a:p>
                  </a:txBody>
                  <a:tcP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</a:t>
                      </a:r>
                      <a:endParaRPr lang="ko-KR" altLang="en-US" sz="1100" dirty="0"/>
                    </a:p>
                  </a:txBody>
                  <a:tcP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13083349"/>
                  </a:ext>
                </a:extLst>
              </a:tr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856971"/>
                  </a:ext>
                </a:extLst>
              </a:tr>
              <a:tr h="23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69316"/>
                  </a:ext>
                </a:extLst>
              </a:tr>
            </a:tbl>
          </a:graphicData>
        </a:graphic>
      </p:graphicFrame>
      <p:sp>
        <p:nvSpPr>
          <p:cNvPr id="6" name="오른쪽 화살표 5">
            <a:extLst>
              <a:ext uri="{FF2B5EF4-FFF2-40B4-BE49-F238E27FC236}">
                <a16:creationId xmlns:a16="http://schemas.microsoft.com/office/drawing/2014/main" id="{8F3AD0D3-638F-5F24-7097-D32D46381FF1}"/>
              </a:ext>
            </a:extLst>
          </p:cNvPr>
          <p:cNvSpPr/>
          <p:nvPr/>
        </p:nvSpPr>
        <p:spPr>
          <a:xfrm>
            <a:off x="3492523" y="2098018"/>
            <a:ext cx="360040" cy="259246"/>
          </a:xfrm>
          <a:prstGeom prst="rightArrow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3A0D4C-A103-DF07-B34F-9AB465B45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807" y="1582449"/>
            <a:ext cx="1069918" cy="12482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302D2A8-E7C3-7C1C-2AD4-41D23A813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23" y="3003798"/>
            <a:ext cx="4429743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85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04825" y="1657161"/>
            <a:ext cx="8145145" cy="173586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7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2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리스트를 세 개 선언하여 각각의 값을 입력 받은 후 두 리스트의 같은 위치끼리 곱하여 새로운 리스트에 저장한 후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6354"/>
          <a:stretch/>
        </p:blipFill>
        <p:spPr>
          <a:xfrm>
            <a:off x="4807445" y="2426416"/>
            <a:ext cx="1091009" cy="73956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4B5C3A4-378E-2652-8E93-4C3C89995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70" y="2243928"/>
            <a:ext cx="1371600" cy="7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07513F-0FC3-E7C0-B3C7-256BE6EA3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2222260"/>
            <a:ext cx="1371600" cy="8001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E36B168D-D076-B9A8-505B-031D6AE9D462}"/>
              </a:ext>
            </a:extLst>
          </p:cNvPr>
          <p:cNvGrpSpPr/>
          <p:nvPr/>
        </p:nvGrpSpPr>
        <p:grpSpPr>
          <a:xfrm>
            <a:off x="1399886" y="2548577"/>
            <a:ext cx="1473641" cy="496404"/>
            <a:chOff x="1586191" y="3195472"/>
            <a:chExt cx="1473641" cy="49640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891990F-749F-CD4A-37E1-7BECA99EC9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809776-83C1-5D16-D187-D8CD4E3AC962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3  6  9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9C343F6-44DB-6192-5166-BBCAFA8CF1FC}"/>
              </a:ext>
            </a:extLst>
          </p:cNvPr>
          <p:cNvGrpSpPr/>
          <p:nvPr/>
        </p:nvGrpSpPr>
        <p:grpSpPr>
          <a:xfrm>
            <a:off x="1399886" y="2939442"/>
            <a:ext cx="1473641" cy="496404"/>
            <a:chOff x="1586191" y="3195472"/>
            <a:chExt cx="1473641" cy="49640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640388F2-D113-2941-651B-835B82C118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71BE96-A2F5-035D-E93D-6A52CD087102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8  5  2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8A782FE-D273-954F-0494-F2E1F9E5B466}"/>
              </a:ext>
            </a:extLst>
          </p:cNvPr>
          <p:cNvGrpSpPr/>
          <p:nvPr/>
        </p:nvGrpSpPr>
        <p:grpSpPr>
          <a:xfrm>
            <a:off x="2843808" y="2547999"/>
            <a:ext cx="1473641" cy="496404"/>
            <a:chOff x="1586191" y="3195472"/>
            <a:chExt cx="1473641" cy="49640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607C0178-D8A5-D28A-283F-55BE0A80D0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F797ADA-2CB3-7917-EC62-EE99D69562A4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9  8  7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A78276F-672E-B1D4-E234-2C5E1D55D0FC}"/>
              </a:ext>
            </a:extLst>
          </p:cNvPr>
          <p:cNvGrpSpPr/>
          <p:nvPr/>
        </p:nvGrpSpPr>
        <p:grpSpPr>
          <a:xfrm>
            <a:off x="2843808" y="2939442"/>
            <a:ext cx="1473641" cy="496404"/>
            <a:chOff x="1586191" y="3195472"/>
            <a:chExt cx="1473641" cy="496404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D65B1C9-ACAB-0E87-F3EE-7C4FB00F6C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F67DF19-A2B8-C0DA-2013-2B9C34B3A075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6  5  4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08FB7175-555A-8400-9505-E0DCBB4350B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755" b="-1"/>
          <a:stretch/>
        </p:blipFill>
        <p:spPr>
          <a:xfrm>
            <a:off x="3201297" y="382377"/>
            <a:ext cx="5336089" cy="7495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C842F5B-4A96-E62A-001C-779E6A7C9160}"/>
              </a:ext>
            </a:extLst>
          </p:cNvPr>
          <p:cNvSpPr/>
          <p:nvPr/>
        </p:nvSpPr>
        <p:spPr>
          <a:xfrm>
            <a:off x="5989807" y="401040"/>
            <a:ext cx="108000" cy="21333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CFDF09-104D-3D95-0737-B6A21AAAE43C}"/>
              </a:ext>
            </a:extLst>
          </p:cNvPr>
          <p:cNvSpPr txBox="1"/>
          <p:nvPr/>
        </p:nvSpPr>
        <p:spPr>
          <a:xfrm>
            <a:off x="5899376" y="342980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</a:t>
            </a:r>
            <a:endParaRPr lang="ko-KR" altLang="en-US" sz="1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00F0FF-A51A-1C1D-D26F-A5C0948A4CC6}"/>
              </a:ext>
            </a:extLst>
          </p:cNvPr>
          <p:cNvSpPr txBox="1"/>
          <p:nvPr/>
        </p:nvSpPr>
        <p:spPr>
          <a:xfrm>
            <a:off x="6421770" y="384808"/>
            <a:ext cx="14452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행의 길이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줄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E6EBEA2-21A0-1915-800C-67876C8328EC}"/>
              </a:ext>
            </a:extLst>
          </p:cNvPr>
          <p:cNvGrpSpPr/>
          <p:nvPr/>
        </p:nvGrpSpPr>
        <p:grpSpPr>
          <a:xfrm>
            <a:off x="4804904" y="595812"/>
            <a:ext cx="288862" cy="307777"/>
            <a:chOff x="6051776" y="213172"/>
            <a:chExt cx="288862" cy="307777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32B7018-F73D-F986-E685-05F244DD96CE}"/>
                </a:ext>
              </a:extLst>
            </p:cNvPr>
            <p:cNvSpPr/>
            <p:nvPr/>
          </p:nvSpPr>
          <p:spPr>
            <a:xfrm>
              <a:off x="6142207" y="271232"/>
              <a:ext cx="108000" cy="213331"/>
            </a:xfrm>
            <a:prstGeom prst="rect">
              <a:avLst/>
            </a:prstGeom>
            <a:solidFill>
              <a:srgbClr val="F7F7F7"/>
            </a:solidFill>
            <a:ln>
              <a:solidFill>
                <a:srgbClr val="F7F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639404-A2A7-F510-13F4-982C6342A177}"/>
                </a:ext>
              </a:extLst>
            </p:cNvPr>
            <p:cNvSpPr txBox="1"/>
            <p:nvPr/>
          </p:nvSpPr>
          <p:spPr>
            <a:xfrm>
              <a:off x="6051776" y="213172"/>
              <a:ext cx="2888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2</a:t>
              </a:r>
              <a:endParaRPr lang="ko-KR" altLang="en-US" sz="1400" b="1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C846867-CA82-7F65-B864-416C045EEE4A}"/>
              </a:ext>
            </a:extLst>
          </p:cNvPr>
          <p:cNvSpPr txBox="1"/>
          <p:nvPr/>
        </p:nvSpPr>
        <p:spPr>
          <a:xfrm>
            <a:off x="7144377" y="1153076"/>
            <a:ext cx="16123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각 열은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한줄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입력</a:t>
            </a:r>
          </a:p>
        </p:txBody>
      </p:sp>
    </p:spTree>
    <p:extLst>
      <p:ext uri="{BB962C8B-B14F-4D97-AF65-F5344CB8AC3E}">
        <p14:creationId xmlns:p14="http://schemas.microsoft.com/office/powerpoint/2010/main" val="2219358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273BD-86E1-7AAC-911B-7B8743FA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10361FE-2164-3C17-2E62-FE5FC74CADD8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2DDD6-2E63-016A-7C9D-7175CFE8CEA0}"/>
              </a:ext>
            </a:extLst>
          </p:cNvPr>
          <p:cNvSpPr txBox="1">
            <a:spLocks/>
          </p:cNvSpPr>
          <p:nvPr/>
        </p:nvSpPr>
        <p:spPr>
          <a:xfrm>
            <a:off x="504825" y="1657161"/>
            <a:ext cx="8145145" cy="173586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7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2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열의 리스트를 세 개 선언하여 각각의 값을 입력 받은 후 두 리스트의 같은 위치끼리 곱하여 새로운 리스트에 저장한 후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23E15-4AB1-4D37-1769-960F1BE8B56C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98AB93-01A8-02D2-16FE-4FE9DA4CC8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354"/>
          <a:stretch/>
        </p:blipFill>
        <p:spPr>
          <a:xfrm>
            <a:off x="2177591" y="3591652"/>
            <a:ext cx="1091009" cy="73956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122BF9E-2CEF-B8B9-EA4E-DBB626FF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70" y="2243928"/>
            <a:ext cx="1371600" cy="7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91C820E-A3DB-F24E-9EBE-DC5EA8CF1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2222260"/>
            <a:ext cx="1371600" cy="8001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D9B40793-4489-54E7-F56D-2E0AEC33C6C6}"/>
              </a:ext>
            </a:extLst>
          </p:cNvPr>
          <p:cNvGrpSpPr/>
          <p:nvPr/>
        </p:nvGrpSpPr>
        <p:grpSpPr>
          <a:xfrm>
            <a:off x="1399886" y="2548577"/>
            <a:ext cx="1473641" cy="496404"/>
            <a:chOff x="1586191" y="3195472"/>
            <a:chExt cx="1473641" cy="49640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5F1C05B-24B1-FDDC-2A9F-94B5123032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9EE223-435E-2643-5F95-033056544703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3  6  9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CB7924C-70FB-BA99-5958-6B8FEEFC59A0}"/>
              </a:ext>
            </a:extLst>
          </p:cNvPr>
          <p:cNvGrpSpPr/>
          <p:nvPr/>
        </p:nvGrpSpPr>
        <p:grpSpPr>
          <a:xfrm>
            <a:off x="1399886" y="2939442"/>
            <a:ext cx="1473641" cy="496404"/>
            <a:chOff x="1586191" y="3195472"/>
            <a:chExt cx="1473641" cy="49640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895057B-DC1A-7382-FF96-0744FB8DD9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8258F0-B02D-2AF9-EE1C-924EA7F84287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8  5  2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7811CE9-DB14-F448-CD06-B3AFE0E30D15}"/>
              </a:ext>
            </a:extLst>
          </p:cNvPr>
          <p:cNvGrpSpPr/>
          <p:nvPr/>
        </p:nvGrpSpPr>
        <p:grpSpPr>
          <a:xfrm>
            <a:off x="2843808" y="2547999"/>
            <a:ext cx="1473641" cy="496404"/>
            <a:chOff x="1586191" y="3195472"/>
            <a:chExt cx="1473641" cy="49640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9D4CA7B-BAF0-6DC3-B9B8-2679F957B2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DAC1FF5-DA7C-9C7A-F9C1-8953501D1A58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9  8  7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18403A6-0624-4BAA-E6E6-F06D8E1FB759}"/>
              </a:ext>
            </a:extLst>
          </p:cNvPr>
          <p:cNvGrpSpPr/>
          <p:nvPr/>
        </p:nvGrpSpPr>
        <p:grpSpPr>
          <a:xfrm>
            <a:off x="2843808" y="2939442"/>
            <a:ext cx="1473641" cy="496404"/>
            <a:chOff x="1586191" y="3195472"/>
            <a:chExt cx="1473641" cy="496404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44CFD73C-23FD-7E6D-0219-4D3EA9FC42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2903" b="-5641"/>
            <a:stretch/>
          </p:blipFill>
          <p:spPr>
            <a:xfrm>
              <a:off x="1586191" y="3195472"/>
              <a:ext cx="1371600" cy="49640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B69AA0-7524-51A3-1794-CDB39602A47A}"/>
                </a:ext>
              </a:extLst>
            </p:cNvPr>
            <p:cNvSpPr txBox="1"/>
            <p:nvPr/>
          </p:nvSpPr>
          <p:spPr>
            <a:xfrm>
              <a:off x="1598427" y="3294821"/>
              <a:ext cx="1461405" cy="30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6  5  4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08486CE2-C91D-61E8-3816-15AF6A5287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755" b="-1"/>
          <a:stretch/>
        </p:blipFill>
        <p:spPr>
          <a:xfrm>
            <a:off x="3201297" y="382377"/>
            <a:ext cx="5336089" cy="7495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067D541-706B-0937-CEC1-A89A15247110}"/>
              </a:ext>
            </a:extLst>
          </p:cNvPr>
          <p:cNvSpPr/>
          <p:nvPr/>
        </p:nvSpPr>
        <p:spPr>
          <a:xfrm>
            <a:off x="5989807" y="401040"/>
            <a:ext cx="108000" cy="213331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A7839-3B3A-D6B5-BE00-B0A7C0CBCC2C}"/>
              </a:ext>
            </a:extLst>
          </p:cNvPr>
          <p:cNvSpPr txBox="1"/>
          <p:nvPr/>
        </p:nvSpPr>
        <p:spPr>
          <a:xfrm>
            <a:off x="5899376" y="342980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</a:t>
            </a:r>
            <a:endParaRPr lang="ko-KR" altLang="en-US" sz="1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0093A9-50EA-1F62-CBA3-D0805CC72BCB}"/>
              </a:ext>
            </a:extLst>
          </p:cNvPr>
          <p:cNvSpPr txBox="1"/>
          <p:nvPr/>
        </p:nvSpPr>
        <p:spPr>
          <a:xfrm>
            <a:off x="6421770" y="384808"/>
            <a:ext cx="14452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행의 길이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줄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685D9A2-9CB7-3FB4-6BDC-3C2401BA08A6}"/>
              </a:ext>
            </a:extLst>
          </p:cNvPr>
          <p:cNvGrpSpPr/>
          <p:nvPr/>
        </p:nvGrpSpPr>
        <p:grpSpPr>
          <a:xfrm>
            <a:off x="4804904" y="595812"/>
            <a:ext cx="288862" cy="307777"/>
            <a:chOff x="6051776" y="213172"/>
            <a:chExt cx="288862" cy="307777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9F038C4-0805-2A90-B410-85C018B03AE5}"/>
                </a:ext>
              </a:extLst>
            </p:cNvPr>
            <p:cNvSpPr/>
            <p:nvPr/>
          </p:nvSpPr>
          <p:spPr>
            <a:xfrm>
              <a:off x="6142207" y="271232"/>
              <a:ext cx="108000" cy="213331"/>
            </a:xfrm>
            <a:prstGeom prst="rect">
              <a:avLst/>
            </a:prstGeom>
            <a:solidFill>
              <a:srgbClr val="F7F7F7"/>
            </a:solidFill>
            <a:ln>
              <a:solidFill>
                <a:srgbClr val="F7F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8BA73DF-B08B-2341-FD8E-DA33DAAE83A5}"/>
                </a:ext>
              </a:extLst>
            </p:cNvPr>
            <p:cNvSpPr txBox="1"/>
            <p:nvPr/>
          </p:nvSpPr>
          <p:spPr>
            <a:xfrm>
              <a:off x="6051776" y="213172"/>
              <a:ext cx="2888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2</a:t>
              </a:r>
              <a:endParaRPr lang="ko-KR" altLang="en-US" sz="1400" b="1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4D80CAD-7491-DECF-592F-5C417D052C18}"/>
              </a:ext>
            </a:extLst>
          </p:cNvPr>
          <p:cNvSpPr txBox="1"/>
          <p:nvPr/>
        </p:nvSpPr>
        <p:spPr>
          <a:xfrm>
            <a:off x="7144377" y="1153076"/>
            <a:ext cx="16123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각 열은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한줄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입력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FEF115-C522-F2EF-2B39-6C87566446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3653" y="2066637"/>
            <a:ext cx="3754209" cy="265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803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79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26797</TotalTime>
  <Words>1230</Words>
  <Application>Microsoft Office PowerPoint</Application>
  <PresentationFormat>화면 슬라이드 쇼(16:9)</PresentationFormat>
  <Paragraphs>319</Paragraphs>
  <Slides>32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10X10</vt:lpstr>
      <vt:lpstr>10X10 Bold</vt:lpstr>
      <vt:lpstr>12LotteMartDreamLight</vt:lpstr>
      <vt:lpstr>12LotteMartDreamMedium</vt:lpstr>
      <vt:lpstr>12롯데마트드림Bold</vt:lpstr>
      <vt:lpstr>12롯데마트드림Medium</vt:lpstr>
      <vt:lpstr>나눔바른고딕 옛한글</vt:lpstr>
      <vt:lpstr>맑은 고딕</vt:lpstr>
      <vt:lpstr>휴먼모음T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1117</cp:revision>
  <cp:lastPrinted>2017-05-13T00:43:47Z</cp:lastPrinted>
  <dcterms:created xsi:type="dcterms:W3CDTF">2015-11-19T15:23:17Z</dcterms:created>
  <dcterms:modified xsi:type="dcterms:W3CDTF">2025-01-16T05:06:28Z</dcterms:modified>
</cp:coreProperties>
</file>
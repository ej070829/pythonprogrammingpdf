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46"/>
  </p:notesMasterIdLst>
  <p:handoutMasterIdLst>
    <p:handoutMasterId r:id="rId147"/>
  </p:handoutMasterIdLst>
  <p:sldIdLst>
    <p:sldId id="499" r:id="rId2"/>
    <p:sldId id="500" r:id="rId3"/>
    <p:sldId id="501" r:id="rId4"/>
    <p:sldId id="502" r:id="rId5"/>
    <p:sldId id="503" r:id="rId6"/>
    <p:sldId id="504" r:id="rId7"/>
    <p:sldId id="510" r:id="rId8"/>
    <p:sldId id="511" r:id="rId9"/>
    <p:sldId id="512" r:id="rId10"/>
    <p:sldId id="513" r:id="rId11"/>
    <p:sldId id="514" r:id="rId12"/>
    <p:sldId id="515" r:id="rId13"/>
    <p:sldId id="516" r:id="rId14"/>
    <p:sldId id="517" r:id="rId15"/>
    <p:sldId id="518" r:id="rId16"/>
    <p:sldId id="519" r:id="rId17"/>
    <p:sldId id="463" r:id="rId18"/>
    <p:sldId id="464" r:id="rId19"/>
    <p:sldId id="520" r:id="rId20"/>
    <p:sldId id="521" r:id="rId21"/>
    <p:sldId id="522" r:id="rId22"/>
    <p:sldId id="523" r:id="rId23"/>
    <p:sldId id="524" r:id="rId24"/>
    <p:sldId id="525" r:id="rId25"/>
    <p:sldId id="471" r:id="rId26"/>
    <p:sldId id="526" r:id="rId27"/>
    <p:sldId id="527" r:id="rId28"/>
    <p:sldId id="528" r:id="rId29"/>
    <p:sldId id="529" r:id="rId30"/>
    <p:sldId id="530" r:id="rId31"/>
    <p:sldId id="531" r:id="rId32"/>
    <p:sldId id="532" r:id="rId33"/>
    <p:sldId id="553" r:id="rId34"/>
    <p:sldId id="534" r:id="rId35"/>
    <p:sldId id="535" r:id="rId36"/>
    <p:sldId id="536" r:id="rId37"/>
    <p:sldId id="537" r:id="rId38"/>
    <p:sldId id="538" r:id="rId39"/>
    <p:sldId id="539" r:id="rId40"/>
    <p:sldId id="540" r:id="rId41"/>
    <p:sldId id="541" r:id="rId42"/>
    <p:sldId id="542" r:id="rId43"/>
    <p:sldId id="543" r:id="rId44"/>
    <p:sldId id="544" r:id="rId45"/>
    <p:sldId id="545" r:id="rId46"/>
    <p:sldId id="546" r:id="rId47"/>
    <p:sldId id="547" r:id="rId48"/>
    <p:sldId id="548" r:id="rId49"/>
    <p:sldId id="549" r:id="rId50"/>
    <p:sldId id="550" r:id="rId51"/>
    <p:sldId id="551" r:id="rId52"/>
    <p:sldId id="552" r:id="rId53"/>
    <p:sldId id="602" r:id="rId54"/>
    <p:sldId id="603" r:id="rId55"/>
    <p:sldId id="607" r:id="rId56"/>
    <p:sldId id="608" r:id="rId57"/>
    <p:sldId id="609" r:id="rId58"/>
    <p:sldId id="610" r:id="rId59"/>
    <p:sldId id="611" r:id="rId60"/>
    <p:sldId id="612" r:id="rId61"/>
    <p:sldId id="613" r:id="rId62"/>
    <p:sldId id="614" r:id="rId63"/>
    <p:sldId id="615" r:id="rId64"/>
    <p:sldId id="616" r:id="rId65"/>
    <p:sldId id="617" r:id="rId66"/>
    <p:sldId id="618" r:id="rId67"/>
    <p:sldId id="619" r:id="rId68"/>
    <p:sldId id="620" r:id="rId69"/>
    <p:sldId id="554" r:id="rId70"/>
    <p:sldId id="621" r:id="rId71"/>
    <p:sldId id="622" r:id="rId72"/>
    <p:sldId id="623" r:id="rId73"/>
    <p:sldId id="624" r:id="rId74"/>
    <p:sldId id="625" r:id="rId75"/>
    <p:sldId id="626" r:id="rId76"/>
    <p:sldId id="627" r:id="rId77"/>
    <p:sldId id="628" r:id="rId78"/>
    <p:sldId id="629" r:id="rId79"/>
    <p:sldId id="630" r:id="rId80"/>
    <p:sldId id="631" r:id="rId81"/>
    <p:sldId id="632" r:id="rId82"/>
    <p:sldId id="633" r:id="rId83"/>
    <p:sldId id="634" r:id="rId84"/>
    <p:sldId id="555" r:id="rId85"/>
    <p:sldId id="392" r:id="rId86"/>
    <p:sldId id="393" r:id="rId87"/>
    <p:sldId id="394" r:id="rId88"/>
    <p:sldId id="395" r:id="rId89"/>
    <p:sldId id="556" r:id="rId90"/>
    <p:sldId id="557" r:id="rId91"/>
    <p:sldId id="558" r:id="rId92"/>
    <p:sldId id="559" r:id="rId93"/>
    <p:sldId id="560" r:id="rId94"/>
    <p:sldId id="561" r:id="rId95"/>
    <p:sldId id="562" r:id="rId96"/>
    <p:sldId id="563" r:id="rId97"/>
    <p:sldId id="564" r:id="rId98"/>
    <p:sldId id="565" r:id="rId99"/>
    <p:sldId id="566" r:id="rId100"/>
    <p:sldId id="567" r:id="rId101"/>
    <p:sldId id="568" r:id="rId102"/>
    <p:sldId id="569" r:id="rId103"/>
    <p:sldId id="570" r:id="rId104"/>
    <p:sldId id="571" r:id="rId105"/>
    <p:sldId id="572" r:id="rId106"/>
    <p:sldId id="573" r:id="rId107"/>
    <p:sldId id="574" r:id="rId108"/>
    <p:sldId id="575" r:id="rId109"/>
    <p:sldId id="576" r:id="rId110"/>
    <p:sldId id="577" r:id="rId111"/>
    <p:sldId id="578" r:id="rId112"/>
    <p:sldId id="579" r:id="rId113"/>
    <p:sldId id="580" r:id="rId114"/>
    <p:sldId id="581" r:id="rId115"/>
    <p:sldId id="582" r:id="rId116"/>
    <p:sldId id="583" r:id="rId117"/>
    <p:sldId id="584" r:id="rId118"/>
    <p:sldId id="585" r:id="rId119"/>
    <p:sldId id="586" r:id="rId120"/>
    <p:sldId id="587" r:id="rId121"/>
    <p:sldId id="497" r:id="rId122"/>
    <p:sldId id="498" r:id="rId123"/>
    <p:sldId id="588" r:id="rId124"/>
    <p:sldId id="589" r:id="rId125"/>
    <p:sldId id="590" r:id="rId126"/>
    <p:sldId id="591" r:id="rId127"/>
    <p:sldId id="592" r:id="rId128"/>
    <p:sldId id="593" r:id="rId129"/>
    <p:sldId id="594" r:id="rId130"/>
    <p:sldId id="595" r:id="rId131"/>
    <p:sldId id="596" r:id="rId132"/>
    <p:sldId id="597" r:id="rId133"/>
    <p:sldId id="598" r:id="rId134"/>
    <p:sldId id="599" r:id="rId135"/>
    <p:sldId id="600" r:id="rId136"/>
    <p:sldId id="601" r:id="rId137"/>
    <p:sldId id="635" r:id="rId138"/>
    <p:sldId id="636" r:id="rId139"/>
    <p:sldId id="604" r:id="rId140"/>
    <p:sldId id="605" r:id="rId141"/>
    <p:sldId id="606" r:id="rId142"/>
    <p:sldId id="637" r:id="rId143"/>
    <p:sldId id="638" r:id="rId144"/>
    <p:sldId id="639" r:id="rId145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AFD"/>
    <a:srgbClr val="FEEEC1"/>
    <a:srgbClr val="287E9A"/>
    <a:srgbClr val="46A0A9"/>
    <a:srgbClr val="FFFEFA"/>
    <a:srgbClr val="3D9DA7"/>
    <a:srgbClr val="44A0AA"/>
    <a:srgbClr val="3A9EA8"/>
    <a:srgbClr val="7FBCC1"/>
    <a:srgbClr val="BA36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2" autoAdjust="0"/>
    <p:restoredTop sz="96613" autoAdjust="0"/>
  </p:normalViewPr>
  <p:slideViewPr>
    <p:cSldViewPr snapToGrid="0">
      <p:cViewPr varScale="1">
        <p:scale>
          <a:sx n="61" d="100"/>
          <a:sy n="61" d="100"/>
        </p:scale>
        <p:origin x="638" y="130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832"/>
    </p:cViewPr>
  </p:sorterViewPr>
  <p:notesViewPr>
    <p:cSldViewPr snapToGrid="0">
      <p:cViewPr varScale="1">
        <p:scale>
          <a:sx n="57" d="100"/>
          <a:sy n="57" d="100"/>
        </p:scale>
        <p:origin x="3331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2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D9331E65-C0B2-43A3-AEA0-27572300E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1A11F-1625-4846-B551-B0FB2D6FBA52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D116-71D7-4302-AFCE-C8C6A543EB25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0E4B-0617-45A8-859E-E6EB3F68FE94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A9B-6EA5-40B6-9C63-673B00ADD933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5553-0EF7-4222-AD4D-B9DF44803BAD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3357-7D8F-4C3E-B154-BD95DF5D8AD2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BF9E-2460-47D7-A97E-9F3DFD456E55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6DC0-B0CC-4DAE-BF6E-F5491584EC2A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339-ED3C-413D-A913-2E4C0CAC614A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469-56C2-4D9B-8248-54D64A5567BF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63D7-61A1-4068-A828-12807C55F23E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B03F69D8-3A19-7BF0-228A-3924225978BA}"/>
              </a:ext>
            </a:extLst>
          </p:cNvPr>
          <p:cNvSpPr txBox="1">
            <a:spLocks/>
          </p:cNvSpPr>
          <p:nvPr userDrawn="1"/>
        </p:nvSpPr>
        <p:spPr>
          <a:xfrm>
            <a:off x="4502754" y="8443103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92081792-AD1A-925C-627C-10CE616A377C}"/>
              </a:ext>
            </a:extLst>
          </p:cNvPr>
          <p:cNvSpPr txBox="1">
            <a:spLocks/>
          </p:cNvSpPr>
          <p:nvPr userDrawn="1"/>
        </p:nvSpPr>
        <p:spPr>
          <a:xfrm>
            <a:off x="574746" y="850344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203ABBF-A026-B45E-68A6-CA18A35E6ACF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3936218" y="4390231"/>
            <a:ext cx="178743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C000A6-B495-4073-44DD-9EFAFF3A346E}"/>
              </a:ext>
            </a:extLst>
          </p:cNvPr>
          <p:cNvGrpSpPr/>
          <p:nvPr userDrawn="1"/>
        </p:nvGrpSpPr>
        <p:grpSpPr>
          <a:xfrm>
            <a:off x="822463" y="699254"/>
            <a:ext cx="4661616" cy="1015608"/>
            <a:chOff x="242887" y="187648"/>
            <a:chExt cx="6593840" cy="1438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7DFE21-A543-D248-FD33-435A68893D12}"/>
                </a:ext>
              </a:extLst>
            </p:cNvPr>
            <p:cNvSpPr txBox="1"/>
            <p:nvPr/>
          </p:nvSpPr>
          <p:spPr>
            <a:xfrm>
              <a:off x="1043042" y="449506"/>
              <a:ext cx="5793685" cy="1176142"/>
            </a:xfrm>
            <a:prstGeom prst="rect">
              <a:avLst/>
            </a:prstGeom>
            <a:noFill/>
            <a:ln>
              <a:solidFill>
                <a:schemeClr val="tx1">
                  <a:alpha val="0"/>
                </a:schemeClr>
              </a:solidFill>
            </a:ln>
          </p:spPr>
          <p:txBody>
            <a:bodyPr wrap="square" lIns="91430" tIns="45715" rIns="91430" bIns="45715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[</a:t>
              </a: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심화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]2</a:t>
              </a: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급 알고리즘 자격증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_</a:t>
              </a: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파이썬</a:t>
              </a:r>
              <a:endPara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  <a:p>
              <a:pPr algn="l">
                <a:lnSpc>
                  <a:spcPct val="150000"/>
                </a:lnSpc>
              </a:pPr>
              <a:endPara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26397-EC88-1CEF-4F6C-1D113483D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" y="187648"/>
              <a:ext cx="924139" cy="862012"/>
            </a:xfrm>
            <a:prstGeom prst="rect">
              <a:avLst/>
            </a:prstGeom>
          </p:spPr>
        </p:pic>
      </p:grp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CC8000-10BF-2E3C-6889-AA709CE9D4F4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 w="3175"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EB2EA828-A9CF-2EE7-F844-F8F755A075DF}"/>
              </a:ext>
            </a:extLst>
          </p:cNvPr>
          <p:cNvSpPr txBox="1">
            <a:spLocks/>
          </p:cNvSpPr>
          <p:nvPr userDrawn="1"/>
        </p:nvSpPr>
        <p:spPr>
          <a:xfrm>
            <a:off x="4502754" y="8443103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4132391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2A2DA-A218-05B0-B05D-2FDE789782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370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EF5C-B4D2-7F68-C96C-516355412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544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5FE957-21EE-39BA-24A8-80923A80E0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580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4934E5-1ACB-AAAA-1CFC-096C2BADAA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754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5088CD-F0E5-3327-8A29-738A26D37DE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1773" y="80650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A71B7-635A-BEB0-0699-EDF69AE39DB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99100-1F0C-4082-4085-92B8B1B706E8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D88B28-9E4A-1531-69A7-DFF5F93226BB}"/>
              </a:ext>
            </a:extLst>
          </p:cNvPr>
          <p:cNvSpPr/>
          <p:nvPr userDrawn="1"/>
        </p:nvSpPr>
        <p:spPr>
          <a:xfrm>
            <a:off x="906893" y="787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86D1EC4C-858B-C89F-2977-9AAFAD762D8E}"/>
              </a:ext>
            </a:extLst>
          </p:cNvPr>
          <p:cNvSpPr txBox="1">
            <a:spLocks/>
          </p:cNvSpPr>
          <p:nvPr userDrawn="1"/>
        </p:nvSpPr>
        <p:spPr>
          <a:xfrm>
            <a:off x="574746" y="850344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993815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C2CA49-147A-84C9-0AD4-64586C429E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345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B8A381-58A8-4D04-31A5-E24085B535F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519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82874678-789F-1EE2-D97F-33A26DB8354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555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A83C7BFC-E7B7-2FF5-463E-62455CD7DBA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730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FEB078-BCE9-5A26-AC39-0E5CFE98BCA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80650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844DB8-6953-8298-50A0-39C8806FB647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2B076-99DB-B6D6-C3C8-EF10B8DEF90A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0DBF6D-91F3-8FDC-3F0C-EEC469AFE8FA}"/>
              </a:ext>
            </a:extLst>
          </p:cNvPr>
          <p:cNvSpPr/>
          <p:nvPr userDrawn="1"/>
        </p:nvSpPr>
        <p:spPr>
          <a:xfrm>
            <a:off x="1067534" y="787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17">
            <a:extLst>
              <a:ext uri="{FF2B5EF4-FFF2-40B4-BE49-F238E27FC236}">
                <a16:creationId xmlns:a16="http://schemas.microsoft.com/office/drawing/2014/main" id="{CEDC2149-6564-4AF7-695D-3C36627C8D30}"/>
              </a:ext>
            </a:extLst>
          </p:cNvPr>
          <p:cNvSpPr txBox="1">
            <a:spLocks/>
          </p:cNvSpPr>
          <p:nvPr userDrawn="1"/>
        </p:nvSpPr>
        <p:spPr>
          <a:xfrm>
            <a:off x="4502754" y="8443103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AFDABB11-1177-B3AF-C0F7-49FDDF361D52}"/>
              </a:ext>
            </a:extLst>
          </p:cNvPr>
          <p:cNvSpPr/>
          <p:nvPr userDrawn="1"/>
        </p:nvSpPr>
        <p:spPr>
          <a:xfrm>
            <a:off x="995979" y="658402"/>
            <a:ext cx="477816" cy="467138"/>
          </a:xfrm>
          <a:prstGeom prst="flowChartOffpageConnector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AD42835-43C3-AB15-0920-7D5D3CB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782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B25731-EE45-269E-C253-FB73DEDEC6FA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059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EFAEEED-0306-E68A-711B-7644501B9B1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202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FA03F-B34D-E395-C2B3-180708875074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BADDE5-A3FE-AADB-1A02-FB4D8FC9B496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CC74E5-DCDE-7259-4A82-DBBD7B81AC97}"/>
              </a:ext>
            </a:extLst>
          </p:cNvPr>
          <p:cNvSpPr/>
          <p:nvPr userDrawn="1"/>
        </p:nvSpPr>
        <p:spPr>
          <a:xfrm>
            <a:off x="906893" y="787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17">
            <a:extLst>
              <a:ext uri="{FF2B5EF4-FFF2-40B4-BE49-F238E27FC236}">
                <a16:creationId xmlns:a16="http://schemas.microsoft.com/office/drawing/2014/main" id="{0FBE1BFE-C82B-0749-799F-B558788557CE}"/>
              </a:ext>
            </a:extLst>
          </p:cNvPr>
          <p:cNvSpPr txBox="1">
            <a:spLocks/>
          </p:cNvSpPr>
          <p:nvPr userDrawn="1"/>
        </p:nvSpPr>
        <p:spPr>
          <a:xfrm>
            <a:off x="574746" y="850344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FAF466-82D5-5642-ACF3-36A500FEF8D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 amt="10000"/>
          </a:blip>
          <a:stretch>
            <a:fillRect/>
          </a:stretch>
        </p:blipFill>
        <p:spPr>
          <a:xfrm>
            <a:off x="1143596" y="1766085"/>
            <a:ext cx="4039459" cy="51838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6D1A06-7D29-B439-D42B-97E4039BC9CA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 amt="10000"/>
          </a:blip>
          <a:stretch>
            <a:fillRect/>
          </a:stretch>
        </p:blipFill>
        <p:spPr>
          <a:xfrm>
            <a:off x="-196093" y="4357990"/>
            <a:ext cx="4039459" cy="51838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C6FA9D-347E-C465-AF82-C68BBCA6A8C1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 amt="10000"/>
          </a:blip>
          <a:stretch>
            <a:fillRect/>
          </a:stretch>
        </p:blipFill>
        <p:spPr>
          <a:xfrm>
            <a:off x="2470153" y="-250006"/>
            <a:ext cx="4039459" cy="51838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ED4F-5061-4292-B39D-E4856B5F82AF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18" r:id="rId14"/>
    <p:sldLayoutId id="2147483721" r:id="rId15"/>
    <p:sldLayoutId id="2147483722" r:id="rId16"/>
    <p:sldLayoutId id="2147483696" r:id="rId17"/>
    <p:sldLayoutId id="2147483703" r:id="rId18"/>
  </p:sldLayoutIdLst>
  <p:hf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알고리즘 문제 이해하기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5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143148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9EBF-5E8B-4AB7-1300-B9FED15C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F5EFEE68-3930-732F-C4F3-8050E7738478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1]</a:t>
            </a:r>
            <a:r>
              <a:rPr lang="ko-KR" altLang="en-US" dirty="0"/>
              <a:t> 한 반에 학생이 </a:t>
            </a:r>
            <a:r>
              <a:rPr lang="en-US" altLang="ko-KR" dirty="0"/>
              <a:t>10</a:t>
            </a:r>
            <a:r>
              <a:rPr lang="ko-KR" altLang="en-US" dirty="0"/>
              <a:t>명 있습니다</a:t>
            </a:r>
            <a:r>
              <a:rPr lang="en-US" altLang="ko-KR" dirty="0"/>
              <a:t>. </a:t>
            </a:r>
            <a:r>
              <a:rPr lang="ko-KR" altLang="en-US" dirty="0"/>
              <a:t>각 학생의 시험 점수가 리스트로 주어집니다</a:t>
            </a:r>
            <a:r>
              <a:rPr lang="en-US" altLang="ko-KR" dirty="0"/>
              <a:t>. </a:t>
            </a:r>
            <a:r>
              <a:rPr lang="ko-KR" altLang="en-US" dirty="0"/>
              <a:t>이 반에서는 </a:t>
            </a:r>
            <a:r>
              <a:rPr lang="en-US" altLang="ko-KR" dirty="0"/>
              <a:t>650</a:t>
            </a:r>
            <a:r>
              <a:rPr lang="ko-KR" altLang="en-US" dirty="0"/>
              <a:t>점 이상이고 </a:t>
            </a:r>
            <a:r>
              <a:rPr lang="en-US" altLang="ko-KR" dirty="0"/>
              <a:t>800</a:t>
            </a:r>
            <a:r>
              <a:rPr lang="ko-KR" altLang="en-US" dirty="0"/>
              <a:t>점 미만인 학생만보충 수업을 듣게 됩니다</a:t>
            </a:r>
            <a:r>
              <a:rPr lang="en-US" altLang="ko-KR" dirty="0"/>
              <a:t>. </a:t>
            </a:r>
            <a:r>
              <a:rPr lang="ko-KR" altLang="en-US" dirty="0"/>
              <a:t>학생들의 점수가 들어있는 리스트가 주어질 때</a:t>
            </a:r>
            <a:r>
              <a:rPr lang="en-US" altLang="ko-KR" dirty="0"/>
              <a:t>, </a:t>
            </a:r>
            <a:r>
              <a:rPr lang="ko-KR" altLang="en-US" dirty="0"/>
              <a:t>보충 수업을 듣는 학생은 모두 몇 명인지 구하세요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2]</a:t>
            </a:r>
            <a:r>
              <a:rPr lang="ko-KR" altLang="en-US" dirty="0"/>
              <a:t> 한 반의 학생들이 숫자 카드 놀이를 하고 있습니다</a:t>
            </a:r>
            <a:r>
              <a:rPr lang="en-US" altLang="ko-KR" dirty="0"/>
              <a:t>. </a:t>
            </a:r>
            <a:r>
              <a:rPr lang="ko-KR" altLang="en-US" dirty="0"/>
              <a:t>카드에는 자연수가 적혀 있고</a:t>
            </a:r>
            <a:r>
              <a:rPr lang="en-US" altLang="ko-KR" dirty="0"/>
              <a:t>, </a:t>
            </a:r>
            <a:r>
              <a:rPr lang="ko-KR" altLang="en-US" dirty="0"/>
              <a:t>선생님은 다음 규칙으로 놀이 결과를 판단하려고 합니다</a:t>
            </a:r>
            <a:r>
              <a:rPr lang="en-US" altLang="ko-KR" dirty="0"/>
              <a:t>. </a:t>
            </a:r>
            <a:r>
              <a:rPr lang="ko-KR" altLang="en-US" dirty="0"/>
              <a:t>카드 중에서 </a:t>
            </a:r>
            <a:r>
              <a:rPr lang="en-US" altLang="ko-KR" dirty="0"/>
              <a:t>3</a:t>
            </a:r>
            <a:r>
              <a:rPr lang="ko-KR" altLang="en-US" dirty="0"/>
              <a:t>의 배수 카드 개수를 센다</a:t>
            </a:r>
            <a:r>
              <a:rPr lang="en-US" altLang="ko-KR" dirty="0"/>
              <a:t>. </a:t>
            </a:r>
            <a:r>
              <a:rPr lang="ko-KR" altLang="en-US" dirty="0"/>
              <a:t>카드 중에서 </a:t>
            </a:r>
            <a:r>
              <a:rPr lang="en-US" altLang="ko-KR" dirty="0"/>
              <a:t>5</a:t>
            </a:r>
            <a:r>
              <a:rPr lang="ko-KR" altLang="en-US" dirty="0"/>
              <a:t>의 배수 카드 개수를 센다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판단 규칙</a:t>
            </a:r>
            <a:r>
              <a:rPr lang="en-US" altLang="ko-KR" dirty="0"/>
              <a:t>]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의 배수 카드가 더 많으면 </a:t>
            </a:r>
            <a:r>
              <a:rPr lang="en-US" altLang="ko-KR" dirty="0"/>
              <a:t>"three"</a:t>
            </a:r>
            <a:r>
              <a:rPr lang="ko-KR" altLang="en-US" dirty="0"/>
              <a:t>를 반환합니다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5</a:t>
            </a:r>
            <a:r>
              <a:rPr lang="ko-KR" altLang="en-US" dirty="0"/>
              <a:t>의 배수 카드가 더 많으면 </a:t>
            </a:r>
            <a:r>
              <a:rPr lang="en-US" altLang="ko-KR" dirty="0"/>
              <a:t>"five"</a:t>
            </a:r>
            <a:r>
              <a:rPr lang="ko-KR" altLang="en-US" dirty="0"/>
              <a:t>를 반환합니다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개수가 같으면 </a:t>
            </a:r>
            <a:r>
              <a:rPr lang="en-US" altLang="ko-KR" dirty="0"/>
              <a:t>"same"</a:t>
            </a:r>
            <a:r>
              <a:rPr lang="ko-KR" altLang="en-US" dirty="0"/>
              <a:t>을 반환합니다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카드에 적힌 숫자들이 리스트로 주어질 때</a:t>
            </a:r>
            <a:r>
              <a:rPr lang="en-US" altLang="ko-KR" dirty="0"/>
              <a:t>,</a:t>
            </a:r>
            <a:r>
              <a:rPr lang="ko-KR" altLang="en-US" dirty="0"/>
              <a:t>위 규칙에 따라 결과를 반환하는 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3]</a:t>
            </a:r>
            <a:r>
              <a:rPr lang="ko-KR" altLang="en-US" dirty="0"/>
              <a:t> 로봇이 숫자 구간을 이동하면서 짝수 칸에만 배터리 충전을 합니다</a:t>
            </a:r>
            <a:r>
              <a:rPr lang="en-US" altLang="ko-KR" dirty="0"/>
              <a:t>. </a:t>
            </a:r>
            <a:r>
              <a:rPr lang="ko-KR" altLang="en-US" dirty="0"/>
              <a:t>로봇은 짝수 칸에 도착할 때마다 그 칸의 번호를 제곱한 만큼 충전합니다</a:t>
            </a:r>
            <a:r>
              <a:rPr lang="en-US" altLang="ko-KR" dirty="0"/>
              <a:t>. </a:t>
            </a:r>
            <a:r>
              <a:rPr lang="ko-KR" altLang="en-US" dirty="0"/>
              <a:t>정수 </a:t>
            </a:r>
            <a:r>
              <a:rPr lang="en-US" altLang="ko-KR" dirty="0"/>
              <a:t>start</a:t>
            </a:r>
            <a:r>
              <a:rPr lang="ko-KR" altLang="en-US" dirty="0"/>
              <a:t>와 </a:t>
            </a:r>
            <a:r>
              <a:rPr lang="en-US" altLang="ko-KR" dirty="0"/>
              <a:t>end</a:t>
            </a:r>
            <a:r>
              <a:rPr lang="ko-KR" altLang="en-US" dirty="0"/>
              <a:t>가 주어질 때</a:t>
            </a:r>
            <a:r>
              <a:rPr lang="en-US" altLang="ko-KR" dirty="0"/>
              <a:t>, start</a:t>
            </a:r>
            <a:r>
              <a:rPr lang="ko-KR" altLang="en-US" dirty="0"/>
              <a:t>부터 </a:t>
            </a:r>
            <a:r>
              <a:rPr lang="en-US" altLang="ko-KR" dirty="0"/>
              <a:t>end</a:t>
            </a:r>
            <a:r>
              <a:rPr lang="ko-KR" altLang="en-US" dirty="0"/>
              <a:t>까지의 숫자 중 짝수만 골라서 </a:t>
            </a:r>
            <a:r>
              <a:rPr lang="en-US" altLang="ko-KR" dirty="0"/>
              <a:t>(</a:t>
            </a:r>
            <a:r>
              <a:rPr lang="ko-KR" altLang="en-US" dirty="0"/>
              <a:t>짝수</a:t>
            </a:r>
            <a:r>
              <a:rPr lang="en-US" altLang="ko-KR" dirty="0"/>
              <a:t>²)</a:t>
            </a:r>
            <a:r>
              <a:rPr lang="ko-KR" altLang="en-US" dirty="0"/>
              <a:t>의 합을 구해 반환하세요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F84B5E-B826-8E90-081C-85D3904E060A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 이해하기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4CC837-520B-00D5-3B3A-DEB8F52BE630}"/>
              </a:ext>
            </a:extLst>
          </p:cNvPr>
          <p:cNvSpPr txBox="1"/>
          <p:nvPr/>
        </p:nvSpPr>
        <p:spPr>
          <a:xfrm>
            <a:off x="1067776" y="302776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F0335-A97B-973F-4465-A458DFFFED31}"/>
              </a:ext>
            </a:extLst>
          </p:cNvPr>
          <p:cNvSpPr txBox="1"/>
          <p:nvPr/>
        </p:nvSpPr>
        <p:spPr>
          <a:xfrm>
            <a:off x="1067776" y="2211130"/>
            <a:ext cx="37575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[650, 722, 914, 558, 714, 803, 650, 679, 669, 800]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C19DF-D748-9EF0-CAED-F46C1C34A0BF}"/>
              </a:ext>
            </a:extLst>
          </p:cNvPr>
          <p:cNvSpPr txBox="1"/>
          <p:nvPr/>
        </p:nvSpPr>
        <p:spPr>
          <a:xfrm>
            <a:off x="1067776" y="6565851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three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08C43-B9F5-670C-9601-43D6FD1E9FC1}"/>
              </a:ext>
            </a:extLst>
          </p:cNvPr>
          <p:cNvSpPr txBox="1"/>
          <p:nvPr/>
        </p:nvSpPr>
        <p:spPr>
          <a:xfrm>
            <a:off x="1067776" y="5749214"/>
            <a:ext cx="37575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[2, 3, 6, 9, 12, 15, 10, 20, 22, 25]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0F0BA-2B6B-CFC2-AFB0-0B20FE51FF59}"/>
              </a:ext>
            </a:extLst>
          </p:cNvPr>
          <p:cNvSpPr txBox="1"/>
          <p:nvPr/>
        </p:nvSpPr>
        <p:spPr>
          <a:xfrm>
            <a:off x="1067776" y="8202116"/>
            <a:ext cx="158177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start = 4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end =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35A924-F5CE-3325-DA19-AB3B4C904D37}"/>
              </a:ext>
            </a:extLst>
          </p:cNvPr>
          <p:cNvSpPr txBox="1"/>
          <p:nvPr/>
        </p:nvSpPr>
        <p:spPr>
          <a:xfrm>
            <a:off x="3765768" y="8200884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74871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FFA6-357E-E831-F9FA-1FFC5EE4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2881DCE-3F57-15D6-D45C-034825DB588E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4]</a:t>
            </a:r>
            <a:r>
              <a:rPr lang="ko-KR" altLang="en-US" dirty="0"/>
              <a:t> 한 학생이 비밀 단어 만들기 게임을 하고 있습니다</a:t>
            </a:r>
            <a:r>
              <a:rPr lang="en-US" altLang="ko-KR" dirty="0"/>
              <a:t>. </a:t>
            </a:r>
            <a:r>
              <a:rPr lang="ko-KR" altLang="en-US" dirty="0"/>
              <a:t>여러 개의 단어 카드가 순서대로 놓여 있고</a:t>
            </a:r>
            <a:r>
              <a:rPr lang="en-US" altLang="ko-KR" dirty="0"/>
              <a:t>, </a:t>
            </a:r>
            <a:r>
              <a:rPr lang="ko-KR" altLang="en-US" dirty="0"/>
              <a:t>학생은 글자 수가 </a:t>
            </a:r>
            <a:r>
              <a:rPr lang="en-US" altLang="ko-KR" dirty="0"/>
              <a:t>5</a:t>
            </a:r>
            <a:r>
              <a:rPr lang="ko-KR" altLang="en-US" dirty="0"/>
              <a:t>글자 이상인 카드만 골라서 앞에서부터 차례대로 이어 붙여 하나의 문장을 만들려고 합니다</a:t>
            </a:r>
            <a:r>
              <a:rPr lang="en-US" altLang="ko-KR" dirty="0"/>
              <a:t>. </a:t>
            </a:r>
            <a:r>
              <a:rPr lang="ko-KR" altLang="en-US" dirty="0"/>
              <a:t>단어들이 들어있는 리스트가 주어질 때</a:t>
            </a:r>
            <a:r>
              <a:rPr lang="en-US" altLang="ko-KR" dirty="0"/>
              <a:t>, </a:t>
            </a:r>
            <a:r>
              <a:rPr lang="ko-KR" altLang="en-US" dirty="0"/>
              <a:t>조건에 맞는 단어를 순서대로 이어 붙인 문자열을 반환하세요</a:t>
            </a:r>
            <a:r>
              <a:rPr lang="en-US" altLang="ko-KR" dirty="0"/>
              <a:t>. (</a:t>
            </a:r>
            <a:r>
              <a:rPr lang="ko-KR" altLang="en-US" dirty="0"/>
              <a:t>만약 조건에 맞는 단어가 하나도 없다면 </a:t>
            </a:r>
            <a:r>
              <a:rPr lang="en-US" altLang="ko-KR" dirty="0"/>
              <a:t>"empty"</a:t>
            </a:r>
            <a:r>
              <a:rPr lang="ko-KR" altLang="en-US" dirty="0"/>
              <a:t>를 반환합니다</a:t>
            </a:r>
            <a:r>
              <a:rPr lang="en-US" altLang="ko-KR" dirty="0"/>
              <a:t>.)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 </a:t>
            </a:r>
            <a:r>
              <a:rPr lang="en-US" altLang="ko-KR" dirty="0"/>
              <a:t>1]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출력 결과 예시 </a:t>
            </a:r>
            <a:r>
              <a:rPr lang="en-US" altLang="ko-KR" dirty="0"/>
              <a:t>1]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 </a:t>
            </a:r>
            <a:r>
              <a:rPr lang="en-US" altLang="ko-KR" dirty="0"/>
              <a:t>2]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출력 결과 예시 </a:t>
            </a:r>
            <a:r>
              <a:rPr lang="en-US" altLang="ko-KR" dirty="0"/>
              <a:t>2]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5]</a:t>
            </a:r>
            <a:r>
              <a:rPr lang="ko-KR" altLang="en-US" dirty="0"/>
              <a:t> 한 용사가 몬스터와 번갈아 가며 전투를 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전투 규칙은 다음과 같습니다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몬스터는 처음에 체력 </a:t>
            </a:r>
            <a:r>
              <a:rPr lang="en-US" altLang="ko-KR" dirty="0"/>
              <a:t>hp </a:t>
            </a:r>
            <a:r>
              <a:rPr lang="ko-KR" altLang="en-US" dirty="0"/>
              <a:t>를 가지고 시작합니다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용사는 자신의 차례마다 몬스터에게 일정한 공격력 </a:t>
            </a:r>
            <a:r>
              <a:rPr lang="en-US" altLang="ko-KR" dirty="0"/>
              <a:t>attack </a:t>
            </a:r>
            <a:r>
              <a:rPr lang="ko-KR" altLang="en-US" dirty="0"/>
              <a:t>만큼 피해를 줍니다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몬스터는 공격을 받은 뒤</a:t>
            </a:r>
            <a:r>
              <a:rPr lang="en-US" altLang="ko-KR" dirty="0"/>
              <a:t>, </a:t>
            </a:r>
            <a:r>
              <a:rPr lang="ko-KR" altLang="en-US" dirty="0"/>
              <a:t>자신의 차례가 되면 체력을 </a:t>
            </a:r>
            <a:r>
              <a:rPr lang="en-US" altLang="ko-KR" dirty="0"/>
              <a:t>recovery</a:t>
            </a:r>
            <a:r>
              <a:rPr lang="ko-KR" altLang="en-US" dirty="0"/>
              <a:t>만큼 회복합니다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 전투는 용사가 먼저 공격하며 시작합니다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몬스터의 체력이 </a:t>
            </a:r>
            <a:r>
              <a:rPr lang="en-US" altLang="ko-KR" dirty="0"/>
              <a:t>0 </a:t>
            </a:r>
            <a:r>
              <a:rPr lang="ko-KR" altLang="en-US" dirty="0"/>
              <a:t>이하가 되면 전투는 종료됩니다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용사의 공격력 </a:t>
            </a:r>
            <a:r>
              <a:rPr lang="en-US" altLang="ko-KR" dirty="0"/>
              <a:t>attack,</a:t>
            </a:r>
            <a:r>
              <a:rPr lang="ko-KR" altLang="en-US" dirty="0"/>
              <a:t>몬스터의 </a:t>
            </a:r>
            <a:r>
              <a:rPr lang="ko-KR" altLang="en-US" dirty="0" err="1"/>
              <a:t>회복량</a:t>
            </a:r>
            <a:r>
              <a:rPr lang="ko-KR" altLang="en-US" dirty="0"/>
              <a:t> </a:t>
            </a:r>
            <a:r>
              <a:rPr lang="en-US" altLang="ko-KR" dirty="0"/>
              <a:t>recovery, </a:t>
            </a:r>
            <a:r>
              <a:rPr lang="ko-KR" altLang="en-US" dirty="0"/>
              <a:t>몬스터의 초기 체력 </a:t>
            </a:r>
            <a:r>
              <a:rPr lang="en-US" altLang="ko-KR" dirty="0"/>
              <a:t>hp</a:t>
            </a:r>
            <a:r>
              <a:rPr lang="ko-KR" altLang="en-US" dirty="0"/>
              <a:t>가 주어질 때</a:t>
            </a:r>
            <a:r>
              <a:rPr lang="en-US" altLang="ko-KR" dirty="0"/>
              <a:t>,</a:t>
            </a:r>
            <a:r>
              <a:rPr lang="ko-KR" altLang="en-US" dirty="0"/>
              <a:t> 몬스터를 쓰러뜨리기 위해 용사가 최소 몇 번 공격해야 하는지 구하는 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FEAECBF-E37E-B950-8AE9-84DE4D456880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 이해하기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65DB1-6BC6-E569-5A22-978694BF6A4E}"/>
              </a:ext>
            </a:extLst>
          </p:cNvPr>
          <p:cNvSpPr txBox="1"/>
          <p:nvPr/>
        </p:nvSpPr>
        <p:spPr>
          <a:xfrm>
            <a:off x="1365846" y="230698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["my", "favorite", "color", "is", "violet"]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2C143-74C6-2335-8981-7E23D9989C30}"/>
              </a:ext>
            </a:extLst>
          </p:cNvPr>
          <p:cNvSpPr txBox="1"/>
          <p:nvPr/>
        </p:nvSpPr>
        <p:spPr>
          <a:xfrm>
            <a:off x="1365846" y="2993214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favoritecolorviolet</a:t>
            </a:r>
            <a:endParaRPr kumimoji="1" lang="en-US" altLang="ko-KR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B7E42-D4F1-95BB-B7FC-3D8185B2A602}"/>
              </a:ext>
            </a:extLst>
          </p:cNvPr>
          <p:cNvSpPr txBox="1"/>
          <p:nvPr/>
        </p:nvSpPr>
        <p:spPr>
          <a:xfrm>
            <a:off x="1365846" y="3693054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["yes", "</a:t>
            </a:r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i</a:t>
            </a:r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", "am"]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3AA1A-4A5E-E3D7-6AF2-3B58681DFE74}"/>
              </a:ext>
            </a:extLst>
          </p:cNvPr>
          <p:cNvSpPr txBox="1"/>
          <p:nvPr/>
        </p:nvSpPr>
        <p:spPr>
          <a:xfrm>
            <a:off x="1365846" y="4354794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empty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2CB9F-01FD-22D5-F9B0-22F89FC27084}"/>
              </a:ext>
            </a:extLst>
          </p:cNvPr>
          <p:cNvSpPr txBox="1"/>
          <p:nvPr/>
        </p:nvSpPr>
        <p:spPr>
          <a:xfrm>
            <a:off x="1365846" y="7455816"/>
            <a:ext cx="158177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attack = 30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recovery = 10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hp = 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8DE15-3077-0B76-6251-E95636CA896C}"/>
              </a:ext>
            </a:extLst>
          </p:cNvPr>
          <p:cNvSpPr txBox="1"/>
          <p:nvPr/>
        </p:nvSpPr>
        <p:spPr>
          <a:xfrm>
            <a:off x="4063838" y="7455816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8472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2230-81A0-864E-1573-668DA9F4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EA72025-AD20-266B-A69F-61451F91821B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6]</a:t>
            </a:r>
            <a:r>
              <a:rPr lang="ko-KR" altLang="en-US" dirty="0"/>
              <a:t> 학교 로봇이 복도를 이동하며 여러 교실을 방문합니다</a:t>
            </a:r>
            <a:r>
              <a:rPr lang="en-US" altLang="ko-KR" dirty="0"/>
              <a:t>. </a:t>
            </a:r>
            <a:r>
              <a:rPr lang="ko-KR" altLang="en-US" dirty="0"/>
              <a:t>로봇이 방문한 교실 번호가 순서대로 리스트에 저장되어 있습니다</a:t>
            </a:r>
            <a:r>
              <a:rPr lang="en-US" altLang="ko-KR" dirty="0"/>
              <a:t>. </a:t>
            </a:r>
            <a:r>
              <a:rPr lang="ko-KR" altLang="en-US" dirty="0"/>
              <a:t>로봇은 한 번 이동할 때마다 이전 교실 번호와 다음 교실 번호의 차이만큼 이동합니다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2</a:t>
            </a:r>
            <a:r>
              <a:rPr lang="ko-KR" altLang="en-US" dirty="0"/>
              <a:t>번에서 </a:t>
            </a:r>
            <a:r>
              <a:rPr lang="en-US" altLang="ko-KR" dirty="0"/>
              <a:t>5</a:t>
            </a:r>
            <a:r>
              <a:rPr lang="ko-KR" altLang="en-US" dirty="0"/>
              <a:t>번으로 가면 이동거리 </a:t>
            </a:r>
            <a:r>
              <a:rPr lang="en-US" altLang="ko-KR" dirty="0"/>
              <a:t>3) </a:t>
            </a:r>
            <a:r>
              <a:rPr lang="ko-KR" altLang="en-US" dirty="0"/>
              <a:t>방문 순서가 담긴 리스트 </a:t>
            </a:r>
            <a:r>
              <a:rPr lang="en-US" altLang="ko-KR" dirty="0"/>
              <a:t>rooms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로봇이 이동한 전체 이동거리의 합을 반환하세요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7]</a:t>
            </a:r>
            <a:r>
              <a:rPr lang="ko-KR" altLang="en-US" dirty="0"/>
              <a:t> 학교 앞 주차장에서는 날짜에 따라 출입 규칙이 있습니다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날짜가 홀수 날이면 → 차량 번호가 홀수인 차만 입장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날짜가 짝수 날이면 → 차량 번호가 짝수인 차만 입장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하루의 날짜 </a:t>
            </a:r>
            <a:r>
              <a:rPr lang="en-US" altLang="ko-KR" dirty="0"/>
              <a:t>day</a:t>
            </a:r>
            <a:r>
              <a:rPr lang="ko-KR" altLang="en-US" dirty="0"/>
              <a:t>와 주차장에 들어오려는 차량 번호가 담긴 리스트 </a:t>
            </a:r>
            <a:r>
              <a:rPr lang="en-US" altLang="ko-KR" dirty="0"/>
              <a:t>cars</a:t>
            </a:r>
            <a:r>
              <a:rPr lang="ko-KR" altLang="en-US" dirty="0"/>
              <a:t>가 주어질 때</a:t>
            </a:r>
            <a:r>
              <a:rPr lang="en-US" altLang="ko-KR" dirty="0"/>
              <a:t>,  </a:t>
            </a:r>
            <a:r>
              <a:rPr lang="ko-KR" altLang="en-US" dirty="0"/>
              <a:t>규칙에 맞게 입장할 수 있는 차량의 수를 구하세요</a:t>
            </a:r>
            <a:r>
              <a:rPr lang="en-US" altLang="ko-KR" dirty="0"/>
              <a:t>.(</a:t>
            </a:r>
            <a:r>
              <a:rPr lang="ko-KR" altLang="en-US" dirty="0"/>
              <a:t>차량 번호는 중복되지 않습니다</a:t>
            </a:r>
            <a:r>
              <a:rPr lang="en-US" altLang="ko-KR" dirty="0"/>
              <a:t>.).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8]</a:t>
            </a:r>
            <a:r>
              <a:rPr lang="ko-KR" altLang="en-US" dirty="0"/>
              <a:t> 수학 시간에 선생님이 “나누기 </a:t>
            </a:r>
            <a:r>
              <a:rPr lang="en-US" altLang="ko-KR" dirty="0"/>
              <a:t>2 </a:t>
            </a:r>
            <a:r>
              <a:rPr lang="ko-KR" altLang="en-US" dirty="0" err="1"/>
              <a:t>퀴즈”를</a:t>
            </a:r>
            <a:r>
              <a:rPr lang="ko-KR" altLang="en-US" dirty="0"/>
              <a:t> 냈습니다</a:t>
            </a:r>
            <a:r>
              <a:rPr lang="en-US" altLang="ko-KR" dirty="0"/>
              <a:t>. </a:t>
            </a:r>
            <a:r>
              <a:rPr lang="ko-KR" altLang="en-US" dirty="0"/>
              <a:t>정수들이 적힌 카드 리스트가 주어질 때</a:t>
            </a:r>
            <a:r>
              <a:rPr lang="en-US" altLang="ko-KR" dirty="0"/>
              <a:t>, </a:t>
            </a:r>
            <a:r>
              <a:rPr lang="ko-KR" altLang="en-US" dirty="0"/>
              <a:t>각 카드의 숫자를 </a:t>
            </a:r>
            <a:r>
              <a:rPr lang="en-US" altLang="ko-KR" dirty="0"/>
              <a:t>2</a:t>
            </a:r>
            <a:r>
              <a:rPr lang="ko-KR" altLang="en-US" dirty="0"/>
              <a:t>로 나눈 값이 리스트 안에 그대로 존재하는 카드가 몇 장인지 세려고 합니다</a:t>
            </a:r>
            <a:r>
              <a:rPr lang="en-US" altLang="ko-KR" dirty="0"/>
              <a:t>. </a:t>
            </a:r>
            <a:r>
              <a:rPr lang="ko-KR" altLang="en-US" dirty="0"/>
              <a:t>예를 들어 숫자 </a:t>
            </a:r>
            <a:r>
              <a:rPr lang="en-US" altLang="ko-KR" dirty="0"/>
              <a:t>8</a:t>
            </a:r>
            <a:r>
              <a:rPr lang="ko-KR" altLang="en-US" dirty="0"/>
              <a:t>이 있다면 </a:t>
            </a:r>
            <a:r>
              <a:rPr lang="en-US" altLang="ko-KR" dirty="0"/>
              <a:t>8 ÷ 2 = 4</a:t>
            </a:r>
            <a:r>
              <a:rPr lang="ko-KR" altLang="en-US" dirty="0"/>
              <a:t>이므로</a:t>
            </a:r>
            <a:r>
              <a:rPr lang="en-US" altLang="ko-KR" dirty="0"/>
              <a:t>, </a:t>
            </a:r>
            <a:r>
              <a:rPr lang="ko-KR" altLang="en-US" dirty="0"/>
              <a:t>리스트 안에 </a:t>
            </a:r>
            <a:r>
              <a:rPr lang="en-US" altLang="ko-KR" dirty="0"/>
              <a:t>4</a:t>
            </a:r>
            <a:r>
              <a:rPr lang="ko-KR" altLang="en-US" dirty="0"/>
              <a:t>가 함께 있으면 </a:t>
            </a:r>
            <a:r>
              <a:rPr lang="en-US" altLang="ko-KR" dirty="0"/>
              <a:t>8</a:t>
            </a:r>
            <a:r>
              <a:rPr lang="ko-KR" altLang="en-US" dirty="0"/>
              <a:t>은 조건을 만족합니다</a:t>
            </a:r>
            <a:r>
              <a:rPr lang="en-US" altLang="ko-KR" dirty="0"/>
              <a:t>. </a:t>
            </a:r>
            <a:r>
              <a:rPr lang="ko-KR" altLang="en-US" dirty="0"/>
              <a:t>정수 리스트 </a:t>
            </a:r>
            <a:r>
              <a:rPr lang="en-US" altLang="ko-KR" dirty="0" err="1"/>
              <a:t>nums</a:t>
            </a:r>
            <a:r>
              <a:rPr lang="ko-KR" altLang="en-US" dirty="0"/>
              <a:t>가 주어질 때</a:t>
            </a:r>
            <a:r>
              <a:rPr lang="en-US" altLang="ko-KR" dirty="0"/>
              <a:t>,</a:t>
            </a:r>
            <a:r>
              <a:rPr lang="ko-KR" altLang="en-US" dirty="0"/>
              <a:t> “자기 숫자를 </a:t>
            </a:r>
            <a:r>
              <a:rPr lang="en-US" altLang="ko-KR" dirty="0"/>
              <a:t>2</a:t>
            </a:r>
            <a:r>
              <a:rPr lang="ko-KR" altLang="en-US" dirty="0"/>
              <a:t>로 나눈 값이 리스트에 있는 </a:t>
            </a:r>
            <a:r>
              <a:rPr lang="ko-KR" altLang="en-US" dirty="0" err="1"/>
              <a:t>숫자”의</a:t>
            </a:r>
            <a:r>
              <a:rPr lang="ko-KR" altLang="en-US" dirty="0"/>
              <a:t> 개수를 반환하세요</a:t>
            </a:r>
            <a:r>
              <a:rPr lang="en-US" altLang="ko-KR" dirty="0"/>
              <a:t>. 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나눗셈은 정확히 나누어 떨어질 때만 인정합니다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짝수만 검사하면 됩니다</a:t>
            </a:r>
            <a:r>
              <a:rPr lang="en-US" altLang="ko-KR" dirty="0"/>
              <a:t>.)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B191B01-7C63-AD5E-1A9D-4BA953F4FC1C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 이해하기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E777DF-CA8F-0D1B-DCB6-C6223DA0EBDD}"/>
              </a:ext>
            </a:extLst>
          </p:cNvPr>
          <p:cNvSpPr txBox="1"/>
          <p:nvPr/>
        </p:nvSpPr>
        <p:spPr>
          <a:xfrm>
            <a:off x="1067775" y="302776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B2E5B-2BB0-38F1-9166-9C7B822BA64C}"/>
              </a:ext>
            </a:extLst>
          </p:cNvPr>
          <p:cNvSpPr txBox="1"/>
          <p:nvPr/>
        </p:nvSpPr>
        <p:spPr>
          <a:xfrm>
            <a:off x="1067775" y="2357839"/>
            <a:ext cx="37575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2, 5, 4, 2]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2D1053-9FB6-3E2F-9F77-56CC36321799}"/>
              </a:ext>
            </a:extLst>
          </p:cNvPr>
          <p:cNvSpPr txBox="1"/>
          <p:nvPr/>
        </p:nvSpPr>
        <p:spPr>
          <a:xfrm>
            <a:off x="1067775" y="583176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F8DC1-C56E-20D6-DD35-4F51013D73F9}"/>
              </a:ext>
            </a:extLst>
          </p:cNvPr>
          <p:cNvSpPr txBox="1"/>
          <p:nvPr/>
        </p:nvSpPr>
        <p:spPr>
          <a:xfrm>
            <a:off x="1067776" y="4987214"/>
            <a:ext cx="3757599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day = 17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cars = [3285, 1724, 4438, 2988, 3131, 2998]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E7F2D-511F-50BF-4512-E1C1B8DA3B56}"/>
              </a:ext>
            </a:extLst>
          </p:cNvPr>
          <p:cNvSpPr txBox="1"/>
          <p:nvPr/>
        </p:nvSpPr>
        <p:spPr>
          <a:xfrm>
            <a:off x="1067775" y="7649568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[4, 8, 3, 6, 7]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59615-5A31-D353-C4AA-4124B799C315}"/>
              </a:ext>
            </a:extLst>
          </p:cNvPr>
          <p:cNvSpPr txBox="1"/>
          <p:nvPr/>
        </p:nvSpPr>
        <p:spPr>
          <a:xfrm>
            <a:off x="1067775" y="8417560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3892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0905D-E9DB-1E54-54F9-9976C766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3E32120-1B42-F1BC-BEB2-974C89E0C4EC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9]</a:t>
            </a:r>
            <a:r>
              <a:rPr lang="ko-KR" altLang="en-US" dirty="0"/>
              <a:t> 학교 축제에서 여러 부스가 동시에 운영됩니다</a:t>
            </a:r>
            <a:r>
              <a:rPr lang="en-US" altLang="ko-KR" dirty="0"/>
              <a:t>. </a:t>
            </a:r>
            <a:r>
              <a:rPr lang="ko-KR" altLang="en-US" dirty="0"/>
              <a:t>각 부스에는 참가자가 정해진 수만큼 있고</a:t>
            </a:r>
            <a:r>
              <a:rPr lang="en-US" altLang="ko-KR" dirty="0"/>
              <a:t>, </a:t>
            </a:r>
            <a:r>
              <a:rPr lang="ko-KR" altLang="en-US" dirty="0"/>
              <a:t>안전 규칙 때문에 진행요원 </a:t>
            </a:r>
            <a:r>
              <a:rPr lang="en-US" altLang="ko-KR" dirty="0"/>
              <a:t>1</a:t>
            </a:r>
            <a:r>
              <a:rPr lang="ko-KR" altLang="en-US" dirty="0"/>
              <a:t>명은 최대 </a:t>
            </a:r>
            <a:r>
              <a:rPr lang="en-US" altLang="ko-KR" dirty="0"/>
              <a:t>m</a:t>
            </a:r>
            <a:r>
              <a:rPr lang="ko-KR" altLang="en-US" dirty="0" err="1"/>
              <a:t>명까지만</a:t>
            </a:r>
            <a:r>
              <a:rPr lang="ko-KR" altLang="en-US" dirty="0"/>
              <a:t> 담당할 수 있습니다</a:t>
            </a:r>
            <a:r>
              <a:rPr lang="en-US" altLang="ko-KR" dirty="0"/>
              <a:t>.</a:t>
            </a:r>
            <a:r>
              <a:rPr lang="ko-KR" altLang="en-US" dirty="0"/>
              <a:t>부스별 참가자 수가 들어있는 리스트 </a:t>
            </a:r>
            <a:r>
              <a:rPr lang="en-US" altLang="ko-KR" dirty="0"/>
              <a:t>people</a:t>
            </a:r>
            <a:r>
              <a:rPr lang="ko-KR" altLang="en-US" dirty="0"/>
              <a:t>과진행요원 </a:t>
            </a:r>
            <a:r>
              <a:rPr lang="en-US" altLang="ko-KR" dirty="0"/>
              <a:t>1</a:t>
            </a:r>
            <a:r>
              <a:rPr lang="ko-KR" altLang="en-US" dirty="0"/>
              <a:t>명이 담당할 수 있는 최대 인원 </a:t>
            </a:r>
            <a:r>
              <a:rPr lang="en-US" altLang="ko-KR" dirty="0"/>
              <a:t>m</a:t>
            </a:r>
            <a:r>
              <a:rPr lang="ko-KR" altLang="en-US" dirty="0"/>
              <a:t>이 주어질 때</a:t>
            </a:r>
            <a:r>
              <a:rPr lang="en-US" altLang="ko-KR" dirty="0"/>
              <a:t>,</a:t>
            </a:r>
            <a:r>
              <a:rPr lang="ko-KR" altLang="en-US" dirty="0"/>
              <a:t> 모든 부스를 운영하기 위해 필요한 진행요원 수의 합을 구해 반환하세요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단어카드 예시</a:t>
            </a:r>
            <a:r>
              <a:rPr lang="en-US" altLang="ko-KR" dirty="0"/>
              <a:t>]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10]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는 매일 기록을 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오늘 먹은 칼로리 기록이 리스트 </a:t>
            </a:r>
            <a:r>
              <a:rPr lang="en-US" altLang="ko-KR" dirty="0"/>
              <a:t>calorie</a:t>
            </a:r>
            <a:r>
              <a:rPr lang="ko-KR" altLang="en-US" dirty="0"/>
              <a:t>에 순서대로 저장됩니다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</a:t>
            </a:r>
            <a:r>
              <a:rPr lang="ko-KR" altLang="en-US" dirty="0"/>
              <a:t>는 오늘 먹은 칼로리가 지금까지 먹은 칼로리 중 “</a:t>
            </a:r>
            <a:r>
              <a:rPr lang="ko-KR" altLang="en-US" dirty="0" err="1"/>
              <a:t>최소값”보다</a:t>
            </a:r>
            <a:r>
              <a:rPr lang="ko-KR" altLang="en-US" dirty="0"/>
              <a:t> 크면 “넘친 칼로리만큼” 운동으로 소모하려고 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만약 오늘 먹은 칼로리가 지금까지의 최소값 이하라면 운동하지 않습니다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지금까지의 최소 칼로리가 </a:t>
            </a:r>
            <a:r>
              <a:rPr lang="en-US" altLang="ko-KR" dirty="0"/>
              <a:t>500</a:t>
            </a:r>
            <a:r>
              <a:rPr lang="ko-KR" altLang="en-US" dirty="0"/>
              <a:t>인데 오늘 </a:t>
            </a:r>
            <a:r>
              <a:rPr lang="en-US" altLang="ko-KR" dirty="0"/>
              <a:t>750</a:t>
            </a:r>
            <a:r>
              <a:rPr lang="ko-KR" altLang="en-US" dirty="0"/>
              <a:t>을 먹었다면</a:t>
            </a:r>
            <a:r>
              <a:rPr lang="en-US" altLang="ko-KR" dirty="0"/>
              <a:t>750 - 500 = 250 </a:t>
            </a:r>
            <a:r>
              <a:rPr lang="ko-KR" altLang="en-US" dirty="0"/>
              <a:t>만큼 운동으로 소모합니다</a:t>
            </a:r>
            <a:r>
              <a:rPr lang="en-US" altLang="ko-KR" dirty="0"/>
              <a:t>. </a:t>
            </a:r>
            <a:r>
              <a:rPr lang="ko-KR" altLang="en-US" dirty="0"/>
              <a:t>리스트 </a:t>
            </a:r>
            <a:r>
              <a:rPr lang="en-US" altLang="ko-KR" dirty="0"/>
              <a:t>calorie</a:t>
            </a:r>
            <a:r>
              <a:rPr lang="ko-KR" altLang="en-US" dirty="0"/>
              <a:t>가 주어질 때</a:t>
            </a:r>
            <a:r>
              <a:rPr lang="en-US" altLang="ko-KR" dirty="0"/>
              <a:t>,A</a:t>
            </a:r>
            <a:r>
              <a:rPr lang="ko-KR" altLang="en-US" dirty="0"/>
              <a:t>가 운동으로 소모한 총 칼로리 합을 반환하세요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11]</a:t>
            </a:r>
            <a:r>
              <a:rPr lang="ko-KR" altLang="en-US" dirty="0"/>
              <a:t> 문구점에서 “스탬프 </a:t>
            </a:r>
            <a:r>
              <a:rPr lang="ko-KR" altLang="en-US" dirty="0" err="1"/>
              <a:t>쿠폰”을</a:t>
            </a:r>
            <a:r>
              <a:rPr lang="ko-KR" altLang="en-US" dirty="0"/>
              <a:t> 모으면 할인에 사용할 수 있습니다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쿠폰은 </a:t>
            </a:r>
            <a:r>
              <a:rPr lang="en-US" altLang="ko-KR" dirty="0"/>
              <a:t>100</a:t>
            </a:r>
            <a:r>
              <a:rPr lang="ko-KR" altLang="en-US" dirty="0"/>
              <a:t>장 단위로만 사용할 수 있습니다</a:t>
            </a:r>
            <a:r>
              <a:rPr lang="en-US" altLang="ko-KR" dirty="0"/>
              <a:t>.(</a:t>
            </a:r>
            <a:r>
              <a:rPr lang="ko-KR" altLang="en-US" dirty="0"/>
              <a:t>예</a:t>
            </a:r>
            <a:r>
              <a:rPr lang="en-US" altLang="ko-KR" dirty="0"/>
              <a:t>: 100, 200, 300 …)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쿠폰이 </a:t>
            </a:r>
            <a:r>
              <a:rPr lang="en-US" altLang="ko-KR" dirty="0"/>
              <a:t>1000</a:t>
            </a:r>
            <a:r>
              <a:rPr lang="ko-KR" altLang="en-US" dirty="0"/>
              <a:t>장 이상 모였을 때만 사용할 수 있습니다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현재 쿠폰 개수 </a:t>
            </a:r>
            <a:r>
              <a:rPr lang="en-US" altLang="ko-KR" dirty="0"/>
              <a:t>stamp</a:t>
            </a:r>
            <a:r>
              <a:rPr lang="ko-KR" altLang="en-US" dirty="0"/>
              <a:t>가 주어질 때</a:t>
            </a:r>
            <a:r>
              <a:rPr lang="en-US" altLang="ko-KR" dirty="0"/>
              <a:t>,</a:t>
            </a:r>
            <a:r>
              <a:rPr lang="ko-KR" altLang="en-US" dirty="0"/>
              <a:t> 규칙을 지키면서 최대로 사용할 수 있는 쿠폰 수를 반환하세요</a:t>
            </a:r>
            <a:r>
              <a:rPr lang="en-US" altLang="ko-KR" dirty="0"/>
              <a:t>.(</a:t>
            </a:r>
            <a:r>
              <a:rPr lang="ko-KR" altLang="en-US" dirty="0"/>
              <a:t>사용한 쿠폰 수는 </a:t>
            </a:r>
            <a:r>
              <a:rPr lang="en-US" altLang="ko-KR" dirty="0"/>
              <a:t>stamp</a:t>
            </a:r>
            <a:r>
              <a:rPr lang="ko-KR" altLang="en-US" dirty="0"/>
              <a:t>를 넘을 수 없습니다</a:t>
            </a:r>
            <a:r>
              <a:rPr lang="en-US" altLang="ko-KR" dirty="0"/>
              <a:t>.)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99E3D6-B19B-C44A-8FE8-F68DD45F2E20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 이해하기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2FAE8-C5E5-903E-2E8D-69B298C9502D}"/>
              </a:ext>
            </a:extLst>
          </p:cNvPr>
          <p:cNvSpPr txBox="1"/>
          <p:nvPr/>
        </p:nvSpPr>
        <p:spPr>
          <a:xfrm>
            <a:off x="1365846" y="2306987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people = [80, 45, 33, 20]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m =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D118C-D9AD-2787-9BB8-3B2B2718DBE0}"/>
              </a:ext>
            </a:extLst>
          </p:cNvPr>
          <p:cNvSpPr txBox="1"/>
          <p:nvPr/>
        </p:nvSpPr>
        <p:spPr>
          <a:xfrm>
            <a:off x="1365846" y="316211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169317-EF31-D56E-A890-00671DB71CC3}"/>
              </a:ext>
            </a:extLst>
          </p:cNvPr>
          <p:cNvSpPr txBox="1"/>
          <p:nvPr/>
        </p:nvSpPr>
        <p:spPr>
          <a:xfrm>
            <a:off x="1365846" y="5653219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[713, 665, 873, 500, 751]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A887B-8E99-3464-DA9B-C8F175022D0A}"/>
              </a:ext>
            </a:extLst>
          </p:cNvPr>
          <p:cNvSpPr txBox="1"/>
          <p:nvPr/>
        </p:nvSpPr>
        <p:spPr>
          <a:xfrm>
            <a:off x="1365846" y="6339074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B70FFA-52A6-7CB2-7A1C-3E300905D255}"/>
              </a:ext>
            </a:extLst>
          </p:cNvPr>
          <p:cNvSpPr txBox="1"/>
          <p:nvPr/>
        </p:nvSpPr>
        <p:spPr>
          <a:xfrm>
            <a:off x="1365846" y="8293055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2323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8979A8-EE8B-CDE6-303D-2496F201665F}"/>
              </a:ext>
            </a:extLst>
          </p:cNvPr>
          <p:cNvSpPr txBox="1"/>
          <p:nvPr/>
        </p:nvSpPr>
        <p:spPr>
          <a:xfrm>
            <a:off x="3548076" y="8293055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2300</a:t>
            </a:r>
          </a:p>
        </p:txBody>
      </p:sp>
    </p:spTree>
    <p:extLst>
      <p:ext uri="{BB962C8B-B14F-4D97-AF65-F5344CB8AC3E}">
        <p14:creationId xmlns:p14="http://schemas.microsoft.com/office/powerpoint/2010/main" val="218229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6932-0B35-5636-B4C2-642B789D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BBAF74F1-AB93-12B1-E744-FC5BB22FC4EF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639179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12]</a:t>
            </a:r>
            <a:r>
              <a:rPr lang="ko-KR" altLang="en-US" dirty="0"/>
              <a:t> 학교 동아리에서 새 멤버를 뽑기 위해 간단한 실기 테스트를 진행했습니다</a:t>
            </a:r>
            <a:r>
              <a:rPr lang="en-US" altLang="ko-KR" dirty="0"/>
              <a:t>. </a:t>
            </a:r>
            <a:r>
              <a:rPr lang="ko-KR" altLang="en-US" dirty="0"/>
              <a:t>각 지원자의 점수가 리스트 </a:t>
            </a:r>
            <a:r>
              <a:rPr lang="en-US" altLang="ko-KR" dirty="0"/>
              <a:t>scores</a:t>
            </a:r>
            <a:r>
              <a:rPr lang="ko-KR" altLang="en-US" dirty="0"/>
              <a:t>에 들어 있습니다</a:t>
            </a:r>
            <a:r>
              <a:rPr lang="en-US" altLang="ko-KR" dirty="0"/>
              <a:t>. </a:t>
            </a:r>
            <a:r>
              <a:rPr lang="ko-KR" altLang="en-US" dirty="0"/>
              <a:t>동아리는 커트라인 점수 </a:t>
            </a:r>
            <a:r>
              <a:rPr lang="en-US" altLang="ko-KR" dirty="0"/>
              <a:t>cutline </a:t>
            </a:r>
            <a:r>
              <a:rPr lang="ko-KR" altLang="en-US" dirty="0"/>
              <a:t>이상을 받은 사람만 합격시킵니다</a:t>
            </a:r>
            <a:r>
              <a:rPr lang="en-US" altLang="ko-KR" dirty="0"/>
              <a:t>. </a:t>
            </a:r>
            <a:r>
              <a:rPr lang="ko-KR" altLang="en-US" dirty="0"/>
              <a:t>합격한 사람이 몇 명인지 구해 반환하는 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13]</a:t>
            </a:r>
            <a:r>
              <a:rPr lang="ko-KR" altLang="en-US" dirty="0"/>
              <a:t> 학교 방송부에서 하루 활동 시간을 기록합니다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리스트 </a:t>
            </a:r>
            <a:r>
              <a:rPr lang="en-US" altLang="ko-KR" dirty="0"/>
              <a:t>schedule</a:t>
            </a:r>
            <a:r>
              <a:rPr lang="ko-KR" altLang="en-US" dirty="0"/>
              <a:t>의 각 칸은 </a:t>
            </a:r>
            <a:r>
              <a:rPr lang="en-US" altLang="ko-KR" dirty="0"/>
              <a:t>1</a:t>
            </a:r>
            <a:r>
              <a:rPr lang="ko-KR" altLang="en-US" dirty="0"/>
              <a:t>시간을 의미합니다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값이 </a:t>
            </a:r>
            <a:r>
              <a:rPr lang="en-US" altLang="ko-KR" dirty="0"/>
              <a:t>1</a:t>
            </a:r>
            <a:r>
              <a:rPr lang="ko-KR" altLang="en-US" dirty="0"/>
              <a:t>이면 그 시간은 활동이 있는 시간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이면 그 시간은 쉬는 시간</a:t>
            </a:r>
            <a:r>
              <a:rPr lang="en-US" altLang="ko-KR" dirty="0"/>
              <a:t>(</a:t>
            </a:r>
            <a:r>
              <a:rPr lang="ko-KR" altLang="en-US" dirty="0"/>
              <a:t>공강</a:t>
            </a:r>
            <a:r>
              <a:rPr lang="en-US" altLang="ko-KR" dirty="0"/>
              <a:t>/</a:t>
            </a:r>
            <a:r>
              <a:rPr lang="ko-KR" altLang="en-US" dirty="0"/>
              <a:t>빈 시간</a:t>
            </a:r>
            <a:r>
              <a:rPr lang="en-US" altLang="ko-KR" dirty="0"/>
              <a:t>)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활동은 항상 첫 번째 시간에 시작해서 마지막 시간에 끝납니다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schedule</a:t>
            </a:r>
            <a:r>
              <a:rPr lang="ko-KR" altLang="en-US" dirty="0"/>
              <a:t>에서 처음 </a:t>
            </a:r>
            <a:r>
              <a:rPr lang="en-US" altLang="ko-KR" dirty="0"/>
              <a:t>1</a:t>
            </a:r>
            <a:r>
              <a:rPr lang="ko-KR" altLang="en-US" dirty="0"/>
              <a:t>부터 마지막 </a:t>
            </a:r>
            <a:r>
              <a:rPr lang="en-US" altLang="ko-KR" dirty="0"/>
              <a:t>1 </a:t>
            </a:r>
            <a:r>
              <a:rPr lang="ko-KR" altLang="en-US" dirty="0"/>
              <a:t>사이의 구간만 의미가 있습니다</a:t>
            </a:r>
            <a:r>
              <a:rPr lang="en-US" altLang="ko-KR" dirty="0"/>
              <a:t>. schedule</a:t>
            </a:r>
            <a:r>
              <a:rPr lang="ko-KR" altLang="en-US" dirty="0"/>
              <a:t>이 주어질 때</a:t>
            </a:r>
            <a:r>
              <a:rPr lang="en-US" altLang="ko-KR" dirty="0"/>
              <a:t>, </a:t>
            </a:r>
            <a:r>
              <a:rPr lang="ko-KR" altLang="en-US" dirty="0"/>
              <a:t>처음 </a:t>
            </a:r>
            <a:r>
              <a:rPr lang="en-US" altLang="ko-KR" dirty="0"/>
              <a:t>1</a:t>
            </a:r>
            <a:r>
              <a:rPr lang="ko-KR" altLang="en-US" dirty="0"/>
              <a:t>과 마지막 </a:t>
            </a:r>
            <a:r>
              <a:rPr lang="en-US" altLang="ko-KR" dirty="0"/>
              <a:t>1 </a:t>
            </a:r>
            <a:r>
              <a:rPr lang="ko-KR" altLang="en-US" dirty="0"/>
              <a:t>사이에 있는 </a:t>
            </a:r>
            <a:r>
              <a:rPr lang="en-US" altLang="ko-KR" dirty="0"/>
              <a:t>0</a:t>
            </a:r>
            <a:r>
              <a:rPr lang="ko-KR" altLang="en-US" dirty="0"/>
              <a:t>의 개수</a:t>
            </a:r>
            <a:r>
              <a:rPr lang="en-US" altLang="ko-KR" dirty="0"/>
              <a:t>(</a:t>
            </a:r>
            <a:r>
              <a:rPr lang="ko-KR" altLang="en-US" dirty="0"/>
              <a:t>쉬는 시간 수</a:t>
            </a:r>
            <a:r>
              <a:rPr lang="en-US" altLang="ko-KR" dirty="0"/>
              <a:t>)</a:t>
            </a:r>
            <a:r>
              <a:rPr lang="ko-KR" altLang="en-US" dirty="0"/>
              <a:t>를 구해 반환하세요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[</a:t>
            </a:r>
            <a:r>
              <a:rPr lang="ko-KR" altLang="en-US" dirty="0"/>
              <a:t>주어진 매개 변수 예시</a:t>
            </a:r>
            <a:r>
              <a:rPr lang="en-US" altLang="ko-KR" dirty="0"/>
              <a:t>]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                      </a:t>
            </a: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D24F24E-2F2E-9626-7F16-B6ED526E92C7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 이해하기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F3E355-5DEF-4A13-5A12-B2C151C519C1}"/>
              </a:ext>
            </a:extLst>
          </p:cNvPr>
          <p:cNvSpPr txBox="1"/>
          <p:nvPr/>
        </p:nvSpPr>
        <p:spPr>
          <a:xfrm>
            <a:off x="1067775" y="307348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525F3-76C6-83FC-EBBE-B7C4FF13D54B}"/>
              </a:ext>
            </a:extLst>
          </p:cNvPr>
          <p:cNvSpPr txBox="1"/>
          <p:nvPr/>
        </p:nvSpPr>
        <p:spPr>
          <a:xfrm>
            <a:off x="1067775" y="2190832"/>
            <a:ext cx="3757599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scores = [80, 90, 55, 60, 59]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cutline = 60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D8556-B206-7B26-CDB1-2F1FFF4ED452}"/>
              </a:ext>
            </a:extLst>
          </p:cNvPr>
          <p:cNvSpPr txBox="1"/>
          <p:nvPr/>
        </p:nvSpPr>
        <p:spPr>
          <a:xfrm>
            <a:off x="1067776" y="619503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55494-6E1C-E116-BCD4-B2F3F3389E85}"/>
              </a:ext>
            </a:extLst>
          </p:cNvPr>
          <p:cNvSpPr txBox="1"/>
          <p:nvPr/>
        </p:nvSpPr>
        <p:spPr>
          <a:xfrm>
            <a:off x="1067775" y="5447000"/>
            <a:ext cx="375759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1, 0, 0, 1, 0, 1, 0, 0, 0]</a:t>
            </a:r>
          </a:p>
        </p:txBody>
      </p:sp>
    </p:spTree>
    <p:extLst>
      <p:ext uri="{BB962C8B-B14F-4D97-AF65-F5344CB8AC3E}">
        <p14:creationId xmlns:p14="http://schemas.microsoft.com/office/powerpoint/2010/main" val="34907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0635-79E0-31B1-A890-6BE37DD7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7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1699-8D0A-CF34-BA26-EFE7E966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40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알고리즘 심화 문제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6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347350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9EBF-5E8B-4AB7-1300-B9FED15C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F5EFEE68-3930-732F-C4F3-8050E7738478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1]</a:t>
            </a:r>
            <a:r>
              <a:rPr lang="ko-KR" altLang="en-US" dirty="0"/>
              <a:t> 도로에 속도 측정 장치가 설치되어 있습니다</a:t>
            </a:r>
            <a:r>
              <a:rPr lang="en-US" altLang="ko-KR" dirty="0"/>
              <a:t>.</a:t>
            </a:r>
            <a:r>
              <a:rPr lang="ko-KR" altLang="en-US" dirty="0"/>
              <a:t>기준 속도 </a:t>
            </a:r>
            <a:r>
              <a:rPr lang="en-US" altLang="ko-KR" dirty="0"/>
              <a:t>limit</a:t>
            </a:r>
            <a:r>
              <a:rPr lang="ko-KR" altLang="en-US" dirty="0"/>
              <a:t>과 차량 속도 목록 </a:t>
            </a:r>
            <a:r>
              <a:rPr lang="en-US" altLang="ko-KR" dirty="0"/>
              <a:t>cars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전체 벌금 합계를 구하세요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벌금 규칙은 다음과 같습니다</a:t>
            </a:r>
            <a:r>
              <a:rPr lang="en-US" altLang="ko-KR" dirty="0"/>
              <a:t>. (</a:t>
            </a:r>
            <a:r>
              <a:rPr lang="ko-KR" altLang="en-US" dirty="0"/>
              <a:t>단위</a:t>
            </a:r>
            <a:r>
              <a:rPr lang="en-US" altLang="ko-KR" dirty="0"/>
              <a:t>: </a:t>
            </a:r>
            <a:r>
              <a:rPr lang="ko-KR" altLang="en-US" dirty="0"/>
              <a:t>만원</a:t>
            </a:r>
            <a:r>
              <a:rPr lang="en-US" altLang="ko-KR" dirty="0"/>
              <a:t>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기준 속도보다 </a:t>
            </a:r>
            <a:r>
              <a:rPr lang="en-US" altLang="ko-KR" dirty="0"/>
              <a:t>10% </a:t>
            </a:r>
            <a:r>
              <a:rPr lang="ko-KR" altLang="en-US" dirty="0"/>
              <a:t>이상 </a:t>
            </a:r>
            <a:r>
              <a:rPr lang="en-US" altLang="ko-KR" dirty="0"/>
              <a:t>20% </a:t>
            </a:r>
            <a:r>
              <a:rPr lang="ko-KR" altLang="en-US" dirty="0"/>
              <a:t>미만 빠르면 → </a:t>
            </a:r>
            <a:r>
              <a:rPr lang="en-US" altLang="ko-KR" dirty="0"/>
              <a:t>3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기준 속도보다 </a:t>
            </a:r>
            <a:r>
              <a:rPr lang="en-US" altLang="ko-KR" dirty="0"/>
              <a:t>20% </a:t>
            </a:r>
            <a:r>
              <a:rPr lang="ko-KR" altLang="en-US" dirty="0"/>
              <a:t>이상 </a:t>
            </a:r>
            <a:r>
              <a:rPr lang="en-US" altLang="ko-KR" dirty="0"/>
              <a:t>30% </a:t>
            </a:r>
            <a:r>
              <a:rPr lang="ko-KR" altLang="en-US" dirty="0"/>
              <a:t>미만 빠르면 → </a:t>
            </a:r>
            <a:r>
              <a:rPr lang="en-US" altLang="ko-KR" dirty="0"/>
              <a:t>5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기준 속도보다 </a:t>
            </a:r>
            <a:r>
              <a:rPr lang="en-US" altLang="ko-KR" dirty="0"/>
              <a:t>30% </a:t>
            </a:r>
            <a:r>
              <a:rPr lang="ko-KR" altLang="en-US" dirty="0"/>
              <a:t>이상 빠르면 → </a:t>
            </a:r>
            <a:r>
              <a:rPr lang="en-US" altLang="ko-KR" dirty="0"/>
              <a:t>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그 외</a:t>
            </a:r>
            <a:r>
              <a:rPr lang="en-US" altLang="ko-KR" dirty="0"/>
              <a:t>(10% </a:t>
            </a:r>
            <a:r>
              <a:rPr lang="ko-KR" altLang="en-US" dirty="0"/>
              <a:t>미만 또는 기준 이하</a:t>
            </a:r>
            <a:r>
              <a:rPr lang="en-US" altLang="ko-KR" dirty="0"/>
              <a:t>)</a:t>
            </a:r>
            <a:r>
              <a:rPr lang="ko-KR" altLang="en-US" dirty="0"/>
              <a:t>는 벌금 없음 </a:t>
            </a:r>
            <a:r>
              <a:rPr lang="en-US" altLang="ko-KR" dirty="0"/>
              <a:t>solution(limit, cars) </a:t>
            </a:r>
            <a:r>
              <a:rPr lang="ko-KR" altLang="en-US" dirty="0"/>
              <a:t>함수의 빈칸을 채워 프로그램을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limit : </a:t>
            </a:r>
            <a:r>
              <a:rPr lang="ko-KR" altLang="en-US" sz="1000" dirty="0"/>
              <a:t>기준 속도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cars : </a:t>
            </a:r>
            <a:r>
              <a:rPr lang="ko-KR" altLang="en-US" sz="1000" dirty="0"/>
              <a:t>차량 속도 리스트</a:t>
            </a:r>
            <a:r>
              <a:rPr lang="en-US" altLang="ko-KR" sz="1000" dirty="0"/>
              <a:t>(</a:t>
            </a:r>
            <a:r>
              <a:rPr lang="ko-KR" altLang="en-US" sz="1000" dirty="0"/>
              <a:t>정수 리스트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en-US" altLang="ko-KR" dirty="0"/>
              <a:t>: </a:t>
            </a:r>
            <a:r>
              <a:rPr lang="ko-KR" altLang="en-US" dirty="0"/>
              <a:t>전체 벌금 합</a:t>
            </a:r>
            <a:r>
              <a:rPr lang="en-US" altLang="ko-KR" dirty="0"/>
              <a:t>(</a:t>
            </a:r>
            <a:r>
              <a:rPr lang="ko-KR" altLang="en-US" dirty="0"/>
              <a:t>정수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F84B5E-B826-8E90-081C-85D3904E060A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32858-CFDD-F69A-0648-AF16D1409FFD}"/>
              </a:ext>
            </a:extLst>
          </p:cNvPr>
          <p:cNvSpPr txBox="1"/>
          <p:nvPr/>
        </p:nvSpPr>
        <p:spPr>
          <a:xfrm>
            <a:off x="847686" y="4625086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limit = 100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cars = [110, 98, 125, 148, 120, 112, 89]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A45F4-713D-16FA-4C77-627967A7466C}"/>
              </a:ext>
            </a:extLst>
          </p:cNvPr>
          <p:cNvSpPr txBox="1"/>
          <p:nvPr/>
        </p:nvSpPr>
        <p:spPr>
          <a:xfrm>
            <a:off x="847686" y="5514761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B52FA-CE70-2D3F-8A3C-24C6E5033D92}"/>
              </a:ext>
            </a:extLst>
          </p:cNvPr>
          <p:cNvSpPr txBox="1"/>
          <p:nvPr/>
        </p:nvSpPr>
        <p:spPr>
          <a:xfrm>
            <a:off x="1282446" y="6016903"/>
            <a:ext cx="4258818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(limit, cars)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cars: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&gt;= limit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&lt; limit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&gt;=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&lt;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&gt;=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limit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cars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148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solution(limit, cars)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546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FFA6-357E-E831-F9FA-1FFC5EE4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2881DCE-3F57-15D6-D45C-034825DB588E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2]</a:t>
            </a:r>
            <a:r>
              <a:rPr lang="ko-KR" altLang="en-US" dirty="0"/>
              <a:t> 한 학생이 </a:t>
            </a:r>
            <a:r>
              <a:rPr lang="en-US" altLang="ko-KR" dirty="0"/>
              <a:t>3</a:t>
            </a:r>
            <a:r>
              <a:rPr lang="ko-KR" altLang="en-US" dirty="0"/>
              <a:t>가지 종목 평가를 치렀습니다</a:t>
            </a:r>
            <a:r>
              <a:rPr lang="en-US" altLang="ko-KR" dirty="0"/>
              <a:t>. </a:t>
            </a:r>
            <a:r>
              <a:rPr lang="ko-KR" altLang="en-US" dirty="0"/>
              <a:t>각 종목의 점수 계산 규칙은 다음과 같습니다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점수 규칙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격파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25</a:t>
            </a:r>
            <a:r>
              <a:rPr lang="ko-KR" altLang="en-US" dirty="0"/>
              <a:t>회 이상 성공하면 </a:t>
            </a:r>
            <a:r>
              <a:rPr lang="en-US" altLang="ko-KR" dirty="0"/>
              <a:t>250</a:t>
            </a:r>
            <a:r>
              <a:rPr lang="ko-KR" altLang="en-US" dirty="0"/>
              <a:t>점 그렇지 않으면 성공 횟수 </a:t>
            </a:r>
            <a:r>
              <a:rPr lang="en-US" altLang="ko-KR" dirty="0"/>
              <a:t>× 8</a:t>
            </a:r>
            <a:r>
              <a:rPr lang="ko-KR" altLang="en-US" dirty="0"/>
              <a:t>점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달리기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기준 기록은 </a:t>
            </a:r>
            <a:r>
              <a:rPr lang="en-US" altLang="ko-KR" dirty="0"/>
              <a:t>60</a:t>
            </a:r>
            <a:r>
              <a:rPr lang="ko-KR" altLang="en-US" dirty="0"/>
              <a:t>초 점수는 </a:t>
            </a:r>
            <a:r>
              <a:rPr lang="en-US" altLang="ko-KR" dirty="0"/>
              <a:t>250 - (</a:t>
            </a:r>
            <a:r>
              <a:rPr lang="ko-KR" altLang="en-US" dirty="0"/>
              <a:t>기준 시간 </a:t>
            </a:r>
            <a:r>
              <a:rPr lang="en-US" altLang="ko-KR" dirty="0"/>
              <a:t>- </a:t>
            </a:r>
            <a:r>
              <a:rPr lang="ko-KR" altLang="en-US" dirty="0"/>
              <a:t>실제 기록</a:t>
            </a:r>
            <a:r>
              <a:rPr lang="en-US" altLang="ko-KR" dirty="0"/>
              <a:t>) × 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(</a:t>
            </a:r>
            <a:r>
              <a:rPr lang="ko-KR" altLang="en-US" dirty="0"/>
              <a:t>기준보다 느리면 감점 없음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사격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발을 쏘며</a:t>
            </a:r>
            <a:r>
              <a:rPr lang="en-US" altLang="ko-KR" dirty="0"/>
              <a:t>, </a:t>
            </a:r>
            <a:r>
              <a:rPr lang="ko-KR" altLang="en-US" dirty="0"/>
              <a:t>각 발의 점수는 </a:t>
            </a:r>
            <a:r>
              <a:rPr lang="en-US" altLang="ko-KR" dirty="0"/>
              <a:t>0~10</a:t>
            </a:r>
            <a:r>
              <a:rPr lang="ko-KR" altLang="en-US" dirty="0"/>
              <a:t>점</a:t>
            </a:r>
            <a:r>
              <a:rPr lang="en-US" altLang="ko-KR" dirty="0"/>
              <a:t>,</a:t>
            </a:r>
            <a:r>
              <a:rPr lang="ko-KR" altLang="en-US" dirty="0"/>
              <a:t> 맞힌 점수의 총합을 그대로 더함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단</a:t>
            </a:r>
            <a:r>
              <a:rPr lang="en-US" altLang="ko-KR" dirty="0"/>
              <a:t>, 10</a:t>
            </a:r>
            <a:r>
              <a:rPr lang="ko-KR" altLang="en-US" dirty="0"/>
              <a:t>점을 </a:t>
            </a:r>
            <a:r>
              <a:rPr lang="en-US" altLang="ko-KR" dirty="0"/>
              <a:t>7</a:t>
            </a:r>
            <a:r>
              <a:rPr lang="ko-KR" altLang="en-US" dirty="0"/>
              <a:t>번 이상 맞히면 추가로 </a:t>
            </a:r>
            <a:r>
              <a:rPr lang="en-US" altLang="ko-KR" dirty="0"/>
              <a:t>100</a:t>
            </a:r>
            <a:r>
              <a:rPr lang="ko-KR" altLang="en-US" dirty="0"/>
              <a:t>점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격파 성공 횟수</a:t>
            </a:r>
            <a:r>
              <a:rPr lang="en-US" altLang="ko-KR" dirty="0"/>
              <a:t>, </a:t>
            </a:r>
            <a:r>
              <a:rPr lang="ko-KR" altLang="en-US" dirty="0"/>
              <a:t>달리기 기록</a:t>
            </a:r>
            <a:r>
              <a:rPr lang="en-US" altLang="ko-KR" dirty="0"/>
              <a:t>, </a:t>
            </a:r>
            <a:r>
              <a:rPr lang="ko-KR" altLang="en-US" dirty="0"/>
              <a:t>사격 점수 리스트 이 주어질 때</a:t>
            </a:r>
            <a:r>
              <a:rPr lang="en-US" altLang="ko-KR" dirty="0"/>
              <a:t>,</a:t>
            </a:r>
            <a:r>
              <a:rPr lang="ko-KR" altLang="en-US" dirty="0"/>
              <a:t> 이 학생이 얻은 총 점수를 구하는 </a:t>
            </a:r>
            <a:r>
              <a:rPr lang="ko-KR" altLang="en-US"/>
              <a:t>함수의 빈칸을 </a:t>
            </a:r>
            <a:r>
              <a:rPr lang="ko-KR" altLang="en-US" dirty="0"/>
              <a:t>채워 프로그램을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taekwondo : </a:t>
            </a:r>
            <a:r>
              <a:rPr lang="ko-KR" altLang="en-US" sz="1000" dirty="0"/>
              <a:t>정수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running : </a:t>
            </a:r>
            <a:r>
              <a:rPr lang="ko-KR" altLang="en-US" sz="1000" dirty="0"/>
              <a:t>정수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shooting : </a:t>
            </a:r>
            <a:r>
              <a:rPr lang="ko-KR" altLang="en-US" sz="1000" dirty="0"/>
              <a:t>정수 리스트</a:t>
            </a:r>
            <a:r>
              <a:rPr lang="en-US" altLang="ko-KR" sz="1000" dirty="0"/>
              <a:t>(</a:t>
            </a:r>
            <a:r>
              <a:rPr lang="ko-KR" altLang="en-US" sz="1000" dirty="0"/>
              <a:t>길이 </a:t>
            </a:r>
            <a:r>
              <a:rPr lang="en-US" altLang="ko-KR" sz="1000" dirty="0"/>
              <a:t>10)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en-US" altLang="ko-KR" dirty="0"/>
              <a:t>: </a:t>
            </a:r>
            <a:r>
              <a:rPr lang="ko-KR" altLang="en-US" dirty="0"/>
              <a:t>총 점수</a:t>
            </a:r>
            <a:r>
              <a:rPr lang="en-US" altLang="ko-KR" dirty="0"/>
              <a:t>(</a:t>
            </a:r>
            <a:r>
              <a:rPr lang="ko-KR" altLang="en-US" dirty="0"/>
              <a:t>정수</a:t>
            </a:r>
            <a:r>
              <a:rPr lang="en-US" altLang="ko-KR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        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FEAECBF-E37E-B950-8AE9-84DE4D456880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C807F-5B77-6713-8385-C909B8075E67}"/>
              </a:ext>
            </a:extLst>
          </p:cNvPr>
          <p:cNvSpPr txBox="1"/>
          <p:nvPr/>
        </p:nvSpPr>
        <p:spPr>
          <a:xfrm>
            <a:off x="1597494" y="6059178"/>
            <a:ext cx="3122334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taekwondo = 27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running = 63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shooting = [9, 10, 8, 10, 10, 10, 7, 10, 10, 10]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28AF8-82BE-CF94-328E-08B45ED78B5E}"/>
              </a:ext>
            </a:extLst>
          </p:cNvPr>
          <p:cNvSpPr txBox="1"/>
          <p:nvPr/>
        </p:nvSpPr>
        <p:spPr>
          <a:xfrm>
            <a:off x="2292438" y="6952966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15BCE8-34A3-55EC-A6DD-54F95BA73CF0}"/>
              </a:ext>
            </a:extLst>
          </p:cNvPr>
          <p:cNvSpPr txBox="1"/>
          <p:nvPr/>
        </p:nvSpPr>
        <p:spPr>
          <a:xfrm>
            <a:off x="1597494" y="7466150"/>
            <a:ext cx="4258818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(taekwondo, running, shooting)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taekwondo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taekwondo * 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7834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2230-81A0-864E-1573-668DA9F4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EA72025-AD20-266B-A69F-61451F91821B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420490"/>
          </a:xfrm>
          <a:prstGeom prst="rect">
            <a:avLst/>
          </a:prstGeom>
        </p:spPr>
        <p:txBody>
          <a:bodyPr vert="horz" lIns="85403" tIns="42701" rIns="85403" bIns="42701" rtlCol="0">
            <a:no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3]</a:t>
            </a:r>
            <a:r>
              <a:rPr lang="ko-KR" altLang="en-US" dirty="0"/>
              <a:t> 두 개의 가게가 서로 다른 주기로 할인 행사를 엽니다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가게 </a:t>
            </a:r>
            <a:r>
              <a:rPr lang="en-US" altLang="ko-KR" dirty="0"/>
              <a:t>A</a:t>
            </a:r>
            <a:r>
              <a:rPr lang="ko-KR" altLang="en-US" dirty="0"/>
              <a:t>는 </a:t>
            </a:r>
            <a:r>
              <a:rPr lang="en-US" altLang="ko-KR" dirty="0"/>
              <a:t>a</a:t>
            </a:r>
            <a:r>
              <a:rPr lang="ko-KR" altLang="en-US" dirty="0"/>
              <a:t>일마다 할인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가게 </a:t>
            </a:r>
            <a:r>
              <a:rPr lang="en-US" altLang="ko-KR" dirty="0"/>
              <a:t>B</a:t>
            </a:r>
            <a:r>
              <a:rPr lang="ko-KR" altLang="en-US" dirty="0"/>
              <a:t>는 </a:t>
            </a:r>
            <a:r>
              <a:rPr lang="en-US" altLang="ko-KR" dirty="0"/>
              <a:t>b</a:t>
            </a:r>
            <a:r>
              <a:rPr lang="ko-KR" altLang="en-US" dirty="0"/>
              <a:t>일마다 할인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오늘을 </a:t>
            </a:r>
            <a:r>
              <a:rPr lang="en-US" altLang="ko-KR" dirty="0"/>
              <a:t>1</a:t>
            </a:r>
            <a:r>
              <a:rPr lang="ko-KR" altLang="en-US" dirty="0"/>
              <a:t>일차라고 할 때</a:t>
            </a:r>
            <a:r>
              <a:rPr lang="en-US" altLang="ko-KR" dirty="0"/>
              <a:t>,</a:t>
            </a:r>
            <a:r>
              <a:rPr lang="ko-KR" altLang="en-US" dirty="0"/>
              <a:t> 두 가게가 처음으로 동시에 할인하는 날이 며칠째인지 구하려고 합니다</a:t>
            </a:r>
            <a:r>
              <a:rPr lang="en-US" altLang="ko-KR" dirty="0"/>
              <a:t>. </a:t>
            </a:r>
            <a:r>
              <a:rPr lang="ko-KR" altLang="en-US" dirty="0"/>
              <a:t>가게 </a:t>
            </a:r>
            <a:r>
              <a:rPr lang="en-US" altLang="ko-KR" dirty="0"/>
              <a:t>A</a:t>
            </a:r>
            <a:r>
              <a:rPr lang="ko-KR" altLang="en-US" dirty="0"/>
              <a:t>의 주기 </a:t>
            </a:r>
            <a:r>
              <a:rPr lang="en-US" altLang="ko-KR" dirty="0"/>
              <a:t>a, </a:t>
            </a:r>
            <a:r>
              <a:rPr lang="ko-KR" altLang="en-US" dirty="0"/>
              <a:t>가게 </a:t>
            </a:r>
            <a:r>
              <a:rPr lang="en-US" altLang="ko-KR" dirty="0"/>
              <a:t>B</a:t>
            </a:r>
            <a:r>
              <a:rPr lang="ko-KR" altLang="en-US" dirty="0"/>
              <a:t>의 주기 </a:t>
            </a:r>
            <a:r>
              <a:rPr lang="en-US" altLang="ko-KR" dirty="0"/>
              <a:t>b</a:t>
            </a:r>
            <a:r>
              <a:rPr lang="ko-KR" altLang="en-US" dirty="0"/>
              <a:t>가 주어질 때 두 가게가 같은 날 처음으로 함께 할인하는 날짜를 반환하는 함수를 작성하려고 합니다</a:t>
            </a:r>
            <a:r>
              <a:rPr lang="en-US" altLang="ko-KR" dirty="0"/>
              <a:t>. </a:t>
            </a:r>
            <a:r>
              <a:rPr lang="ko-KR" altLang="en-US" dirty="0"/>
              <a:t>아래 코드는 거의 완성되었지만</a:t>
            </a:r>
            <a:r>
              <a:rPr lang="en-US" altLang="ko-KR" dirty="0"/>
              <a:t>, </a:t>
            </a:r>
            <a:r>
              <a:rPr lang="ko-KR" altLang="en-US" dirty="0"/>
              <a:t>한 줄에 계산 기준 오류가 있어 결과가 잘못 나옵니다</a:t>
            </a:r>
            <a:r>
              <a:rPr lang="en-US" altLang="ko-KR" dirty="0"/>
              <a:t>. </a:t>
            </a:r>
            <a:r>
              <a:rPr lang="ko-KR" altLang="en-US" dirty="0"/>
              <a:t>한 줄만 수정하여 모든 경우에서 올바른 요금이 계산되도록 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a : </a:t>
            </a:r>
            <a:r>
              <a:rPr lang="ko-KR" altLang="en-US" sz="1000" dirty="0"/>
              <a:t>가게 </a:t>
            </a:r>
            <a:r>
              <a:rPr lang="en-US" altLang="ko-KR" sz="1000" dirty="0"/>
              <a:t>A</a:t>
            </a:r>
            <a:r>
              <a:rPr lang="ko-KR" altLang="en-US" sz="1000" dirty="0"/>
              <a:t>의 할인 주기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b : </a:t>
            </a:r>
            <a:r>
              <a:rPr lang="ko-KR" altLang="en-US" sz="1000" dirty="0"/>
              <a:t>가게 </a:t>
            </a:r>
            <a:r>
              <a:rPr lang="en-US" altLang="ko-KR" sz="1000" dirty="0"/>
              <a:t>B</a:t>
            </a:r>
            <a:r>
              <a:rPr lang="ko-KR" altLang="en-US" sz="1000" dirty="0"/>
              <a:t>의 할인 주기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조건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1 ≤ a, b ≤ 30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000" dirty="0"/>
              <a:t>두 가게가 처음 동시에 할인하는 날짜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  </a:t>
            </a: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B191B01-7C63-AD5E-1A9D-4BA953F4FC1C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9810AF-9991-CE03-C8F6-01BC436AD2D4}"/>
              </a:ext>
            </a:extLst>
          </p:cNvPr>
          <p:cNvSpPr txBox="1"/>
          <p:nvPr/>
        </p:nvSpPr>
        <p:spPr>
          <a:xfrm>
            <a:off x="1274826" y="1284883"/>
            <a:ext cx="4258818" cy="270843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running)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shooting: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( 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taekwondo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27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running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shooting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solution(taekwondo, running, shooting)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625FC-C9FE-36B4-4909-DBFEAFB041C5}"/>
              </a:ext>
            </a:extLst>
          </p:cNvPr>
          <p:cNvSpPr txBox="1"/>
          <p:nvPr/>
        </p:nvSpPr>
        <p:spPr>
          <a:xfrm>
            <a:off x="1379359" y="7805088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 = 4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b =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5A31D-41FF-D1EB-06F1-5E2D2C67241E}"/>
              </a:ext>
            </a:extLst>
          </p:cNvPr>
          <p:cNvSpPr txBox="1"/>
          <p:nvPr/>
        </p:nvSpPr>
        <p:spPr>
          <a:xfrm>
            <a:off x="1963051" y="830831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28724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0905D-E9DB-1E54-54F9-9976C766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3E32120-1B42-F1BC-BEB2-974C89E0C4EC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8703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4]</a:t>
            </a:r>
            <a:r>
              <a:rPr lang="ko-KR" altLang="en-US" dirty="0"/>
              <a:t> 학교 매점에는 계산대가 </a:t>
            </a:r>
            <a:r>
              <a:rPr lang="en-US" altLang="ko-KR" dirty="0"/>
              <a:t>2</a:t>
            </a:r>
            <a:r>
              <a:rPr lang="ko-KR" altLang="en-US" dirty="0"/>
              <a:t>개 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빠른 계산대</a:t>
            </a:r>
            <a:r>
              <a:rPr lang="en-US" altLang="ko-KR" dirty="0"/>
              <a:t>(</a:t>
            </a:r>
            <a:r>
              <a:rPr lang="ko-KR" altLang="en-US" dirty="0"/>
              <a:t>소량 전용</a:t>
            </a:r>
            <a:r>
              <a:rPr lang="en-US" altLang="ko-KR" dirty="0"/>
              <a:t>) : </a:t>
            </a:r>
            <a:r>
              <a:rPr lang="ko-KR" altLang="en-US" dirty="0"/>
              <a:t>물건이 </a:t>
            </a:r>
            <a:r>
              <a:rPr lang="en-US" altLang="ko-KR" dirty="0"/>
              <a:t>3</a:t>
            </a:r>
            <a:r>
              <a:rPr lang="ko-KR" altLang="en-US" dirty="0"/>
              <a:t>개 이하인 학생만 이용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일반 계산대 </a:t>
            </a:r>
            <a:r>
              <a:rPr lang="en-US" altLang="ko-KR" dirty="0"/>
              <a:t>: </a:t>
            </a:r>
            <a:r>
              <a:rPr lang="ko-KR" altLang="en-US" dirty="0"/>
              <a:t>물건이 </a:t>
            </a:r>
            <a:r>
              <a:rPr lang="en-US" altLang="ko-KR" dirty="0"/>
              <a:t>4</a:t>
            </a:r>
            <a:r>
              <a:rPr lang="ko-KR" altLang="en-US" dirty="0"/>
              <a:t>개 이상인 학생이 이용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계산대는 동시에 계산을 진행합니다</a:t>
            </a:r>
            <a:r>
              <a:rPr lang="en-US" altLang="ko-KR" dirty="0"/>
              <a:t>. </a:t>
            </a:r>
            <a:r>
              <a:rPr lang="ko-KR" altLang="en-US" dirty="0"/>
              <a:t>학생 </a:t>
            </a:r>
            <a:r>
              <a:rPr lang="en-US" altLang="ko-KR" dirty="0"/>
              <a:t>1</a:t>
            </a:r>
            <a:r>
              <a:rPr lang="ko-KR" altLang="en-US" dirty="0"/>
              <a:t>명의 물건을 계산하는 데 걸리는 시간은 물건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</a:t>
            </a:r>
            <a:r>
              <a:rPr lang="ko-KR" altLang="en-US" dirty="0"/>
              <a:t>분입니다</a:t>
            </a:r>
            <a:r>
              <a:rPr lang="en-US" altLang="ko-KR" dirty="0"/>
              <a:t>.(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물건 </a:t>
            </a:r>
            <a:r>
              <a:rPr lang="en-US" altLang="ko-KR" dirty="0"/>
              <a:t>5</a:t>
            </a:r>
            <a:r>
              <a:rPr lang="ko-KR" altLang="en-US" dirty="0"/>
              <a:t>개면 </a:t>
            </a:r>
            <a:r>
              <a:rPr lang="en-US" altLang="ko-KR" dirty="0"/>
              <a:t>5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  <a:r>
              <a:rPr lang="ko-KR" altLang="en-US" dirty="0"/>
              <a:t>학생들이 사려는 물건 개수가 순서대로 담긴 리스트 </a:t>
            </a:r>
            <a:r>
              <a:rPr lang="en-US" altLang="ko-KR" dirty="0"/>
              <a:t>items</a:t>
            </a:r>
            <a:r>
              <a:rPr lang="ko-KR" altLang="en-US" dirty="0"/>
              <a:t>가 주어질 때</a:t>
            </a:r>
            <a:r>
              <a:rPr lang="en-US" altLang="ko-KR" dirty="0"/>
              <a:t>,</a:t>
            </a:r>
            <a:r>
              <a:rPr lang="ko-KR" altLang="en-US" dirty="0"/>
              <a:t> 모든 학생의 계산이 끝나는 데 걸리는 총 시간</a:t>
            </a:r>
            <a:r>
              <a:rPr lang="en-US" altLang="ko-KR" dirty="0"/>
              <a:t>(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  <a:r>
              <a:rPr lang="ko-KR" altLang="en-US" dirty="0"/>
              <a:t>을 반환하는 함수를 작성했습니다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코드 일부분이 잘못되어 있기 때문에</a:t>
            </a:r>
            <a:r>
              <a:rPr lang="en-US" altLang="ko-KR" dirty="0"/>
              <a:t>, </a:t>
            </a:r>
            <a:r>
              <a:rPr lang="ko-KR" altLang="en-US" dirty="0"/>
              <a:t>몇몇 입력에 대해서는 올바르게 동작하지 않습니다</a:t>
            </a:r>
            <a:r>
              <a:rPr lang="en-US" altLang="ko-KR" dirty="0"/>
              <a:t>. </a:t>
            </a:r>
            <a:r>
              <a:rPr lang="ko-KR" altLang="en-US" dirty="0"/>
              <a:t>주어진 코드에서 한 줄만 변경해서 모든 입력에 대해 올바르게 동작하도록 수정하세요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 </a:t>
            </a:r>
            <a:r>
              <a:rPr lang="en-US" altLang="ko-KR" dirty="0"/>
              <a:t>:  </a:t>
            </a:r>
            <a:r>
              <a:rPr lang="en-US" altLang="ko-KR" sz="1000" dirty="0"/>
              <a:t>stuffs (</a:t>
            </a:r>
            <a:r>
              <a:rPr lang="ko-KR" altLang="en-US" sz="1000" dirty="0"/>
              <a:t>정수 리스트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계산대는 동시에 일하므로  최종 시간 </a:t>
            </a:r>
            <a:r>
              <a:rPr lang="en-US" altLang="ko-KR" dirty="0"/>
              <a:t>= </a:t>
            </a:r>
            <a:r>
              <a:rPr lang="ko-KR" altLang="en-US" dirty="0"/>
              <a:t>두 계산대 시간 중 큰 값</a:t>
            </a: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       </a:t>
            </a: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99E3D6-B19B-C44A-8FE8-F68DD45F2E20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D3B3D-FE48-BA58-236E-8853FEFCAF97}"/>
              </a:ext>
            </a:extLst>
          </p:cNvPr>
          <p:cNvSpPr txBox="1"/>
          <p:nvPr/>
        </p:nvSpPr>
        <p:spPr>
          <a:xfrm>
            <a:off x="1633696" y="1264550"/>
            <a:ext cx="3989864" cy="20928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(a, b)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b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(a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% b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=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 칸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)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solution(a, b)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BC29FD-72F1-C042-162E-CECECF2B9511}"/>
              </a:ext>
            </a:extLst>
          </p:cNvPr>
          <p:cNvSpPr txBox="1"/>
          <p:nvPr/>
        </p:nvSpPr>
        <p:spPr>
          <a:xfrm>
            <a:off x="1795582" y="7101978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[5, 3, 4, 2, 3, 2]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36C5D-DE00-4531-EB1D-226FCCAAD685}"/>
              </a:ext>
            </a:extLst>
          </p:cNvPr>
          <p:cNvSpPr txBox="1"/>
          <p:nvPr/>
        </p:nvSpPr>
        <p:spPr>
          <a:xfrm>
            <a:off x="2314504" y="7607378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4315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6932-0B35-5636-B4C2-642B789D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BBAF74F1-AB93-12B1-E744-FC5BB22FC4EF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23501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5]</a:t>
            </a:r>
            <a:r>
              <a:rPr lang="ko-KR" altLang="en-US" dirty="0"/>
              <a:t> 한 도시에서는 월별 물 사용량에 따라 요금을 계산합니다</a:t>
            </a:r>
            <a:r>
              <a:rPr lang="en-US" altLang="ko-KR" dirty="0"/>
              <a:t>. </a:t>
            </a:r>
            <a:r>
              <a:rPr lang="ko-KR" altLang="en-US" dirty="0"/>
              <a:t>요금은 아래와 같이 구간별로 나누어 적용됩니다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요금 규칙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1</a:t>
            </a:r>
            <a:r>
              <a:rPr lang="ko-KR" altLang="en-US" dirty="0"/>
              <a:t>구간 </a:t>
            </a:r>
            <a:r>
              <a:rPr lang="en-US" altLang="ko-KR" dirty="0"/>
              <a:t>(0~20</a:t>
            </a:r>
            <a:r>
              <a:rPr lang="ko-KR" altLang="en-US" dirty="0"/>
              <a:t>단위</a:t>
            </a:r>
            <a:r>
              <a:rPr lang="en-US" altLang="ko-KR" dirty="0"/>
              <a:t>) : </a:t>
            </a:r>
            <a:r>
              <a:rPr lang="ko-KR" altLang="en-US" dirty="0"/>
              <a:t>단위당 </a:t>
            </a:r>
            <a:r>
              <a:rPr lang="en-US" altLang="ko-KR" dirty="0"/>
              <a:t>430</a:t>
            </a:r>
            <a:r>
              <a:rPr lang="ko-KR" altLang="en-US" dirty="0"/>
              <a:t>원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2</a:t>
            </a:r>
            <a:r>
              <a:rPr lang="ko-KR" altLang="en-US" dirty="0"/>
              <a:t>구간 </a:t>
            </a:r>
            <a:r>
              <a:rPr lang="en-US" altLang="ko-KR" dirty="0"/>
              <a:t>(21~30</a:t>
            </a:r>
            <a:r>
              <a:rPr lang="ko-KR" altLang="en-US" dirty="0"/>
              <a:t>단위</a:t>
            </a:r>
            <a:r>
              <a:rPr lang="en-US" altLang="ko-KR" dirty="0"/>
              <a:t>) : </a:t>
            </a:r>
            <a:r>
              <a:rPr lang="ko-KR" altLang="en-US" dirty="0"/>
              <a:t>단위당 </a:t>
            </a:r>
            <a:r>
              <a:rPr lang="en-US" altLang="ko-KR" dirty="0"/>
              <a:t>570</a:t>
            </a:r>
            <a:r>
              <a:rPr lang="ko-KR" altLang="en-US" dirty="0"/>
              <a:t>원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3</a:t>
            </a:r>
            <a:r>
              <a:rPr lang="ko-KR" altLang="en-US" dirty="0"/>
              <a:t>구간 </a:t>
            </a:r>
            <a:r>
              <a:rPr lang="en-US" altLang="ko-KR" dirty="0"/>
              <a:t>(31</a:t>
            </a:r>
            <a:r>
              <a:rPr lang="ko-KR" altLang="en-US" dirty="0"/>
              <a:t>단위 이상</a:t>
            </a:r>
            <a:r>
              <a:rPr lang="en-US" altLang="ko-KR" dirty="0"/>
              <a:t>) : </a:t>
            </a:r>
            <a:r>
              <a:rPr lang="ko-KR" altLang="en-US" dirty="0"/>
              <a:t>단위당 </a:t>
            </a:r>
            <a:r>
              <a:rPr lang="en-US" altLang="ko-KR" dirty="0"/>
              <a:t>840</a:t>
            </a:r>
            <a:r>
              <a:rPr lang="ko-KR" altLang="en-US" dirty="0"/>
              <a:t>원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물 사용량이 </a:t>
            </a:r>
            <a:r>
              <a:rPr lang="en-US" altLang="ko-KR" dirty="0"/>
              <a:t>usage</a:t>
            </a:r>
            <a:r>
              <a:rPr lang="ko-KR" altLang="en-US" dirty="0"/>
              <a:t>로 주어질 때</a:t>
            </a:r>
            <a:r>
              <a:rPr lang="en-US" altLang="ko-KR" dirty="0"/>
              <a:t>,</a:t>
            </a:r>
            <a:r>
              <a:rPr lang="ko-KR" altLang="en-US" dirty="0"/>
              <a:t> 총 요금을 계산하는 함수를 작성하려고 합니다</a:t>
            </a:r>
            <a:r>
              <a:rPr lang="en-US" altLang="ko-KR" dirty="0"/>
              <a:t>. </a:t>
            </a:r>
            <a:r>
              <a:rPr lang="ko-KR" altLang="en-US" dirty="0"/>
              <a:t>아래 코드는 거의 완성되었지만</a:t>
            </a:r>
            <a:r>
              <a:rPr lang="en-US" altLang="ko-KR" dirty="0"/>
              <a:t>, </a:t>
            </a:r>
            <a:r>
              <a:rPr lang="ko-KR" altLang="en-US" dirty="0"/>
              <a:t>한 줄에 계산 기준 오류가 있어 결과가 잘못 나옵니다</a:t>
            </a:r>
            <a:r>
              <a:rPr lang="en-US" altLang="ko-KR" dirty="0"/>
              <a:t>. </a:t>
            </a:r>
            <a:r>
              <a:rPr lang="ko-KR" altLang="en-US" dirty="0"/>
              <a:t>한 줄만 수정하여 모든 경우에서 올바른 요금이 계산되도록 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       </a:t>
            </a: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D24F24E-2F2E-9626-7F16-B6ED526E92C7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681987-424E-3503-5180-62B78748288C}"/>
              </a:ext>
            </a:extLst>
          </p:cNvPr>
          <p:cNvSpPr txBox="1"/>
          <p:nvPr/>
        </p:nvSpPr>
        <p:spPr>
          <a:xfrm>
            <a:off x="1399679" y="6490984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usage = 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D9F293-0B77-B941-8A3B-164B9C38F104}"/>
              </a:ext>
            </a:extLst>
          </p:cNvPr>
          <p:cNvSpPr txBox="1"/>
          <p:nvPr/>
        </p:nvSpPr>
        <p:spPr>
          <a:xfrm>
            <a:off x="1923510" y="7013604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18500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CFB0C-BE66-7FA8-7267-48F832FC39A0}"/>
              </a:ext>
            </a:extLst>
          </p:cNvPr>
          <p:cNvSpPr txBox="1"/>
          <p:nvPr/>
        </p:nvSpPr>
        <p:spPr>
          <a:xfrm>
            <a:off x="1306830" y="1220590"/>
            <a:ext cx="4240530" cy="270843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(stuffs)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small_counter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general_counter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stuffs: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general_counter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small_counter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small_counter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general_counter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small_counter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general_counter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stuffs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solution(stuffs)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1CEB1-CABD-9329-3D23-16BA17F3C8B8}"/>
              </a:ext>
            </a:extLst>
          </p:cNvPr>
          <p:cNvSpPr txBox="1"/>
          <p:nvPr/>
        </p:nvSpPr>
        <p:spPr>
          <a:xfrm>
            <a:off x="1306831" y="7522307"/>
            <a:ext cx="4240530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(usage)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usage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(usage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840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usage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(usage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570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0191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B9529-0445-9408-9602-870492AB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9D6CB64-62A1-9F76-BC2A-FFCE463CC1D2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6]</a:t>
            </a:r>
            <a:r>
              <a:rPr lang="ko-KR" altLang="en-US" dirty="0"/>
              <a:t> 한 반의 학생들이 시험을 치렀습니다</a:t>
            </a:r>
            <a:r>
              <a:rPr lang="en-US" altLang="ko-KR" dirty="0"/>
              <a:t>. </a:t>
            </a:r>
            <a:r>
              <a:rPr lang="ko-KR" altLang="en-US" dirty="0"/>
              <a:t>학생들의 점수 리스트가 주어질 때</a:t>
            </a:r>
            <a:r>
              <a:rPr lang="en-US" altLang="ko-KR" dirty="0"/>
              <a:t>, </a:t>
            </a:r>
            <a:r>
              <a:rPr lang="ko-KR" altLang="en-US" dirty="0"/>
              <a:t>각 학생의 등수를 계산하려고 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등수는 점수가 높을수록 더 높은 순위</a:t>
            </a:r>
            <a:r>
              <a:rPr lang="en-US" altLang="ko-KR" dirty="0"/>
              <a:t>(1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동점자는 같은 등수를 가집니다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등수는 전체 학생 중에서 자신의 점수보다 높은 점수의 개수 </a:t>
            </a:r>
            <a:r>
              <a:rPr lang="en-US" altLang="ko-KR" dirty="0"/>
              <a:t>+ 1</a:t>
            </a:r>
            <a:r>
              <a:rPr lang="ko-KR" altLang="en-US" dirty="0"/>
              <a:t>로 계산합니다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  <a:r>
              <a:rPr lang="en-US" altLang="ko-KR" dirty="0"/>
              <a:t>: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score: </a:t>
            </a:r>
            <a:r>
              <a:rPr lang="ko-KR" altLang="en-US" sz="1000" dirty="0"/>
              <a:t>모든 학생의 점수를 담은 정수 리스트 </a:t>
            </a:r>
            <a:r>
              <a:rPr lang="en-US" altLang="ko-KR" sz="1000" dirty="0"/>
              <a:t>(</a:t>
            </a:r>
            <a:r>
              <a:rPr lang="ko-KR" altLang="en-US" sz="1000" dirty="0"/>
              <a:t>학생 수는 </a:t>
            </a:r>
            <a:r>
              <a:rPr lang="en-US" altLang="ko-KR" sz="1000" dirty="0"/>
              <a:t>1</a:t>
            </a:r>
            <a:r>
              <a:rPr lang="ko-KR" altLang="en-US" sz="1000" dirty="0"/>
              <a:t>명 이상 </a:t>
            </a:r>
            <a:r>
              <a:rPr lang="en-US" altLang="ko-KR" sz="1000" dirty="0"/>
              <a:t>1,000</a:t>
            </a:r>
            <a:r>
              <a:rPr lang="ko-KR" altLang="en-US" sz="1000" dirty="0"/>
              <a:t>명 이하이며</a:t>
            </a:r>
            <a:r>
              <a:rPr lang="en-US" altLang="ko-KR" sz="1000" dirty="0"/>
              <a:t>, </a:t>
            </a:r>
            <a:r>
              <a:rPr lang="ko-KR" altLang="en-US" sz="1000" dirty="0"/>
              <a:t>점수는 </a:t>
            </a:r>
            <a:r>
              <a:rPr lang="en-US" altLang="ko-KR" sz="1000" dirty="0"/>
              <a:t>1 </a:t>
            </a:r>
            <a:r>
              <a:rPr lang="ko-KR" altLang="en-US" sz="1000" dirty="0"/>
              <a:t>이상 </a:t>
            </a:r>
            <a:r>
              <a:rPr lang="en-US" altLang="ko-KR" sz="1000" dirty="0"/>
              <a:t>100 </a:t>
            </a:r>
            <a:r>
              <a:rPr lang="ko-KR" altLang="en-US" sz="1000" dirty="0"/>
              <a:t>이하의 정수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각 학생의 순위를 담은 리스트</a:t>
            </a:r>
            <a:endParaRPr lang="en-US" altLang="ko-KR" dirty="0"/>
          </a:p>
          <a:p>
            <a:pPr marL="285750" lvl="1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       </a:t>
            </a:r>
            <a:endParaRPr lang="en-US" altLang="ko-KR" sz="100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2]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       </a:t>
            </a:r>
            <a:endParaRPr lang="en-US" altLang="ko-KR" sz="100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2]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102609-CE35-1789-868C-12186D910868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AC984F-CC22-344B-0F48-31FBDB0DBAA3}"/>
              </a:ext>
            </a:extLst>
          </p:cNvPr>
          <p:cNvSpPr txBox="1"/>
          <p:nvPr/>
        </p:nvSpPr>
        <p:spPr>
          <a:xfrm>
            <a:off x="1790204" y="5348366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[90, 87, 87, 23, 35, 28, 12, 46]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ECD0-3CF0-83DB-52F4-6E17A4354BF6}"/>
              </a:ext>
            </a:extLst>
          </p:cNvPr>
          <p:cNvSpPr txBox="1"/>
          <p:nvPr/>
        </p:nvSpPr>
        <p:spPr>
          <a:xfrm>
            <a:off x="2329275" y="5799463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2, 2, 7, 5, 6, 8, 4]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36B9FC-29DA-060B-8910-6F7851852E54}"/>
              </a:ext>
            </a:extLst>
          </p:cNvPr>
          <p:cNvSpPr txBox="1"/>
          <p:nvPr/>
        </p:nvSpPr>
        <p:spPr>
          <a:xfrm>
            <a:off x="1790204" y="6290082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[10, 20, 20, 30]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1841A1-7A57-EE35-9DDB-C233201E0CF5}"/>
              </a:ext>
            </a:extLst>
          </p:cNvPr>
          <p:cNvSpPr txBox="1"/>
          <p:nvPr/>
        </p:nvSpPr>
        <p:spPr>
          <a:xfrm>
            <a:off x="2329275" y="674879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[4, 2, 2, 1]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300C37-F133-24C8-5B5E-7CC3023FDB50}"/>
              </a:ext>
            </a:extLst>
          </p:cNvPr>
          <p:cNvSpPr txBox="1"/>
          <p:nvPr/>
        </p:nvSpPr>
        <p:spPr>
          <a:xfrm>
            <a:off x="1558766" y="1270926"/>
            <a:ext cx="4240530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usage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430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usage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solution(usage)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FB88D-A6C2-4BBE-7645-318581D3FB11}"/>
              </a:ext>
            </a:extLst>
          </p:cNvPr>
          <p:cNvSpPr txBox="1"/>
          <p:nvPr/>
        </p:nvSpPr>
        <p:spPr>
          <a:xfrm>
            <a:off x="1558766" y="7317834"/>
            <a:ext cx="4240530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</a:p>
          <a:p>
            <a:endParaRPr lang="en-US" altLang="ko-KR" sz="1000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solution(score1)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72110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9F2EE-DD8E-37E8-06A6-F1C2F957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9EDFB7C-189B-04C5-BA40-BD0B43D2F6CC}"/>
              </a:ext>
            </a:extLst>
          </p:cNvPr>
          <p:cNvSpPr txBox="1">
            <a:spLocks/>
          </p:cNvSpPr>
          <p:nvPr/>
        </p:nvSpPr>
        <p:spPr>
          <a:xfrm>
            <a:off x="654709" y="1220589"/>
            <a:ext cx="4994251" cy="7595605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7]</a:t>
            </a:r>
            <a:r>
              <a:rPr lang="ko-KR" altLang="en-US" dirty="0"/>
              <a:t> 학교에서 </a:t>
            </a:r>
            <a:r>
              <a:rPr lang="en-US" altLang="ko-KR" dirty="0"/>
              <a:t>10</a:t>
            </a:r>
            <a:r>
              <a:rPr lang="ko-KR" altLang="en-US" dirty="0"/>
              <a:t>명이 발급 순서대로 번호표를 받으려고 합니다</a:t>
            </a:r>
            <a:r>
              <a:rPr lang="en-US" altLang="ko-KR" dirty="0"/>
              <a:t>. </a:t>
            </a:r>
            <a:r>
              <a:rPr lang="ko-KR" altLang="en-US" dirty="0"/>
              <a:t>창구 직원의 상태는 날짜별로 아래와 같습니다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"O" : </a:t>
            </a:r>
            <a:r>
              <a:rPr lang="ko-KR" altLang="en-US" dirty="0"/>
              <a:t>그 날은 번호표 </a:t>
            </a:r>
            <a:r>
              <a:rPr lang="en-US" altLang="ko-KR" dirty="0"/>
              <a:t>1</a:t>
            </a:r>
            <a:r>
              <a:rPr lang="ko-KR" altLang="en-US" dirty="0"/>
              <a:t>장을 발급할 수 있음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"X" : </a:t>
            </a:r>
            <a:r>
              <a:rPr lang="ko-KR" altLang="en-US" dirty="0"/>
              <a:t>그 날은 발급 불가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번호표는 </a:t>
            </a:r>
            <a:r>
              <a:rPr lang="en-US" altLang="ko-KR" dirty="0"/>
              <a:t>1</a:t>
            </a:r>
            <a:r>
              <a:rPr lang="ko-KR" altLang="en-US" dirty="0"/>
              <a:t>번 학생부터 순서대로 발급됩니다</a:t>
            </a:r>
            <a:r>
              <a:rPr lang="en-US" altLang="ko-KR" dirty="0"/>
              <a:t>. </a:t>
            </a:r>
            <a:r>
              <a:rPr lang="ko-KR" altLang="en-US" dirty="0"/>
              <a:t>끝까지 발급받지 못한 학생들의 번호를 오름차순 리스트로 반환하세요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  <a:r>
              <a:rPr lang="en-US" altLang="ko-KR" dirty="0"/>
              <a:t>: schedule (</a:t>
            </a:r>
            <a:r>
              <a:rPr lang="ko-KR" altLang="en-US" dirty="0"/>
              <a:t>길이 </a:t>
            </a:r>
            <a:r>
              <a:rPr lang="en-US" altLang="ko-KR" dirty="0"/>
              <a:t>10</a:t>
            </a:r>
            <a:r>
              <a:rPr lang="ko-KR" altLang="en-US" dirty="0"/>
              <a:t>의 리스트</a:t>
            </a:r>
            <a:r>
              <a:rPr lang="en-US" altLang="ko-KR" dirty="0"/>
              <a:t>, </a:t>
            </a:r>
            <a:r>
              <a:rPr lang="ko-KR" altLang="en-US" dirty="0"/>
              <a:t>원소는 </a:t>
            </a:r>
            <a:r>
              <a:rPr lang="en-US" altLang="ko-KR" dirty="0"/>
              <a:t>"O" </a:t>
            </a:r>
            <a:r>
              <a:rPr lang="ko-KR" altLang="en-US" dirty="0"/>
              <a:t>또는 </a:t>
            </a:r>
            <a:r>
              <a:rPr lang="en-US" altLang="ko-KR" dirty="0"/>
              <a:t>"X")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번호표를 받지 못한 학생 번호 리스트 </a:t>
            </a:r>
            <a:r>
              <a:rPr lang="en-US" altLang="ko-KR" dirty="0"/>
              <a:t>(</a:t>
            </a:r>
            <a:r>
              <a:rPr lang="ko-KR" altLang="en-US" dirty="0"/>
              <a:t>오름차순</a:t>
            </a:r>
            <a:r>
              <a:rPr lang="en-US" altLang="ko-KR" dirty="0"/>
              <a:t>)</a:t>
            </a:r>
          </a:p>
          <a:p>
            <a:pPr marL="285750" lvl="1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       </a:t>
            </a:r>
            <a:endParaRPr lang="en-US" altLang="ko-KR" sz="100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       </a:t>
            </a: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D9B79A5-CE60-8577-7A18-04F3D800CA7A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2120F-8128-C00E-7206-94F8B8E10252}"/>
              </a:ext>
            </a:extLst>
          </p:cNvPr>
          <p:cNvSpPr txBox="1"/>
          <p:nvPr/>
        </p:nvSpPr>
        <p:spPr>
          <a:xfrm>
            <a:off x="1306831" y="1228187"/>
            <a:ext cx="4240530" cy="55399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score2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solution(score2)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ko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5C3D5-AD35-1F0C-27EB-55BAC2371ADA}"/>
              </a:ext>
            </a:extLst>
          </p:cNvPr>
          <p:cNvSpPr txBox="1"/>
          <p:nvPr/>
        </p:nvSpPr>
        <p:spPr>
          <a:xfrm>
            <a:off x="1558766" y="4861962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pt-BR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["O", "X", "X", "O", "O", "O", "X", "O", "X", "X"]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96E81-1E64-E30D-7DA0-97FCAC22014F}"/>
              </a:ext>
            </a:extLst>
          </p:cNvPr>
          <p:cNvSpPr txBox="1"/>
          <p:nvPr/>
        </p:nvSpPr>
        <p:spPr>
          <a:xfrm>
            <a:off x="2184736" y="534075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[2, 3, 7, 9, 10]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DC85A-B633-E17A-12C4-8AD6381BFE3A}"/>
              </a:ext>
            </a:extLst>
          </p:cNvPr>
          <p:cNvSpPr txBox="1"/>
          <p:nvPr/>
        </p:nvSpPr>
        <p:spPr>
          <a:xfrm>
            <a:off x="1558766" y="5884103"/>
            <a:ext cx="4240530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(schedule)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enumerate(schedule):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en-US" altLang="ko-KR" sz="1000" b="0" dirty="0">
              <a:effectLst/>
            </a:endParaRPr>
          </a:p>
          <a:p>
            <a:pPr>
              <a:buNone/>
            </a:pP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schedule=[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solution(schedule)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1327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3A4DB-E0C9-5529-5F12-DDD605D2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C221AED-56FD-D4FF-9A89-6CB7BF720C33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8]</a:t>
            </a:r>
            <a:r>
              <a:rPr lang="ko-KR" altLang="en-US" dirty="0"/>
              <a:t> 체력 인증 시험에는 </a:t>
            </a:r>
            <a:r>
              <a:rPr lang="ko-KR" altLang="en-US" dirty="0" err="1"/>
              <a:t>윗몸일으키기</a:t>
            </a:r>
            <a:r>
              <a:rPr lang="en-US" altLang="ko-KR" dirty="0"/>
              <a:t>, </a:t>
            </a:r>
            <a:r>
              <a:rPr lang="ko-KR" altLang="en-US" dirty="0" err="1"/>
              <a:t>팔굽혀펴기</a:t>
            </a:r>
            <a:r>
              <a:rPr lang="en-US" altLang="ko-KR" dirty="0"/>
              <a:t>, </a:t>
            </a:r>
            <a:r>
              <a:rPr lang="ko-KR" altLang="en-US" dirty="0"/>
              <a:t>달리기 총 </a:t>
            </a:r>
            <a:r>
              <a:rPr lang="en-US" altLang="ko-KR" dirty="0"/>
              <a:t>3</a:t>
            </a:r>
            <a:r>
              <a:rPr lang="ko-KR" altLang="en-US" dirty="0"/>
              <a:t>개의 종목이 있습니다</a:t>
            </a:r>
            <a:r>
              <a:rPr lang="en-US" altLang="ko-KR" dirty="0"/>
              <a:t>. </a:t>
            </a:r>
            <a:r>
              <a:rPr lang="ko-KR" altLang="en-US" dirty="0"/>
              <a:t>한 사람의 점수는 </a:t>
            </a:r>
            <a:r>
              <a:rPr lang="en-US" altLang="ko-KR" dirty="0"/>
              <a:t>[</a:t>
            </a:r>
            <a:r>
              <a:rPr lang="ko-KR" altLang="en-US" dirty="0"/>
              <a:t>윗몸</a:t>
            </a:r>
            <a:r>
              <a:rPr lang="en-US" altLang="ko-KR" dirty="0"/>
              <a:t>, </a:t>
            </a:r>
            <a:r>
              <a:rPr lang="ko-KR" altLang="en-US" dirty="0" err="1"/>
              <a:t>팔굽</a:t>
            </a:r>
            <a:r>
              <a:rPr lang="en-US" altLang="ko-KR" dirty="0"/>
              <a:t>, </a:t>
            </a:r>
            <a:r>
              <a:rPr lang="ko-KR" altLang="en-US" dirty="0"/>
              <a:t>달리기</a:t>
            </a:r>
            <a:r>
              <a:rPr lang="en-US" altLang="ko-KR" dirty="0"/>
              <a:t>] </a:t>
            </a:r>
            <a:r>
              <a:rPr lang="ko-KR" altLang="en-US" dirty="0"/>
              <a:t>형태로 저장됩니다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합격 기준은 다음과 같습니다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윗몸일으키기</a:t>
            </a:r>
            <a:r>
              <a:rPr lang="en-US" altLang="ko-KR" dirty="0"/>
              <a:t>: 80</a:t>
            </a:r>
            <a:r>
              <a:rPr lang="ko-KR" altLang="en-US" dirty="0"/>
              <a:t>점 이상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팔굽혀펴기</a:t>
            </a:r>
            <a:r>
              <a:rPr lang="en-US" altLang="ko-KR" dirty="0"/>
              <a:t>: 88</a:t>
            </a:r>
            <a:r>
              <a:rPr lang="ko-KR" altLang="en-US" dirty="0"/>
              <a:t>점 이상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달리기</a:t>
            </a:r>
            <a:r>
              <a:rPr lang="en-US" altLang="ko-KR" dirty="0"/>
              <a:t>: 70</a:t>
            </a:r>
            <a:r>
              <a:rPr lang="ko-KR" altLang="en-US" dirty="0"/>
              <a:t>점 이상 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규칙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모든 종목을 통과해야 합격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하나라도 기준 미만이면 불합격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여러 명의 점수가 리스트로 주어질 때</a:t>
            </a:r>
            <a:r>
              <a:rPr lang="en-US" altLang="ko-KR" dirty="0"/>
              <a:t>,</a:t>
            </a:r>
            <a:r>
              <a:rPr lang="ko-KR" altLang="en-US" dirty="0"/>
              <a:t>최종 합격 인원 수를 구하는 프로그램을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  <a:r>
              <a:rPr lang="en-US" altLang="ko-KR" dirty="0"/>
              <a:t>: scores (2</a:t>
            </a:r>
            <a:r>
              <a:rPr lang="ko-KR" altLang="en-US" dirty="0"/>
              <a:t>차원 리스트</a:t>
            </a:r>
            <a:r>
              <a:rPr lang="en-US" altLang="ko-KR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en-US" altLang="ko-KR" dirty="0"/>
              <a:t>: </a:t>
            </a:r>
            <a:r>
              <a:rPr lang="ko-KR" altLang="en-US" dirty="0"/>
              <a:t>합격한 사람 수 </a:t>
            </a:r>
            <a:r>
              <a:rPr lang="en-US" altLang="ko-KR" dirty="0"/>
              <a:t>(</a:t>
            </a:r>
            <a:r>
              <a:rPr lang="ko-KR" altLang="en-US" dirty="0"/>
              <a:t>정수</a:t>
            </a:r>
            <a:r>
              <a:rPr lang="en-US" altLang="ko-KR" dirty="0"/>
              <a:t>)</a:t>
            </a:r>
          </a:p>
          <a:p>
            <a:pPr marL="285750" lvl="1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2]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2]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351518-C05F-C1DA-BE5D-57A474FB7E1D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07B74-C494-1848-849B-A6C1F25CAE8A}"/>
              </a:ext>
            </a:extLst>
          </p:cNvPr>
          <p:cNvSpPr txBox="1"/>
          <p:nvPr/>
        </p:nvSpPr>
        <p:spPr>
          <a:xfrm>
            <a:off x="1766686" y="5067149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scores1 = [[30, 40, 100], [97, 88, 95]]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F8E83-F676-E3B0-4A24-A7C61E66ED42}"/>
              </a:ext>
            </a:extLst>
          </p:cNvPr>
          <p:cNvSpPr txBox="1"/>
          <p:nvPr/>
        </p:nvSpPr>
        <p:spPr>
          <a:xfrm>
            <a:off x="2571654" y="5563171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80D80-D194-E603-93B3-84E5E2D4F5F8}"/>
              </a:ext>
            </a:extLst>
          </p:cNvPr>
          <p:cNvSpPr txBox="1"/>
          <p:nvPr/>
        </p:nvSpPr>
        <p:spPr>
          <a:xfrm>
            <a:off x="1774452" y="6023959"/>
            <a:ext cx="429360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scores2 = [[90, 88, 70], [85, 90, 90], [100, 100, 70], [30, 90, 80], [40, 10, 20], [83, 88, 80]]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DC526-A482-3FFC-87F8-F50CB3A2E93C}"/>
              </a:ext>
            </a:extLst>
          </p:cNvPr>
          <p:cNvSpPr txBox="1"/>
          <p:nvPr/>
        </p:nvSpPr>
        <p:spPr>
          <a:xfrm>
            <a:off x="2571654" y="6770701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A60EB1-85F9-FB68-E984-57DE302F835F}"/>
              </a:ext>
            </a:extLst>
          </p:cNvPr>
          <p:cNvSpPr txBox="1"/>
          <p:nvPr/>
        </p:nvSpPr>
        <p:spPr>
          <a:xfrm>
            <a:off x="1725931" y="7270808"/>
            <a:ext cx="4240530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check_pass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(passed, failed)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passed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failed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count_failed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36156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72AEA-94B7-1C75-74A7-6E54A9CB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36B9F4B0-4720-23BA-721A-2079AEF410B8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83451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9]</a:t>
            </a:r>
            <a:r>
              <a:rPr lang="ko-KR" altLang="en-US" dirty="0"/>
              <a:t> 두 명의 학생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카드 게임을 합니다</a:t>
            </a:r>
            <a:r>
              <a:rPr lang="en-US" altLang="ko-KR" dirty="0"/>
              <a:t>. </a:t>
            </a:r>
            <a:r>
              <a:rPr lang="ko-KR" altLang="en-US" dirty="0"/>
              <a:t>카드는 알파벳 </a:t>
            </a:r>
            <a:r>
              <a:rPr lang="en-US" altLang="ko-KR" dirty="0"/>
              <a:t>a ~ e</a:t>
            </a:r>
            <a:r>
              <a:rPr lang="ko-KR" altLang="en-US" dirty="0"/>
              <a:t>로 이루어져 있으며</a:t>
            </a:r>
            <a:r>
              <a:rPr lang="en-US" altLang="ko-KR" dirty="0"/>
              <a:t>, </a:t>
            </a:r>
            <a:r>
              <a:rPr lang="ko-KR" altLang="en-US" dirty="0"/>
              <a:t>각 카드의 점수는 다음과 같습니다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 → 1</a:t>
            </a:r>
            <a:r>
              <a:rPr lang="ko-KR" altLang="en-US" dirty="0"/>
              <a:t>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b → 2</a:t>
            </a:r>
            <a:r>
              <a:rPr lang="ko-KR" altLang="en-US" dirty="0"/>
              <a:t>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 → 3</a:t>
            </a:r>
            <a:r>
              <a:rPr lang="ko-KR" altLang="en-US" dirty="0"/>
              <a:t>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d → 4</a:t>
            </a:r>
            <a:r>
              <a:rPr lang="ko-KR" altLang="en-US" dirty="0"/>
              <a:t>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 → 5</a:t>
            </a:r>
            <a:r>
              <a:rPr lang="ko-KR" altLang="en-US" dirty="0"/>
              <a:t>점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두 학생은 번갈아 가며 카드 묶음에서 카드 한 장씩 가져갑니다</a:t>
            </a:r>
            <a:r>
              <a:rPr lang="en-US" altLang="ko-KR" dirty="0"/>
              <a:t>. A</a:t>
            </a:r>
            <a:r>
              <a:rPr lang="ko-KR" altLang="en-US" dirty="0"/>
              <a:t>가 먼저 시작하며</a:t>
            </a:r>
            <a:r>
              <a:rPr lang="en-US" altLang="ko-KR" dirty="0"/>
              <a:t>, </a:t>
            </a:r>
            <a:r>
              <a:rPr lang="ko-KR" altLang="en-US" dirty="0"/>
              <a:t>이후 </a:t>
            </a:r>
            <a:r>
              <a:rPr lang="en-US" altLang="ko-KR" dirty="0"/>
              <a:t>B → A → B </a:t>
            </a:r>
            <a:r>
              <a:rPr lang="ko-KR" altLang="en-US" dirty="0"/>
              <a:t>순서로 진행됩니다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각자 얻은 카드의 총점을 계산한 뒤</a:t>
            </a:r>
            <a:r>
              <a:rPr lang="en-US" altLang="ko-KR" dirty="0"/>
              <a:t>,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</a:t>
            </a:r>
            <a:r>
              <a:rPr lang="ko-KR" altLang="en-US" dirty="0"/>
              <a:t>가 이기면 </a:t>
            </a:r>
            <a:r>
              <a:rPr lang="en-US" altLang="ko-KR" dirty="0"/>
              <a:t>[1, A</a:t>
            </a:r>
            <a:r>
              <a:rPr lang="ko-KR" altLang="en-US" dirty="0"/>
              <a:t>의 점수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</a:t>
            </a:r>
            <a:r>
              <a:rPr lang="ko-KR" altLang="en-US" dirty="0"/>
              <a:t>가 이기면 </a:t>
            </a:r>
            <a:r>
              <a:rPr lang="en-US" altLang="ko-KR" dirty="0"/>
              <a:t>[2, B</a:t>
            </a:r>
            <a:r>
              <a:rPr lang="ko-KR" altLang="en-US" dirty="0"/>
              <a:t>의 점수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점수가 같으면 </a:t>
            </a:r>
            <a:r>
              <a:rPr lang="en-US" altLang="ko-KR" dirty="0"/>
              <a:t>[0, </a:t>
            </a:r>
            <a:r>
              <a:rPr lang="ko-KR" altLang="en-US" dirty="0"/>
              <a:t>점수</a:t>
            </a:r>
            <a:r>
              <a:rPr lang="en-US" altLang="ko-KR" dirty="0"/>
              <a:t>]</a:t>
            </a:r>
            <a:r>
              <a:rPr lang="ko-KR" altLang="en-US" dirty="0"/>
              <a:t>형태 로 반환하세요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0B3427B-5A6F-5924-E69A-309EA8A9BCBF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A8F00-EB4D-287A-47FE-3274653321EC}"/>
              </a:ext>
            </a:extLst>
          </p:cNvPr>
          <p:cNvSpPr txBox="1"/>
          <p:nvPr/>
        </p:nvSpPr>
        <p:spPr>
          <a:xfrm>
            <a:off x="1241266" y="1270926"/>
            <a:ext cx="4240530" cy="501675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count_passed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passed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count_passed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failed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count_failed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check_pass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,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scores1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print(solution(scores1))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scores2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print(solution(scores2))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9465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C78D-7EB2-28C3-5079-736C04312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C9DE846-FB6F-F97F-1291-CA0F272A3AC1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71943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n : </a:t>
            </a:r>
            <a:r>
              <a:rPr lang="ko-KR" altLang="en-US" sz="1000" dirty="0"/>
              <a:t>각 사람이 가져갈 카드 개수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bundle : </a:t>
            </a:r>
            <a:r>
              <a:rPr lang="ko-KR" altLang="en-US" sz="1000" dirty="0"/>
              <a:t>카드 문자열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en-US" altLang="ko-KR" dirty="0"/>
              <a:t>: [</a:t>
            </a:r>
            <a:r>
              <a:rPr lang="ko-KR" altLang="en-US" dirty="0"/>
              <a:t>승자번호</a:t>
            </a:r>
            <a:r>
              <a:rPr lang="en-US" altLang="ko-KR" dirty="0"/>
              <a:t>, </a:t>
            </a:r>
            <a:r>
              <a:rPr lang="ko-KR" altLang="en-US" dirty="0"/>
              <a:t>점수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/>
              <a:t>               </a:t>
            </a:r>
            <a:endParaRPr lang="en-US" altLang="ko-KR" sz="5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D7B21FA-95C2-0C74-C877-097B2C5820AF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494A46-E5CE-632A-B003-1D3F8D33E33D}"/>
              </a:ext>
            </a:extLst>
          </p:cNvPr>
          <p:cNvSpPr txBox="1"/>
          <p:nvPr/>
        </p:nvSpPr>
        <p:spPr>
          <a:xfrm>
            <a:off x="1718618" y="2636218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n = 4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bundle = "</a:t>
            </a:r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cacdbedccbb</a:t>
            </a:r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DE357-6B08-B2B9-AC65-EB1672488230}"/>
              </a:ext>
            </a:extLst>
          </p:cNvPr>
          <p:cNvSpPr txBox="1"/>
          <p:nvPr/>
        </p:nvSpPr>
        <p:spPr>
          <a:xfrm>
            <a:off x="2280442" y="3227143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[0, 13]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E27E2-6F60-3824-C448-0B11A1745C98}"/>
              </a:ext>
            </a:extLst>
          </p:cNvPr>
          <p:cNvSpPr txBox="1"/>
          <p:nvPr/>
        </p:nvSpPr>
        <p:spPr>
          <a:xfrm>
            <a:off x="1617727" y="3744780"/>
            <a:ext cx="4240530" cy="486287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(bundle, start)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bundle[start::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(score1, score2)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score1 &gt; score2: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score1]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score2 &gt; score1: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score2]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score1]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(bundle)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score_per_cards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card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bundle: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score_per_cards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[card]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(n, bundle)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a_cards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),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)[:n]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b_cards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),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)[:n]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a_score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b_score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), (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bundle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cacdbedccbb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solution(n, bundle)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54665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8D4F2-022A-1733-6A25-A356D51F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9CEB5186-D255-43C3-8032-F29EB96B7CDF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23501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10]</a:t>
            </a:r>
            <a:r>
              <a:rPr lang="ko-KR" altLang="en-US" dirty="0"/>
              <a:t>  학교에서 여러 교실을 대상으로 소그룹 실습 수업을 동시에 진행하려고 합니다</a:t>
            </a:r>
            <a:r>
              <a:rPr lang="en-US" altLang="ko-KR" dirty="0"/>
              <a:t>. </a:t>
            </a:r>
            <a:r>
              <a:rPr lang="ko-KR" altLang="en-US" dirty="0"/>
              <a:t>한 조는 최대 </a:t>
            </a:r>
            <a:r>
              <a:rPr lang="en-US" altLang="ko-KR" dirty="0"/>
              <a:t>m</a:t>
            </a:r>
            <a:r>
              <a:rPr lang="ko-KR" altLang="en-US" dirty="0"/>
              <a:t>명까지 담당할 수 있습니다</a:t>
            </a:r>
            <a:r>
              <a:rPr lang="en-US" altLang="ko-KR" dirty="0"/>
              <a:t>. </a:t>
            </a:r>
            <a:r>
              <a:rPr lang="ko-KR" altLang="en-US" dirty="0"/>
              <a:t>각 교실의 학생 수가 담긴 리스트 </a:t>
            </a:r>
            <a:r>
              <a:rPr lang="en-US" altLang="ko-KR" dirty="0"/>
              <a:t>classes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모든 교실에서 수업을 진행하기 위해 필요한 전체 조의 수를 구하세요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어떤 교실에 학생이 </a:t>
            </a:r>
            <a:r>
              <a:rPr lang="en-US" altLang="ko-KR" dirty="0"/>
              <a:t>students</a:t>
            </a:r>
            <a:r>
              <a:rPr lang="ko-KR" altLang="en-US" dirty="0"/>
              <a:t>명이라면 필요한 조의 수는 </a:t>
            </a:r>
            <a:r>
              <a:rPr lang="en-US" altLang="ko-KR" dirty="0"/>
              <a:t>students</a:t>
            </a:r>
            <a:r>
              <a:rPr lang="ko-KR" altLang="en-US" dirty="0"/>
              <a:t>를 </a:t>
            </a:r>
            <a:r>
              <a:rPr lang="en-US" altLang="ko-KR" dirty="0"/>
              <a:t>m</a:t>
            </a:r>
            <a:r>
              <a:rPr lang="ko-KR" altLang="en-US" dirty="0"/>
              <a:t>으로 나눈 올림 값입니다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모든 교실의 조 수를 더한 값을 반환합니다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classes : </a:t>
            </a:r>
            <a:r>
              <a:rPr lang="ko-KR" altLang="en-US" sz="1000" dirty="0"/>
              <a:t>교실별 학생 수가 담긴 정수 리스트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m : </a:t>
            </a:r>
            <a:r>
              <a:rPr lang="ko-KR" altLang="en-US" sz="1000" dirty="0"/>
              <a:t>조 </a:t>
            </a:r>
            <a:r>
              <a:rPr lang="en-US" altLang="ko-KR" sz="1000" dirty="0"/>
              <a:t>1</a:t>
            </a:r>
            <a:r>
              <a:rPr lang="ko-KR" altLang="en-US" sz="1000" dirty="0"/>
              <a:t>개가 담당 가능한 최대 학생 수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en-US" altLang="ko-KR" dirty="0"/>
              <a:t>: </a:t>
            </a:r>
            <a:r>
              <a:rPr lang="ko-KR" altLang="en-US" dirty="0"/>
              <a:t>필요한 전체 조의 수</a:t>
            </a:r>
            <a:r>
              <a:rPr lang="en-US" altLang="ko-KR" dirty="0"/>
              <a:t>(</a:t>
            </a:r>
            <a:r>
              <a:rPr lang="ko-KR" altLang="en-US" dirty="0"/>
              <a:t>정수</a:t>
            </a:r>
            <a:r>
              <a:rPr lang="en-US" altLang="ko-KR" dirty="0"/>
              <a:t>)</a:t>
            </a:r>
          </a:p>
          <a:p>
            <a:pPr marL="285750" lvl="1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11] </a:t>
            </a:r>
            <a:r>
              <a:rPr lang="ko-KR" altLang="en-US" dirty="0"/>
              <a:t>동아리에서 여러 개의 음원 파일 편집 작업을 진행했습니다</a:t>
            </a:r>
            <a:r>
              <a:rPr lang="en-US" altLang="ko-KR" dirty="0"/>
              <a:t>. </a:t>
            </a:r>
            <a:r>
              <a:rPr lang="ko-KR" altLang="en-US" dirty="0"/>
              <a:t>각 파일마다 편집 전 길이와 편집 후 길이가 기록되어 있습니다</a:t>
            </a:r>
            <a:r>
              <a:rPr lang="en-US" altLang="ko-KR" dirty="0"/>
              <a:t>. </a:t>
            </a:r>
            <a:r>
              <a:rPr lang="ko-KR" altLang="en-US" dirty="0"/>
              <a:t>이 데이터를 이용해 다음 두 가지를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5C023A5-B978-870B-B8F0-05CD809FC06C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DECC4-03F9-72F5-64C5-C086E62A03AA}"/>
              </a:ext>
            </a:extLst>
          </p:cNvPr>
          <p:cNvSpPr txBox="1"/>
          <p:nvPr/>
        </p:nvSpPr>
        <p:spPr>
          <a:xfrm>
            <a:off x="1412887" y="4320238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classes = [80, 45, 33, 20]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m =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8C8B2-C0DE-2313-F96D-F48521AC45AE}"/>
              </a:ext>
            </a:extLst>
          </p:cNvPr>
          <p:cNvSpPr txBox="1"/>
          <p:nvPr/>
        </p:nvSpPr>
        <p:spPr>
          <a:xfrm>
            <a:off x="2007315" y="5043901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487F4-46FF-E383-8C78-04FC89CFC891}"/>
              </a:ext>
            </a:extLst>
          </p:cNvPr>
          <p:cNvSpPr txBox="1"/>
          <p:nvPr/>
        </p:nvSpPr>
        <p:spPr>
          <a:xfrm>
            <a:off x="1257014" y="5550318"/>
            <a:ext cx="4240530" cy="20928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(classes, m)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students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classes: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students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m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students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m !=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classes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solution(classes, m)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5601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6DC6-3DF1-2BF1-40E4-4B59838D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9F458FD-1825-0196-DA55-655BFD45C2FF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가장 많이 길어졌던 파일의 </a:t>
            </a:r>
            <a:r>
              <a:rPr lang="ko-KR" altLang="en-US" dirty="0" err="1"/>
              <a:t>증가량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가장 많이 짧아졌던 파일의 감소량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 err="1"/>
              <a:t>증가량과</a:t>
            </a:r>
            <a:r>
              <a:rPr lang="ko-KR" altLang="en-US" dirty="0"/>
              <a:t> 감소량은 모두 편집 후 길이 </a:t>
            </a:r>
            <a:r>
              <a:rPr lang="en-US" altLang="ko-KR" dirty="0"/>
              <a:t>- </a:t>
            </a:r>
            <a:r>
              <a:rPr lang="ko-KR" altLang="en-US" dirty="0"/>
              <a:t>편집 전 길이 로 계산합니다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아래 코드는 이 값을 구하기 위한 프로그램이지만</a:t>
            </a:r>
            <a:r>
              <a:rPr lang="en-US" altLang="ko-KR" dirty="0"/>
              <a:t>, </a:t>
            </a:r>
            <a:r>
              <a:rPr lang="ko-KR" altLang="en-US" dirty="0"/>
              <a:t>한 줄에 오류가 있어 일부 입력에서 올바른 결과가 나오지 않습니다</a:t>
            </a:r>
            <a:r>
              <a:rPr lang="en-US" altLang="ko-KR" dirty="0"/>
              <a:t>.</a:t>
            </a:r>
            <a:r>
              <a:rPr lang="ko-KR" altLang="en-US" dirty="0"/>
              <a:t> 딱 한 줄만 수정하여 프로그램을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/>
              <a:t>before_times</a:t>
            </a:r>
            <a:r>
              <a:rPr lang="en-US" altLang="ko-KR" sz="1000" dirty="0"/>
              <a:t>: </a:t>
            </a:r>
            <a:r>
              <a:rPr lang="ko-KR" altLang="en-US" sz="1000" dirty="0"/>
              <a:t>편집 전 길이 리스트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/>
              <a:t>after_times</a:t>
            </a:r>
            <a:r>
              <a:rPr lang="en-US" altLang="ko-KR" sz="1000" dirty="0"/>
              <a:t>: </a:t>
            </a:r>
            <a:r>
              <a:rPr lang="ko-KR" altLang="en-US" sz="1000" dirty="0"/>
              <a:t>편집 후 길이 리스트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en-US" altLang="ko-KR" dirty="0"/>
              <a:t>: [</a:t>
            </a:r>
            <a:r>
              <a:rPr lang="ko-KR" altLang="en-US" dirty="0"/>
              <a:t>증가 최대값</a:t>
            </a:r>
            <a:r>
              <a:rPr lang="en-US" altLang="ko-KR" dirty="0"/>
              <a:t>, </a:t>
            </a:r>
            <a:r>
              <a:rPr lang="ko-KR" altLang="en-US" dirty="0"/>
              <a:t>감소 최소값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9FBBEF5-B28D-9A10-9520-2E548C81041C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143B58-8E02-2A1F-7B57-49B8C27B79D8}"/>
              </a:ext>
            </a:extLst>
          </p:cNvPr>
          <p:cNvSpPr txBox="1"/>
          <p:nvPr/>
        </p:nvSpPr>
        <p:spPr>
          <a:xfrm>
            <a:off x="1882347" y="3812895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before_times</a:t>
            </a:r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= [20, 50, 40]</a:t>
            </a:r>
          </a:p>
          <a:p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after_times</a:t>
            </a:r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= [10, 50, 70]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9FDCD-7FEA-32C7-A508-BF3AC99FB028}"/>
              </a:ext>
            </a:extLst>
          </p:cNvPr>
          <p:cNvSpPr txBox="1"/>
          <p:nvPr/>
        </p:nvSpPr>
        <p:spPr>
          <a:xfrm>
            <a:off x="2438675" y="4546965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[30, -10]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0A2E6-64BE-ECB5-06F3-A316C52ED680}"/>
              </a:ext>
            </a:extLst>
          </p:cNvPr>
          <p:cNvSpPr txBox="1"/>
          <p:nvPr/>
        </p:nvSpPr>
        <p:spPr>
          <a:xfrm>
            <a:off x="1718311" y="4964488"/>
            <a:ext cx="4240530" cy="36317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func_up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b, a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zip(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 - b &gt; answer: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= a -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func_down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b, a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zip(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min(answer, b - a) 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up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func_up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down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func_down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[up, down]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before_times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after_times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64957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9394-DC2C-9BEA-3F88-11644F23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D94A3E0B-3EC7-24D9-63FC-2152528F0487}"/>
              </a:ext>
            </a:extLst>
          </p:cNvPr>
          <p:cNvSpPr txBox="1">
            <a:spLocks/>
          </p:cNvSpPr>
          <p:nvPr/>
        </p:nvSpPr>
        <p:spPr>
          <a:xfrm>
            <a:off x="654709" y="1220589"/>
            <a:ext cx="4994251" cy="759560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12] </a:t>
            </a:r>
            <a:r>
              <a:rPr lang="ko-KR" altLang="en-US" dirty="0"/>
              <a:t>학교 동아리에서 대표 스티커 뽑기를 진행했습니다</a:t>
            </a:r>
            <a:r>
              <a:rPr lang="en-US" altLang="ko-KR" dirty="0"/>
              <a:t>. </a:t>
            </a:r>
            <a:r>
              <a:rPr lang="ko-KR" altLang="en-US" dirty="0"/>
              <a:t>학생들은 </a:t>
            </a:r>
            <a:r>
              <a:rPr lang="en-US" altLang="ko-KR" dirty="0"/>
              <a:t>1</a:t>
            </a:r>
            <a:r>
              <a:rPr lang="ko-KR" altLang="en-US" dirty="0"/>
              <a:t>번부터 </a:t>
            </a:r>
            <a:r>
              <a:rPr lang="en-US" altLang="ko-KR" dirty="0"/>
              <a:t>n</a:t>
            </a:r>
            <a:r>
              <a:rPr lang="ko-KR" altLang="en-US" dirty="0"/>
              <a:t>번까지 후보 중 한 명에게 스티커를 줍니다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스티커 결과가 담긴 리스트 </a:t>
            </a:r>
            <a:r>
              <a:rPr lang="en-US" altLang="ko-KR" dirty="0"/>
              <a:t>votes</a:t>
            </a:r>
            <a:r>
              <a:rPr lang="ko-KR" altLang="en-US" dirty="0"/>
              <a:t>가 주어질 때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어떤 후보가 전체 스티커의 절반을 초과해서 받으면 그 후보가 대표가 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그런 후보가 없다면 </a:t>
            </a:r>
            <a:r>
              <a:rPr lang="en-US" altLang="ko-KR" dirty="0"/>
              <a:t>-1</a:t>
            </a:r>
            <a:r>
              <a:rPr lang="ko-KR" altLang="en-US" dirty="0"/>
              <a:t>을 반환합니다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아래 코드는 대표 후보를 찾기 위해 작성되었지만</a:t>
            </a:r>
            <a:r>
              <a:rPr lang="en-US" altLang="ko-KR" dirty="0"/>
              <a:t>, </a:t>
            </a:r>
            <a:r>
              <a:rPr lang="ko-KR" altLang="en-US" dirty="0"/>
              <a:t>한 줄에 오류가 있어 일부 입력에서 정답이 틀립니다</a:t>
            </a:r>
            <a:r>
              <a:rPr lang="en-US" altLang="ko-KR" dirty="0"/>
              <a:t>. </a:t>
            </a:r>
            <a:r>
              <a:rPr lang="ko-KR" altLang="en-US" dirty="0"/>
              <a:t>딱 한 줄만 수정해서 올바르게 동작하도록 고치세요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n : </a:t>
            </a:r>
            <a:r>
              <a:rPr lang="ko-KR" altLang="en-US" sz="1000" dirty="0"/>
              <a:t>후보 수 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votes : </a:t>
            </a:r>
            <a:r>
              <a:rPr lang="ko-KR" altLang="en-US" sz="1000" dirty="0"/>
              <a:t>투표</a:t>
            </a:r>
            <a:r>
              <a:rPr lang="en-US" altLang="ko-KR" sz="1000" dirty="0"/>
              <a:t>(</a:t>
            </a:r>
            <a:r>
              <a:rPr lang="ko-KR" altLang="en-US" sz="1000" dirty="0"/>
              <a:t>스티커</a:t>
            </a:r>
            <a:r>
              <a:rPr lang="en-US" altLang="ko-KR" sz="1000" dirty="0"/>
              <a:t>) </a:t>
            </a:r>
            <a:r>
              <a:rPr lang="ko-KR" altLang="en-US" sz="1000" dirty="0"/>
              <a:t>결과 리스트 </a:t>
            </a:r>
            <a:r>
              <a:rPr lang="en-US" altLang="ko-KR" sz="1000" dirty="0"/>
              <a:t>(</a:t>
            </a:r>
            <a:r>
              <a:rPr lang="ko-KR" altLang="en-US" sz="1000" dirty="0"/>
              <a:t>정수 리스트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과반</a:t>
            </a:r>
            <a:r>
              <a:rPr lang="en-US" altLang="ko-KR" dirty="0"/>
              <a:t>(</a:t>
            </a:r>
            <a:r>
              <a:rPr lang="ko-KR" altLang="en-US" dirty="0"/>
              <a:t>절반 초과</a:t>
            </a:r>
            <a:r>
              <a:rPr lang="en-US" altLang="ko-KR" dirty="0"/>
              <a:t>) </a:t>
            </a:r>
            <a:r>
              <a:rPr lang="ko-KR" altLang="en-US" dirty="0"/>
              <a:t>후보 번호 또는 </a:t>
            </a:r>
            <a:r>
              <a:rPr lang="en-US" altLang="ko-KR" dirty="0"/>
              <a:t>-1</a:t>
            </a:r>
          </a:p>
          <a:p>
            <a:pPr marL="285750" lvl="1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1]</a:t>
            </a:r>
          </a:p>
          <a:p>
            <a:pPr marL="285750" lvl="1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2]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2]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F40625B-9B47-E24B-8EAC-8D842139CDD5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31274-ABF0-F23F-24D7-6F8A2963F6B2}"/>
              </a:ext>
            </a:extLst>
          </p:cNvPr>
          <p:cNvSpPr txBox="1"/>
          <p:nvPr/>
        </p:nvSpPr>
        <p:spPr>
          <a:xfrm>
            <a:off x="1517450" y="4486554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pt-BR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n = 3</a:t>
            </a:r>
          </a:p>
          <a:p>
            <a:r>
              <a:rPr kumimoji="1" lang="pt-BR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votes = [1, 2, 1, 3, 1, 2, 1]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D3040-03BB-D172-0469-13D873BC723C}"/>
              </a:ext>
            </a:extLst>
          </p:cNvPr>
          <p:cNvSpPr txBox="1"/>
          <p:nvPr/>
        </p:nvSpPr>
        <p:spPr>
          <a:xfrm>
            <a:off x="2142966" y="4986381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1C92C-A046-E25F-89EC-7C0EF4C2ACD2}"/>
              </a:ext>
            </a:extLst>
          </p:cNvPr>
          <p:cNvSpPr txBox="1"/>
          <p:nvPr/>
        </p:nvSpPr>
        <p:spPr>
          <a:xfrm>
            <a:off x="1517450" y="5403674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pt-BR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n = 2</a:t>
            </a:r>
          </a:p>
          <a:p>
            <a:r>
              <a:rPr kumimoji="1" lang="pt-BR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votes = [2, 1, 2, 1, 2, 2, 1]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662699-BCE2-C399-9903-E8486C8FA53D}"/>
              </a:ext>
            </a:extLst>
          </p:cNvPr>
          <p:cNvSpPr txBox="1"/>
          <p:nvPr/>
        </p:nvSpPr>
        <p:spPr>
          <a:xfrm>
            <a:off x="2142966" y="5912386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2B4647-725B-6E58-7D1B-C99D273DF070}"/>
              </a:ext>
            </a:extLst>
          </p:cNvPr>
          <p:cNvSpPr txBox="1"/>
          <p:nvPr/>
        </p:nvSpPr>
        <p:spPr>
          <a:xfrm>
            <a:off x="1257014" y="6420522"/>
            <a:ext cx="4240530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(n, votes)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votes_len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(votes)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candidate = votes[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votes_len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candidate == votes[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-=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4844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5BDA-1378-5FF0-12CF-E74017BE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1C34C27F-457B-B79B-106B-AC5402D524C4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13] </a:t>
            </a:r>
            <a:r>
              <a:rPr lang="ko-KR" altLang="en-US" dirty="0"/>
              <a:t>캠프장에서 </a:t>
            </a:r>
            <a:r>
              <a:rPr lang="en-US" altLang="ko-KR" dirty="0"/>
              <a:t>4×4 </a:t>
            </a:r>
            <a:r>
              <a:rPr lang="ko-KR" altLang="en-US" dirty="0"/>
              <a:t>텐트 자리를 배치하려고 합니다</a:t>
            </a:r>
            <a:r>
              <a:rPr lang="en-US" altLang="ko-KR" dirty="0"/>
              <a:t>. </a:t>
            </a:r>
            <a:r>
              <a:rPr lang="ko-KR" altLang="en-US" dirty="0"/>
              <a:t>각 칸에는 “지면 </a:t>
            </a:r>
            <a:r>
              <a:rPr lang="ko-KR" altLang="en-US" dirty="0" err="1"/>
              <a:t>높이”가</a:t>
            </a:r>
            <a:r>
              <a:rPr lang="ko-KR" altLang="en-US" dirty="0"/>
              <a:t> 기록되어 있으며</a:t>
            </a:r>
            <a:r>
              <a:rPr lang="en-US" altLang="ko-KR" dirty="0"/>
              <a:t>, </a:t>
            </a:r>
            <a:r>
              <a:rPr lang="ko-KR" altLang="en-US" dirty="0"/>
              <a:t>어떤 칸이 주변</a:t>
            </a:r>
            <a:r>
              <a:rPr lang="en-US" altLang="ko-KR" dirty="0"/>
              <a:t>(</a:t>
            </a:r>
            <a:r>
              <a:rPr lang="ko-KR" altLang="en-US" dirty="0"/>
              <a:t>상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, </a:t>
            </a:r>
            <a:r>
              <a:rPr lang="ko-KR" altLang="en-US" dirty="0"/>
              <a:t>좌</a:t>
            </a:r>
            <a:r>
              <a:rPr lang="en-US" altLang="ko-KR" dirty="0"/>
              <a:t>, </a:t>
            </a:r>
            <a:r>
              <a:rPr lang="ko-KR" altLang="en-US" dirty="0"/>
              <a:t>우</a:t>
            </a:r>
            <a:r>
              <a:rPr lang="en-US" altLang="ko-KR" dirty="0"/>
              <a:t>) </a:t>
            </a:r>
            <a:r>
              <a:rPr lang="ko-KR" altLang="en-US" dirty="0"/>
              <a:t>칸들보다 높으면 그 칸은 바람이 잘 통하는 전망 좋은 자리가 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가장자리 칸은 인접한 칸이 부족하므로 전망 좋은 자리로 인정하지 않습니다</a:t>
            </a:r>
            <a:r>
              <a:rPr lang="en-US" altLang="ko-KR" dirty="0"/>
              <a:t>.(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가운데 </a:t>
            </a:r>
            <a:r>
              <a:rPr lang="en-US" altLang="ko-KR" dirty="0"/>
              <a:t>2×2 </a:t>
            </a:r>
            <a:r>
              <a:rPr lang="ko-KR" altLang="en-US" dirty="0"/>
              <a:t>영역만 검사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4×4 </a:t>
            </a:r>
            <a:r>
              <a:rPr lang="ko-KR" altLang="en-US" dirty="0"/>
              <a:t>높이 정보가 담긴 </a:t>
            </a:r>
            <a:r>
              <a:rPr lang="en-US" altLang="ko-KR" dirty="0"/>
              <a:t>2</a:t>
            </a:r>
            <a:r>
              <a:rPr lang="ko-KR" altLang="en-US" dirty="0"/>
              <a:t>차원 리스트 </a:t>
            </a:r>
            <a:r>
              <a:rPr lang="en-US" altLang="ko-KR" dirty="0"/>
              <a:t>height</a:t>
            </a:r>
            <a:r>
              <a:rPr lang="ko-KR" altLang="en-US" dirty="0"/>
              <a:t>가 주어질 때</a:t>
            </a:r>
            <a:r>
              <a:rPr lang="en-US" altLang="ko-KR" dirty="0"/>
              <a:t>,</a:t>
            </a:r>
            <a:r>
              <a:rPr lang="ko-KR" altLang="en-US" dirty="0"/>
              <a:t>전망 좋은 자리의 개수를 반환하는 </a:t>
            </a:r>
            <a:r>
              <a:rPr lang="en-US" altLang="ko-KR" dirty="0"/>
              <a:t>solution(height)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  <a:r>
              <a:rPr lang="en-US" altLang="ko-KR" dirty="0"/>
              <a:t>: height (4×4 </a:t>
            </a:r>
            <a:r>
              <a:rPr lang="ko-KR" altLang="en-US" dirty="0"/>
              <a:t>정수 </a:t>
            </a:r>
            <a:r>
              <a:rPr lang="en-US" altLang="ko-KR" dirty="0"/>
              <a:t>2</a:t>
            </a:r>
            <a:r>
              <a:rPr lang="ko-KR" altLang="en-US" dirty="0"/>
              <a:t>차원 리스트</a:t>
            </a:r>
            <a:r>
              <a:rPr lang="en-US" altLang="ko-KR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규칙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(</a:t>
            </a:r>
            <a:r>
              <a:rPr lang="en-US" altLang="ko-KR" sz="1000" dirty="0" err="1"/>
              <a:t>i</a:t>
            </a:r>
            <a:r>
              <a:rPr lang="en-US" altLang="ko-KR" sz="1000" dirty="0"/>
              <a:t>, j)</a:t>
            </a:r>
            <a:r>
              <a:rPr lang="ko-KR" altLang="en-US" sz="1000" dirty="0"/>
              <a:t>가 상</a:t>
            </a:r>
            <a:r>
              <a:rPr lang="en-US" altLang="ko-KR" sz="1000" dirty="0"/>
              <a:t>/</a:t>
            </a:r>
            <a:r>
              <a:rPr lang="ko-KR" altLang="en-US" sz="1000" dirty="0"/>
              <a:t>하</a:t>
            </a:r>
            <a:r>
              <a:rPr lang="en-US" altLang="ko-KR" sz="1000" dirty="0"/>
              <a:t>/</a:t>
            </a:r>
            <a:r>
              <a:rPr lang="ko-KR" altLang="en-US" sz="1000" dirty="0"/>
              <a:t>좌</a:t>
            </a:r>
            <a:r>
              <a:rPr lang="en-US" altLang="ko-KR" sz="1000" dirty="0"/>
              <a:t>/</a:t>
            </a:r>
            <a:r>
              <a:rPr lang="ko-KR" altLang="en-US" sz="1000" dirty="0"/>
              <a:t>우 네 칸보다 모두 높으면 카운트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가장자리</a:t>
            </a:r>
            <a:r>
              <a:rPr lang="en-US" altLang="ko-KR" sz="1000" dirty="0"/>
              <a:t>(0</a:t>
            </a:r>
            <a:r>
              <a:rPr lang="ko-KR" altLang="en-US" sz="1000" dirty="0"/>
              <a:t>행</a:t>
            </a:r>
            <a:r>
              <a:rPr lang="en-US" altLang="ko-KR" sz="1000" dirty="0"/>
              <a:t>, 3</a:t>
            </a:r>
            <a:r>
              <a:rPr lang="ko-KR" altLang="en-US" sz="1000" dirty="0"/>
              <a:t>행</a:t>
            </a:r>
            <a:r>
              <a:rPr lang="en-US" altLang="ko-KR" sz="1000" dirty="0"/>
              <a:t>, 0</a:t>
            </a:r>
            <a:r>
              <a:rPr lang="ko-KR" altLang="en-US" sz="1000" dirty="0"/>
              <a:t>열</a:t>
            </a:r>
            <a:r>
              <a:rPr lang="en-US" altLang="ko-KR" sz="1000" dirty="0"/>
              <a:t>, 3</a:t>
            </a:r>
            <a:r>
              <a:rPr lang="ko-KR" altLang="en-US" sz="1000" dirty="0"/>
              <a:t>열</a:t>
            </a:r>
            <a:r>
              <a:rPr lang="en-US" altLang="ko-KR" sz="1000" dirty="0"/>
              <a:t>)</a:t>
            </a:r>
            <a:r>
              <a:rPr lang="ko-KR" altLang="en-US" sz="1000" dirty="0"/>
              <a:t>는 제외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C82F77B-B3DB-B047-4E04-CE064C9107BA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2187A-8BBA-60B1-FA91-0510BC5FD26D}"/>
              </a:ext>
            </a:extLst>
          </p:cNvPr>
          <p:cNvSpPr txBox="1"/>
          <p:nvPr/>
        </p:nvSpPr>
        <p:spPr>
          <a:xfrm>
            <a:off x="1700023" y="1195970"/>
            <a:ext cx="4240530" cy="36317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candidate = votes[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test_count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votes_len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votes[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candidate: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test_count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  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test_count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votes_len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candidate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votes1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solution(n1, votes1)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n2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votes2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solution(n2, votes2)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8605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863E4-2F9B-8B9C-0ED1-22B43CEA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DD627EE-1FDC-5105-E515-911B36D4E5B2}"/>
              </a:ext>
            </a:extLst>
          </p:cNvPr>
          <p:cNvSpPr txBox="1">
            <a:spLocks/>
          </p:cNvSpPr>
          <p:nvPr/>
        </p:nvSpPr>
        <p:spPr>
          <a:xfrm>
            <a:off x="654709" y="1220589"/>
            <a:ext cx="4994251" cy="759560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14] </a:t>
            </a:r>
            <a:r>
              <a:rPr lang="ko-KR" altLang="en-US" dirty="0"/>
              <a:t>동아리에서 미니 퀴즈 대회를 열었습니다</a:t>
            </a:r>
            <a:r>
              <a:rPr lang="en-US" altLang="ko-KR" dirty="0"/>
              <a:t>. </a:t>
            </a:r>
            <a:r>
              <a:rPr lang="ko-KR" altLang="en-US" dirty="0"/>
              <a:t>참가자들의 점수는 </a:t>
            </a:r>
            <a:r>
              <a:rPr lang="en-US" altLang="ko-KR" dirty="0"/>
              <a:t>scores </a:t>
            </a:r>
            <a:r>
              <a:rPr lang="ko-KR" altLang="en-US" dirty="0"/>
              <a:t>리스트에 저장되어 있고</a:t>
            </a:r>
            <a:r>
              <a:rPr lang="en-US" altLang="ko-KR" dirty="0"/>
              <a:t>, </a:t>
            </a:r>
            <a:r>
              <a:rPr lang="ko-KR" altLang="en-US" dirty="0"/>
              <a:t>참가자 번호는 </a:t>
            </a:r>
            <a:r>
              <a:rPr lang="en-US" altLang="ko-KR" dirty="0"/>
              <a:t>0</a:t>
            </a:r>
            <a:r>
              <a:rPr lang="ko-KR" altLang="en-US" dirty="0"/>
              <a:t>번부터 시작합니다</a:t>
            </a:r>
            <a:r>
              <a:rPr lang="en-US" altLang="ko-KR" dirty="0"/>
              <a:t>. </a:t>
            </a:r>
            <a:r>
              <a:rPr lang="ko-KR" altLang="en-US" dirty="0"/>
              <a:t>당신은 </a:t>
            </a:r>
            <a:r>
              <a:rPr lang="en-US" altLang="ko-KR" dirty="0"/>
              <a:t>n</a:t>
            </a:r>
            <a:r>
              <a:rPr lang="ko-KR" altLang="en-US" dirty="0"/>
              <a:t>번 참가자가 몇 등인지 알고 싶습니다</a:t>
            </a:r>
            <a:r>
              <a:rPr lang="en-US" altLang="ko-KR" dirty="0"/>
              <a:t>. </a:t>
            </a:r>
            <a:r>
              <a:rPr lang="ko-KR" altLang="en-US" dirty="0"/>
              <a:t>등수는 점수를 높은 점수부터 정렬했을 때의 위치로 계산합니다</a:t>
            </a:r>
            <a:r>
              <a:rPr lang="en-US" altLang="ko-KR" dirty="0"/>
              <a:t>.(</a:t>
            </a:r>
            <a:r>
              <a:rPr lang="ko-KR" altLang="en-US" dirty="0"/>
              <a:t>점수는 모두 다르다고 가정합니다</a:t>
            </a:r>
            <a:r>
              <a:rPr lang="en-US" altLang="ko-KR" dirty="0"/>
              <a:t>.)scores</a:t>
            </a:r>
            <a:r>
              <a:rPr lang="ko-KR" altLang="en-US" dirty="0"/>
              <a:t>와 참가자 번호 </a:t>
            </a:r>
            <a:r>
              <a:rPr lang="en-US" altLang="ko-KR" dirty="0"/>
              <a:t>n</a:t>
            </a:r>
            <a:r>
              <a:rPr lang="ko-KR" altLang="en-US" dirty="0"/>
              <a:t>이 주어질 때</a:t>
            </a:r>
            <a:r>
              <a:rPr lang="en-US" altLang="ko-KR" dirty="0"/>
              <a:t>, n</a:t>
            </a:r>
            <a:r>
              <a:rPr lang="ko-KR" altLang="en-US" dirty="0"/>
              <a:t>번 참가자의 등수를 반환하는 </a:t>
            </a:r>
            <a:r>
              <a:rPr lang="en-US" altLang="ko-KR" dirty="0"/>
              <a:t>solution(scores, n) </a:t>
            </a:r>
            <a:r>
              <a:rPr lang="ko-KR" altLang="en-US" dirty="0"/>
              <a:t>함수를 완성하세요</a:t>
            </a:r>
            <a:r>
              <a:rPr lang="en-US" altLang="ko-KR" dirty="0"/>
              <a:t>. </a:t>
            </a:r>
            <a:r>
              <a:rPr lang="ko-KR" altLang="en-US" dirty="0"/>
              <a:t>아래에 주어진 </a:t>
            </a:r>
            <a:r>
              <a:rPr lang="en-US" altLang="ko-KR" dirty="0" err="1"/>
              <a:t>func_a</a:t>
            </a:r>
            <a:r>
              <a:rPr lang="en-US" altLang="ko-KR" dirty="0"/>
              <a:t>, </a:t>
            </a:r>
            <a:r>
              <a:rPr lang="en-US" altLang="ko-KR" dirty="0" err="1"/>
              <a:t>func_b</a:t>
            </a:r>
            <a:r>
              <a:rPr lang="en-US" altLang="ko-KR" dirty="0"/>
              <a:t>, </a:t>
            </a:r>
            <a:r>
              <a:rPr lang="en-US" altLang="ko-KR" dirty="0" err="1"/>
              <a:t>func_c</a:t>
            </a:r>
            <a:r>
              <a:rPr lang="ko-KR" altLang="en-US" dirty="0"/>
              <a:t>를 활용할 수 있도록 </a:t>
            </a:r>
            <a:r>
              <a:rPr lang="en-US" altLang="ko-KR" dirty="0"/>
              <a:t>solution </a:t>
            </a:r>
            <a:r>
              <a:rPr lang="ko-KR" altLang="en-US"/>
              <a:t>함수의 빈칸을 </a:t>
            </a:r>
            <a:r>
              <a:rPr lang="ko-KR" altLang="en-US" dirty="0"/>
              <a:t>채우세요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scores: </a:t>
            </a:r>
            <a:r>
              <a:rPr lang="ko-KR" altLang="en-US" sz="1000" dirty="0"/>
              <a:t>참가자 점수 리스트 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n: </a:t>
            </a:r>
            <a:r>
              <a:rPr lang="ko-KR" altLang="en-US" sz="1000" dirty="0"/>
              <a:t>등수를 알고 싶은 참가자 번호 </a:t>
            </a:r>
            <a:r>
              <a:rPr lang="en-US" altLang="ko-KR" sz="1000" dirty="0"/>
              <a:t>(</a:t>
            </a:r>
            <a:r>
              <a:rPr lang="ko-KR" altLang="en-US" sz="1000" dirty="0"/>
              <a:t>정수</a:t>
            </a:r>
            <a:r>
              <a:rPr lang="en-US" altLang="ko-KR" sz="10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규칙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000" dirty="0"/>
              <a:t>n</a:t>
            </a:r>
            <a:r>
              <a:rPr lang="ko-KR" altLang="en-US" sz="1000" dirty="0"/>
              <a:t>번 참가자의 점수를 구한다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점수 리스트를 내림차순으로 정렬한다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정렬된 리스트에서 해당 점수가 몇 </a:t>
            </a:r>
            <a:r>
              <a:rPr lang="ko-KR" altLang="en-US" sz="1000" dirty="0" err="1"/>
              <a:t>번째인지</a:t>
            </a:r>
            <a:r>
              <a:rPr lang="en-US" altLang="ko-KR" sz="1000" dirty="0"/>
              <a:t>(1</a:t>
            </a:r>
            <a:r>
              <a:rPr lang="ko-KR" altLang="en-US" sz="1000" dirty="0"/>
              <a:t>등부터</a:t>
            </a:r>
            <a:r>
              <a:rPr lang="en-US" altLang="ko-KR" sz="1000" dirty="0"/>
              <a:t>) </a:t>
            </a:r>
            <a:r>
              <a:rPr lang="ko-KR" altLang="en-US" sz="1000" dirty="0"/>
              <a:t>찾는다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4101B4-E86B-757B-A2D5-AED0033B8300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F69F1-F0D6-7284-FB4F-EC6E23D982E5}"/>
              </a:ext>
            </a:extLst>
          </p:cNvPr>
          <p:cNvSpPr txBox="1"/>
          <p:nvPr/>
        </p:nvSpPr>
        <p:spPr>
          <a:xfrm>
            <a:off x="1545680" y="1212969"/>
            <a:ext cx="3122334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height = [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   [3, 6, 2, 8],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   [7, 3, 4, 2],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   [8, 6, 7, 3],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   [5, 3, 2, 9]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kumimoji="1" lang="pt-BR" altLang="ko-KR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29617-1E12-2C00-9140-4A570F7B00F6}"/>
              </a:ext>
            </a:extLst>
          </p:cNvPr>
          <p:cNvSpPr txBox="1"/>
          <p:nvPr/>
        </p:nvSpPr>
        <p:spPr>
          <a:xfrm>
            <a:off x="2104866" y="247338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B787B-93EC-6E50-CF10-7E5097440BDB}"/>
              </a:ext>
            </a:extLst>
          </p:cNvPr>
          <p:cNvSpPr txBox="1"/>
          <p:nvPr/>
        </p:nvSpPr>
        <p:spPr>
          <a:xfrm>
            <a:off x="1257014" y="3015906"/>
            <a:ext cx="4240530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(height)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height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solution(height)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8380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29D9-48C3-2CD8-24D5-A47F6E32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C05D804-EE80-4677-9260-1AED95F0A17E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15] </a:t>
            </a:r>
            <a:r>
              <a:rPr lang="ko-KR" altLang="en-US" dirty="0"/>
              <a:t>학교 축제에서 장기자랑 심사를 합니다</a:t>
            </a:r>
            <a:r>
              <a:rPr lang="en-US" altLang="ko-KR" dirty="0"/>
              <a:t>. </a:t>
            </a:r>
            <a:r>
              <a:rPr lang="ko-KR" altLang="en-US" dirty="0"/>
              <a:t>한 참가자에게 여러 심사위원이 점수를 주는데</a:t>
            </a:r>
            <a:r>
              <a:rPr lang="en-US" altLang="ko-KR" dirty="0"/>
              <a:t>, </a:t>
            </a:r>
            <a:r>
              <a:rPr lang="ko-KR" altLang="en-US" dirty="0"/>
              <a:t>너무 높게</a:t>
            </a:r>
            <a:r>
              <a:rPr lang="en-US" altLang="ko-KR" dirty="0"/>
              <a:t>/</a:t>
            </a:r>
            <a:r>
              <a:rPr lang="ko-KR" altLang="en-US" dirty="0"/>
              <a:t>낮게 준 점수는 공정하지 않을 수 있어 가장 높은 점수 </a:t>
            </a:r>
            <a:r>
              <a:rPr lang="en-US" altLang="ko-KR" dirty="0"/>
              <a:t>1</a:t>
            </a:r>
            <a:r>
              <a:rPr lang="ko-KR" altLang="en-US" dirty="0"/>
              <a:t>개와 가장 낮은 점수 </a:t>
            </a:r>
            <a:r>
              <a:rPr lang="en-US" altLang="ko-KR" dirty="0"/>
              <a:t>1</a:t>
            </a:r>
            <a:r>
              <a:rPr lang="ko-KR" altLang="en-US" dirty="0"/>
              <a:t>개를 제외하고 나머지 점수의 평균으로 최종 점수를 정합니다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평균을 계산한 뒤 소수점 이하는 버립니다</a:t>
            </a:r>
            <a:r>
              <a:rPr lang="en-US" altLang="ko-KR" dirty="0"/>
              <a:t>. (</a:t>
            </a:r>
            <a:r>
              <a:rPr lang="ko-KR" altLang="en-US" dirty="0"/>
              <a:t>정수 부분만 사용</a:t>
            </a:r>
            <a:r>
              <a:rPr lang="en-US" altLang="ko-KR" dirty="0"/>
              <a:t>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심사 점수들이 담긴 리스트 </a:t>
            </a:r>
            <a:r>
              <a:rPr lang="en-US" altLang="ko-KR" dirty="0"/>
              <a:t>scores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최종 점수를 반환하는 </a:t>
            </a:r>
            <a:r>
              <a:rPr lang="en-US" altLang="ko-KR" dirty="0"/>
              <a:t>solution(scores)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  <a:r>
              <a:rPr lang="en-US" altLang="ko-KR" dirty="0"/>
              <a:t>: scores (</a:t>
            </a:r>
            <a:r>
              <a:rPr lang="ko-KR" altLang="en-US" dirty="0"/>
              <a:t>정수 리스트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66BC071-76C6-B71C-EBC3-B2FB73482DFC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554385-9EC3-1F1B-F0AC-37A61203F4CE}"/>
              </a:ext>
            </a:extLst>
          </p:cNvPr>
          <p:cNvSpPr txBox="1"/>
          <p:nvPr/>
        </p:nvSpPr>
        <p:spPr>
          <a:xfrm>
            <a:off x="1792568" y="1203825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pt-BR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scores = [20, 60, 98, 59]</a:t>
            </a:r>
          </a:p>
          <a:p>
            <a:r>
              <a:rPr kumimoji="1" lang="pt-BR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n =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927EA-6260-CDC8-6C6B-BBCD5DFAB4C3}"/>
              </a:ext>
            </a:extLst>
          </p:cNvPr>
          <p:cNvSpPr txBox="1"/>
          <p:nvPr/>
        </p:nvSpPr>
        <p:spPr>
          <a:xfrm>
            <a:off x="2359374" y="1664138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1BC45-2FB4-9994-2C24-6C67D3474B4E}"/>
              </a:ext>
            </a:extLst>
          </p:cNvPr>
          <p:cNvSpPr txBox="1"/>
          <p:nvPr/>
        </p:nvSpPr>
        <p:spPr>
          <a:xfrm>
            <a:off x="1663447" y="2189284"/>
            <a:ext cx="4240530" cy="378565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(scores, 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scores[n]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arr.sort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(reverse=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(scores, target)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rank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== target: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(scores, 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score = </a:t>
            </a:r>
            <a:r>
              <a:rPr lang="en-US" altLang="ko-KR" sz="1000" b="0" i="0" u="none" strike="noStrike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solution(scores, n)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93120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A2F71-C248-7407-557A-0624BE65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C5A0CB56-A0DD-4204-9761-5A1889519CDB}"/>
              </a:ext>
            </a:extLst>
          </p:cNvPr>
          <p:cNvSpPr txBox="1">
            <a:spLocks/>
          </p:cNvSpPr>
          <p:nvPr/>
        </p:nvSpPr>
        <p:spPr>
          <a:xfrm>
            <a:off x="654709" y="1220589"/>
            <a:ext cx="4994251" cy="759560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규칙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가장 큰 점수 </a:t>
            </a:r>
            <a:r>
              <a:rPr lang="en-US" altLang="ko-KR" sz="1000" dirty="0"/>
              <a:t>1</a:t>
            </a:r>
            <a:r>
              <a:rPr lang="ko-KR" altLang="en-US" sz="1000" dirty="0"/>
              <a:t>개와 가장 작은 점수 </a:t>
            </a:r>
            <a:r>
              <a:rPr lang="en-US" altLang="ko-KR" sz="1000" dirty="0"/>
              <a:t>1</a:t>
            </a:r>
            <a:r>
              <a:rPr lang="ko-KR" altLang="en-US" sz="1000" dirty="0"/>
              <a:t>개를 제외한다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남은 점수들의 합을 구한다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남은 개수로 나눈 평균을 구한다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소수점 이하는 버린 값을 </a:t>
            </a:r>
            <a:r>
              <a:rPr lang="en-US" altLang="ko-KR" sz="1000" dirty="0"/>
              <a:t>return </a:t>
            </a:r>
            <a:r>
              <a:rPr lang="ko-KR" altLang="en-US" sz="1000" dirty="0"/>
              <a:t>한다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1]    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2]    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2]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16] </a:t>
            </a:r>
            <a:r>
              <a:rPr lang="ko-KR" altLang="en-US" dirty="0"/>
              <a:t>동아리에서 물건에 붙이는 암호 스티커를 여러 번 출력했는데</a:t>
            </a:r>
            <a:r>
              <a:rPr lang="en-US" altLang="ko-KR" dirty="0"/>
              <a:t>, </a:t>
            </a:r>
            <a:r>
              <a:rPr lang="ko-KR" altLang="en-US" dirty="0"/>
              <a:t>출력할 때마다 글자가 조금씩 틀려서</a:t>
            </a:r>
            <a:r>
              <a:rPr lang="en-US" altLang="ko-KR" dirty="0"/>
              <a:t>(</a:t>
            </a:r>
            <a:r>
              <a:rPr lang="ko-KR" altLang="en-US" dirty="0"/>
              <a:t>오타</a:t>
            </a:r>
            <a:r>
              <a:rPr lang="en-US" altLang="ko-KR" dirty="0"/>
              <a:t>) </a:t>
            </a:r>
            <a:r>
              <a:rPr lang="ko-KR" altLang="en-US" dirty="0"/>
              <a:t>스티커를 다시 붙여야 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정상 스티커 문구 </a:t>
            </a:r>
            <a:r>
              <a:rPr lang="en-US" altLang="ko-KR" dirty="0"/>
              <a:t>word</a:t>
            </a:r>
            <a:r>
              <a:rPr lang="ko-KR" altLang="en-US" dirty="0"/>
              <a:t>가 주어지고</a:t>
            </a:r>
            <a:r>
              <a:rPr lang="en-US" altLang="ko-KR" dirty="0"/>
              <a:t>, </a:t>
            </a:r>
            <a:r>
              <a:rPr lang="ko-KR" altLang="en-US" dirty="0"/>
              <a:t>이미 출력된 스티커 문구들이 </a:t>
            </a:r>
            <a:r>
              <a:rPr lang="en-US" altLang="ko-KR" dirty="0"/>
              <a:t>words </a:t>
            </a:r>
            <a:r>
              <a:rPr lang="ko-KR" altLang="en-US" dirty="0"/>
              <a:t>리스트에 들어 있습니다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각 스티커 문구를 정상 문구로 바꾸려면 몇 글자를 바꿔야 하는지 세어야 합니다</a:t>
            </a:r>
            <a:r>
              <a:rPr lang="en-US" altLang="ko-KR" dirty="0"/>
              <a:t>.(</a:t>
            </a:r>
            <a:r>
              <a:rPr lang="ko-KR" altLang="en-US" dirty="0"/>
              <a:t>같은 위치의 글자가 다르면 </a:t>
            </a:r>
            <a:r>
              <a:rPr lang="en-US" altLang="ko-KR" dirty="0"/>
              <a:t>1</a:t>
            </a:r>
            <a:r>
              <a:rPr lang="ko-KR" altLang="en-US" dirty="0"/>
              <a:t>개를 바꿔야 함</a:t>
            </a:r>
            <a:r>
              <a:rPr lang="en-US" altLang="ko-KR" dirty="0"/>
              <a:t>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words</a:t>
            </a:r>
            <a:r>
              <a:rPr lang="ko-KR" altLang="en-US" dirty="0"/>
              <a:t>와 </a:t>
            </a:r>
            <a:r>
              <a:rPr lang="en-US" altLang="ko-KR" dirty="0"/>
              <a:t>word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모든 스티커를 정상 문구로 만들기 위해 바꿔야 하는 글자 수의 합을 </a:t>
            </a:r>
            <a:r>
              <a:rPr lang="en-US" altLang="ko-KR" dirty="0"/>
              <a:t>return </a:t>
            </a:r>
            <a:r>
              <a:rPr lang="ko-KR" altLang="en-US" dirty="0"/>
              <a:t>하는 </a:t>
            </a:r>
            <a:r>
              <a:rPr lang="en-US" altLang="ko-KR" dirty="0"/>
              <a:t>solution(words, word)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9F6813-62DB-68D5-9F3B-4311C966CC48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50760-CA04-6B78-6685-85F1248F94E4}"/>
              </a:ext>
            </a:extLst>
          </p:cNvPr>
          <p:cNvSpPr txBox="1"/>
          <p:nvPr/>
        </p:nvSpPr>
        <p:spPr>
          <a:xfrm>
            <a:off x="1528916" y="2503074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scores = [35, 28, 98, 34, 20, 50, 85, 74, 71, 7]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854A1B-F257-C551-3ED8-BB0BA33FA716}"/>
              </a:ext>
            </a:extLst>
          </p:cNvPr>
          <p:cNvSpPr txBox="1"/>
          <p:nvPr/>
        </p:nvSpPr>
        <p:spPr>
          <a:xfrm>
            <a:off x="2050002" y="297630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E59084-896F-B099-8D9F-7A05BA72FEFF}"/>
              </a:ext>
            </a:extLst>
          </p:cNvPr>
          <p:cNvSpPr txBox="1"/>
          <p:nvPr/>
        </p:nvSpPr>
        <p:spPr>
          <a:xfrm>
            <a:off x="1247870" y="4463706"/>
            <a:ext cx="4240530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solution(scores1)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scores2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solution(scores2)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en-US" altLang="ko-KR" sz="1000" b="0" dirty="0">
              <a:effectLst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53416D-24C5-DB44-0E65-3062EBFCF532}"/>
              </a:ext>
            </a:extLst>
          </p:cNvPr>
          <p:cNvSpPr txBox="1"/>
          <p:nvPr/>
        </p:nvSpPr>
        <p:spPr>
          <a:xfrm>
            <a:off x="1528916" y="3447441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scores = [1, 1, 1, 1, 1]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1A93BD-0163-C11C-A891-8C7568CF5163}"/>
              </a:ext>
            </a:extLst>
          </p:cNvPr>
          <p:cNvSpPr txBox="1"/>
          <p:nvPr/>
        </p:nvSpPr>
        <p:spPr>
          <a:xfrm>
            <a:off x="2050002" y="392066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76019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0B47-52D9-3463-014C-49662523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BC14B7A2-BD86-A0C7-12B2-C999F6300791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함수 이름</a:t>
            </a:r>
            <a:r>
              <a:rPr lang="en-US" altLang="ko-KR" sz="1100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매개변수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/>
              <a:t>words: </a:t>
            </a:r>
            <a:r>
              <a:rPr lang="ko-KR" altLang="en-US" sz="1100" dirty="0"/>
              <a:t>문자열 리스트</a:t>
            </a:r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/>
              <a:t>word: </a:t>
            </a:r>
            <a:r>
              <a:rPr lang="ko-KR" altLang="en-US" sz="1100" dirty="0"/>
              <a:t>기준 문자열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규칙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100" dirty="0"/>
              <a:t>words</a:t>
            </a:r>
            <a:r>
              <a:rPr lang="ko-KR" altLang="en-US" sz="1100" dirty="0"/>
              <a:t>의 각 문자열을 </a:t>
            </a:r>
            <a:r>
              <a:rPr lang="en-US" altLang="ko-KR" sz="1100" dirty="0"/>
              <a:t>word</a:t>
            </a:r>
            <a:r>
              <a:rPr lang="ko-KR" altLang="en-US" sz="1100" dirty="0"/>
              <a:t>와 비교한다</a:t>
            </a:r>
            <a:r>
              <a:rPr lang="en-US" altLang="ko-KR" sz="11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100" dirty="0"/>
              <a:t>같은 인덱스</a:t>
            </a:r>
            <a:r>
              <a:rPr lang="en-US" altLang="ko-KR" sz="1100" dirty="0"/>
              <a:t>(</a:t>
            </a:r>
            <a:r>
              <a:rPr lang="ko-KR" altLang="en-US" sz="1100" dirty="0"/>
              <a:t>자리</a:t>
            </a:r>
            <a:r>
              <a:rPr lang="en-US" altLang="ko-KR" sz="1100" dirty="0"/>
              <a:t>)</a:t>
            </a:r>
            <a:r>
              <a:rPr lang="ko-KR" altLang="en-US" sz="1100" dirty="0"/>
              <a:t>의 글자가 다르면 </a:t>
            </a:r>
            <a:r>
              <a:rPr lang="en-US" altLang="ko-KR" sz="1100" dirty="0"/>
              <a:t>count</a:t>
            </a:r>
            <a:r>
              <a:rPr lang="ko-KR" altLang="en-US" sz="1100" dirty="0"/>
              <a:t>를 </a:t>
            </a:r>
            <a:r>
              <a:rPr lang="en-US" altLang="ko-KR" sz="1100" dirty="0"/>
              <a:t>1 </a:t>
            </a:r>
            <a:r>
              <a:rPr lang="ko-KR" altLang="en-US" sz="1100" dirty="0"/>
              <a:t>증가시킨다</a:t>
            </a:r>
            <a:r>
              <a:rPr lang="en-US" altLang="ko-KR" sz="11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100" dirty="0"/>
              <a:t>전체 문자열에 대해 누적한 값을 </a:t>
            </a:r>
            <a:r>
              <a:rPr lang="en-US" altLang="ko-KR" sz="1100" dirty="0"/>
              <a:t>return </a:t>
            </a:r>
            <a:r>
              <a:rPr lang="ko-KR" altLang="en-US" sz="1100" dirty="0"/>
              <a:t>한다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17] </a:t>
            </a:r>
            <a:r>
              <a:rPr lang="ko-KR" altLang="en-US" dirty="0"/>
              <a:t>탐방 동아리가 단체로 이동하려고 합니다</a:t>
            </a:r>
            <a:r>
              <a:rPr lang="en-US" altLang="ko-KR" dirty="0"/>
              <a:t>. </a:t>
            </a:r>
            <a:r>
              <a:rPr lang="ko-KR" altLang="en-US" dirty="0"/>
              <a:t>이동 수단은 </a:t>
            </a:r>
            <a:r>
              <a:rPr lang="en-US" altLang="ko-KR" dirty="0"/>
              <a:t>"Bus", "Ship", "Airplane" </a:t>
            </a:r>
            <a:r>
              <a:rPr lang="ko-KR" altLang="en-US" dirty="0"/>
              <a:t>중 하나입니다</a:t>
            </a:r>
            <a:r>
              <a:rPr lang="en-US" altLang="ko-KR" dirty="0"/>
              <a:t>. </a:t>
            </a:r>
            <a:r>
              <a:rPr lang="ko-KR" altLang="en-US" dirty="0"/>
              <a:t>나이가 </a:t>
            </a:r>
            <a:r>
              <a:rPr lang="en-US" altLang="ko-KR" dirty="0"/>
              <a:t>20</a:t>
            </a:r>
            <a:r>
              <a:rPr lang="ko-KR" altLang="en-US" dirty="0"/>
              <a:t>세 이상이면 성인</a:t>
            </a:r>
            <a:r>
              <a:rPr lang="en-US" altLang="ko-KR" dirty="0"/>
              <a:t>, </a:t>
            </a:r>
            <a:r>
              <a:rPr lang="ko-KR" altLang="en-US" dirty="0"/>
              <a:t>그렇지 않으면 청소년 요금을 적용합니다</a:t>
            </a:r>
            <a:r>
              <a:rPr lang="en-US" altLang="ko-KR" dirty="0"/>
              <a:t>. </a:t>
            </a:r>
            <a:r>
              <a:rPr lang="ko-KR" altLang="en-US" dirty="0"/>
              <a:t>또한 단체 인원이 </a:t>
            </a:r>
            <a:r>
              <a:rPr lang="en-US" altLang="ko-KR" dirty="0"/>
              <a:t>10</a:t>
            </a:r>
            <a:r>
              <a:rPr lang="ko-KR" altLang="en-US" dirty="0"/>
              <a:t>명 이상이면 할인이 적용됩니다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성인 요금</a:t>
            </a:r>
            <a:r>
              <a:rPr lang="en-US" altLang="ko-KR" dirty="0"/>
              <a:t>: 10% </a:t>
            </a:r>
            <a:r>
              <a:rPr lang="ko-KR" altLang="en-US" dirty="0"/>
              <a:t>할인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청소년 요금</a:t>
            </a:r>
            <a:r>
              <a:rPr lang="en-US" altLang="ko-KR" dirty="0"/>
              <a:t>: 20% </a:t>
            </a:r>
            <a:r>
              <a:rPr lang="ko-KR" altLang="en-US" dirty="0"/>
              <a:t>할인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여행 멤버의 나이 리스트 </a:t>
            </a:r>
            <a:r>
              <a:rPr lang="en-US" altLang="ko-KR" dirty="0" err="1"/>
              <a:t>member_age</a:t>
            </a:r>
            <a:r>
              <a:rPr lang="ko-KR" altLang="en-US" dirty="0"/>
              <a:t>와 이동 수단 </a:t>
            </a:r>
            <a:r>
              <a:rPr lang="en-US" altLang="ko-KR" dirty="0"/>
              <a:t>transportation</a:t>
            </a:r>
            <a:r>
              <a:rPr lang="ko-KR" altLang="en-US" dirty="0"/>
              <a:t>이 주어질 때</a:t>
            </a:r>
            <a:r>
              <a:rPr lang="en-US" altLang="ko-KR" dirty="0"/>
              <a:t>, </a:t>
            </a:r>
            <a:r>
              <a:rPr lang="ko-KR" altLang="en-US" dirty="0"/>
              <a:t>총 이동비를 </a:t>
            </a:r>
            <a:r>
              <a:rPr lang="en-US" altLang="ko-KR" dirty="0"/>
              <a:t>return </a:t>
            </a:r>
            <a:r>
              <a:rPr lang="ko-KR" altLang="en-US" dirty="0"/>
              <a:t>하는 </a:t>
            </a:r>
            <a:r>
              <a:rPr lang="en-US" altLang="ko-KR" dirty="0"/>
              <a:t>solution(</a:t>
            </a:r>
            <a:r>
              <a:rPr lang="en-US" altLang="ko-KR" dirty="0" err="1"/>
              <a:t>member_age</a:t>
            </a:r>
            <a:r>
              <a:rPr lang="en-US" altLang="ko-KR" dirty="0"/>
              <a:t>, transportation) </a:t>
            </a:r>
            <a:r>
              <a:rPr lang="ko-KR" altLang="en-US"/>
              <a:t>함수의 빈칸을 </a:t>
            </a:r>
            <a:r>
              <a:rPr lang="ko-KR" altLang="en-US" dirty="0"/>
              <a:t>채워 프로그램을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08614B-EC2E-0845-B947-B9EEAABABAD7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98A662-FC3B-1271-8EAB-A1197ED03235}"/>
              </a:ext>
            </a:extLst>
          </p:cNvPr>
          <p:cNvSpPr txBox="1"/>
          <p:nvPr/>
        </p:nvSpPr>
        <p:spPr>
          <a:xfrm>
            <a:off x="1755992" y="3422769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words = ["CODE", "COED", "CDEO"]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word = "CODE"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48282-7682-6A76-56C3-78BAB28CE7F2}"/>
              </a:ext>
            </a:extLst>
          </p:cNvPr>
          <p:cNvSpPr txBox="1"/>
          <p:nvPr/>
        </p:nvSpPr>
        <p:spPr>
          <a:xfrm>
            <a:off x="2322798" y="397452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925DBD-6C5C-A092-5DD7-890C6D3FABCE}"/>
              </a:ext>
            </a:extLst>
          </p:cNvPr>
          <p:cNvSpPr txBox="1"/>
          <p:nvPr/>
        </p:nvSpPr>
        <p:spPr>
          <a:xfrm>
            <a:off x="1626871" y="4568248"/>
            <a:ext cx="4240530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(words, word)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words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"CODE"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"COED"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"CDEO"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word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"CODE"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solution(words, word)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6557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070C-228A-14D3-661C-C4C5D638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A40E6AB-6575-5735-7D56-8EF73E8DBE7B}"/>
              </a:ext>
            </a:extLst>
          </p:cNvPr>
          <p:cNvSpPr txBox="1">
            <a:spLocks/>
          </p:cNvSpPr>
          <p:nvPr/>
        </p:nvSpPr>
        <p:spPr>
          <a:xfrm>
            <a:off x="654709" y="1220589"/>
            <a:ext cx="4994251" cy="759560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  <a:endParaRPr lang="en-US" altLang="ko-KR" dirty="0"/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/>
              <a:t>member_age</a:t>
            </a:r>
            <a:r>
              <a:rPr lang="en-US" altLang="ko-KR" sz="1000" dirty="0"/>
              <a:t> (</a:t>
            </a:r>
            <a:r>
              <a:rPr lang="ko-KR" altLang="en-US" sz="1000" dirty="0"/>
              <a:t>정수 리스트</a:t>
            </a:r>
            <a:r>
              <a:rPr lang="en-US" altLang="ko-KR" sz="1000" dirty="0"/>
              <a:t>): </a:t>
            </a:r>
            <a:r>
              <a:rPr lang="ko-KR" altLang="en-US" sz="1000" dirty="0"/>
              <a:t>각 멤버의 나이</a:t>
            </a:r>
            <a:endParaRPr lang="en-US" altLang="ko-KR" sz="1000" dirty="0"/>
          </a:p>
          <a:p>
            <a:pPr marL="628650" lvl="2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transportation (</a:t>
            </a:r>
            <a:r>
              <a:rPr lang="ko-KR" altLang="en-US" sz="1000" dirty="0"/>
              <a:t>문자열</a:t>
            </a:r>
            <a:r>
              <a:rPr lang="en-US" altLang="ko-KR" sz="1000" dirty="0"/>
              <a:t>): "Bus", "Ship", "Airplane" </a:t>
            </a:r>
            <a:r>
              <a:rPr lang="ko-KR" altLang="en-US" sz="1000" dirty="0"/>
              <a:t>중 하나</a:t>
            </a:r>
            <a:endParaRPr lang="en-US" altLang="ko-KR" sz="1000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규칙</a:t>
            </a:r>
            <a:endParaRPr lang="en-US" altLang="ko-KR" dirty="0"/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이동 수단에 따라 성인 요금</a:t>
            </a:r>
            <a:r>
              <a:rPr lang="en-US" altLang="ko-KR" sz="1000" dirty="0"/>
              <a:t>, </a:t>
            </a:r>
            <a:r>
              <a:rPr lang="ko-KR" altLang="en-US" sz="1000" dirty="0"/>
              <a:t>청소년 요금을 정한다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인원이 </a:t>
            </a:r>
            <a:r>
              <a:rPr lang="en-US" altLang="ko-KR" sz="1000" dirty="0"/>
              <a:t>10</a:t>
            </a:r>
            <a:r>
              <a:rPr lang="ko-KR" altLang="en-US" sz="1000" dirty="0"/>
              <a:t>명 이상이면 요금을 할인율만큼 낮춘다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나이를 보고 성인</a:t>
            </a:r>
            <a:r>
              <a:rPr lang="en-US" altLang="ko-KR" sz="1000" dirty="0"/>
              <a:t>/</a:t>
            </a:r>
            <a:r>
              <a:rPr lang="ko-KR" altLang="en-US" sz="1000" dirty="0"/>
              <a:t>청소년 요금을 더해 총합을 구한다</a:t>
            </a:r>
            <a:r>
              <a:rPr lang="en-US" altLang="ko-KR" sz="1000" dirty="0"/>
              <a:t>.</a:t>
            </a:r>
          </a:p>
          <a:p>
            <a:pPr marL="8001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000" dirty="0"/>
              <a:t>총합을 </a:t>
            </a:r>
            <a:r>
              <a:rPr lang="en-US" altLang="ko-KR" sz="1000" dirty="0"/>
              <a:t>return </a:t>
            </a:r>
            <a:r>
              <a:rPr lang="ko-KR" altLang="en-US" sz="1000" dirty="0"/>
              <a:t>한다</a:t>
            </a:r>
            <a:r>
              <a:rPr lang="en-US" altLang="ko-KR" sz="1000" dirty="0"/>
              <a:t>.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요금표</a:t>
            </a:r>
            <a:r>
              <a:rPr lang="en-US" altLang="ko-KR" dirty="0"/>
              <a:t>] 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1]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2]    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2]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B156B4F-6334-2F9B-445E-3F9B9F35669D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2BB68E-9E33-FAAB-2347-8151255CD477}"/>
              </a:ext>
            </a:extLst>
          </p:cNvPr>
          <p:cNvSpPr txBox="1"/>
          <p:nvPr/>
        </p:nvSpPr>
        <p:spPr>
          <a:xfrm>
            <a:off x="1538060" y="4690223"/>
            <a:ext cx="312233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member_age</a:t>
            </a:r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= [13, 33, 45, 11, 20]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transportation = "Bus"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45604-C68B-6250-71CE-681E8237BD60}"/>
              </a:ext>
            </a:extLst>
          </p:cNvPr>
          <p:cNvSpPr txBox="1"/>
          <p:nvPr/>
        </p:nvSpPr>
        <p:spPr>
          <a:xfrm>
            <a:off x="2059146" y="519372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150000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002B1-7C89-1817-80CC-E7AABECC38B1}"/>
              </a:ext>
            </a:extLst>
          </p:cNvPr>
          <p:cNvSpPr txBox="1"/>
          <p:nvPr/>
        </p:nvSpPr>
        <p:spPr>
          <a:xfrm>
            <a:off x="1257014" y="6681126"/>
            <a:ext cx="4240530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member_age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transportation)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transportation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'Bus'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adult_expense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40000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child_expense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15000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transportation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'Ship'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adult_expense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30000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child_expense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13000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transportation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'Airplane'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adult_expense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70000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child_expense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45000</a:t>
            </a:r>
            <a:endParaRPr lang="en-US" altLang="ko-KR" sz="1000" b="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0F58D-DF3A-95D5-90C7-7B4D99551950}"/>
              </a:ext>
            </a:extLst>
          </p:cNvPr>
          <p:cNvSpPr txBox="1"/>
          <p:nvPr/>
        </p:nvSpPr>
        <p:spPr>
          <a:xfrm>
            <a:off x="1538060" y="5657241"/>
            <a:ext cx="346370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member_age</a:t>
            </a:r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= [25, 11, 27, 56, 7, 19, 52, 31, 77, 8]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transportation = "Ship"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F5AAA-B9B9-BD72-4650-C8A7A8D55B9C}"/>
              </a:ext>
            </a:extLst>
          </p:cNvPr>
          <p:cNvSpPr txBox="1"/>
          <p:nvPr/>
        </p:nvSpPr>
        <p:spPr>
          <a:xfrm>
            <a:off x="2059146" y="616094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203600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7DB0902-3D3E-5879-B976-5C9AFB650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89654"/>
              </p:ext>
            </p:extLst>
          </p:nvPr>
        </p:nvGraphicFramePr>
        <p:xfrm>
          <a:off x="1454859" y="3355684"/>
          <a:ext cx="3844839" cy="975360"/>
        </p:xfrm>
        <a:graphic>
          <a:graphicData uri="http://schemas.openxmlformats.org/drawingml/2006/table">
            <a:tbl>
              <a:tblPr/>
              <a:tblGrid>
                <a:gridCol w="1281613">
                  <a:extLst>
                    <a:ext uri="{9D8B030D-6E8A-4147-A177-3AD203B41FA5}">
                      <a16:colId xmlns:a16="http://schemas.microsoft.com/office/drawing/2014/main" val="96412560"/>
                    </a:ext>
                  </a:extLst>
                </a:gridCol>
                <a:gridCol w="1281613">
                  <a:extLst>
                    <a:ext uri="{9D8B030D-6E8A-4147-A177-3AD203B41FA5}">
                      <a16:colId xmlns:a16="http://schemas.microsoft.com/office/drawing/2014/main" val="842307472"/>
                    </a:ext>
                  </a:extLst>
                </a:gridCol>
                <a:gridCol w="1281613">
                  <a:extLst>
                    <a:ext uri="{9D8B030D-6E8A-4147-A177-3AD203B41FA5}">
                      <a16:colId xmlns:a16="http://schemas.microsoft.com/office/drawing/2014/main" val="2375418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이동수단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성인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청소년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5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Bus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40,000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15,000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2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Ship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13,000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677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Airplane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70,000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45,000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191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19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F757-7A81-94B5-F31C-258CE3FF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5C76BCB-4FA1-8F89-065B-269174990A84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800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18] </a:t>
            </a:r>
            <a:r>
              <a:rPr lang="ko-KR" altLang="en-US" dirty="0"/>
              <a:t>한 줄로 이어진 바닥을 길이 </a:t>
            </a:r>
            <a:r>
              <a:rPr lang="en-US" altLang="ko-KR" dirty="0" err="1"/>
              <a:t>tile_length</a:t>
            </a:r>
            <a:r>
              <a:rPr lang="ko-KR" altLang="en-US" dirty="0"/>
              <a:t>만큼 색칠하려고 합니다</a:t>
            </a:r>
            <a:r>
              <a:rPr lang="en-US" altLang="ko-KR" dirty="0"/>
              <a:t>. </a:t>
            </a:r>
            <a:r>
              <a:rPr lang="ko-KR" altLang="en-US" dirty="0"/>
              <a:t>페인트 로봇은 항상 정해진 순서로만 작업합니다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 </a:t>
            </a:r>
            <a:r>
              <a:rPr lang="ko-KR" altLang="en-US" dirty="0"/>
              <a:t>색은 한 번에 </a:t>
            </a:r>
            <a:r>
              <a:rPr lang="en-US" altLang="ko-KR" dirty="0"/>
              <a:t>3</a:t>
            </a:r>
            <a:r>
              <a:rPr lang="ko-KR" altLang="en-US" dirty="0"/>
              <a:t>칸</a:t>
            </a: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 </a:t>
            </a:r>
            <a:r>
              <a:rPr lang="ko-KR" altLang="en-US" dirty="0"/>
              <a:t>색은 한 번에 </a:t>
            </a:r>
            <a:r>
              <a:rPr lang="en-US" altLang="ko-KR" dirty="0"/>
              <a:t>2</a:t>
            </a:r>
            <a:r>
              <a:rPr lang="ko-KR" altLang="en-US" dirty="0"/>
              <a:t>칸</a:t>
            </a: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 </a:t>
            </a:r>
            <a:r>
              <a:rPr lang="ko-KR" altLang="en-US" dirty="0"/>
              <a:t>색은 한 번에 </a:t>
            </a:r>
            <a:r>
              <a:rPr lang="en-US" altLang="ko-KR" dirty="0"/>
              <a:t>1</a:t>
            </a:r>
            <a:r>
              <a:rPr lang="ko-KR" altLang="en-US" dirty="0"/>
              <a:t>칸</a:t>
            </a: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순서는 항상 </a:t>
            </a:r>
            <a:r>
              <a:rPr lang="en-US" altLang="ko-KR" dirty="0"/>
              <a:t>R → G → B → R → G → B → ...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중간에 끊거나 순서를 바꿀 수 없고</a:t>
            </a:r>
            <a:r>
              <a:rPr lang="en-US" altLang="ko-KR" dirty="0"/>
              <a:t>, </a:t>
            </a:r>
            <a:r>
              <a:rPr lang="ko-KR" altLang="en-US" dirty="0"/>
              <a:t>정확히 </a:t>
            </a:r>
            <a:r>
              <a:rPr lang="en-US" altLang="ko-KR" dirty="0" err="1"/>
              <a:t>tile_length</a:t>
            </a:r>
            <a:r>
              <a:rPr lang="ko-KR" altLang="en-US" dirty="0"/>
              <a:t>칸을 꽉 채워야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 err="1"/>
              <a:t>tile_length</a:t>
            </a:r>
            <a:r>
              <a:rPr lang="ko-KR" altLang="en-US" dirty="0"/>
              <a:t>가 주어질 때</a:t>
            </a:r>
            <a:r>
              <a:rPr lang="en-US" altLang="ko-KR" dirty="0"/>
              <a:t>,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가능한 경우</a:t>
            </a:r>
            <a:r>
              <a:rPr lang="en-US" altLang="ko-KR" dirty="0"/>
              <a:t>: </a:t>
            </a:r>
            <a:r>
              <a:rPr lang="ko-KR" altLang="en-US" dirty="0"/>
              <a:t>색칠한 결과를 문자열로 </a:t>
            </a:r>
            <a:r>
              <a:rPr lang="en-US" altLang="ko-KR" dirty="0"/>
              <a:t>return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불가능한 경우</a:t>
            </a:r>
            <a:r>
              <a:rPr lang="en-US" altLang="ko-KR" dirty="0"/>
              <a:t>: "-1"</a:t>
            </a:r>
            <a:r>
              <a:rPr lang="ko-KR" altLang="en-US" dirty="0"/>
              <a:t>을 </a:t>
            </a:r>
            <a:r>
              <a:rPr lang="en-US" altLang="ko-KR" dirty="0"/>
              <a:t>return.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함수 이름</a:t>
            </a:r>
            <a:r>
              <a:rPr lang="en-US" altLang="ko-KR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매개변수</a:t>
            </a:r>
            <a:r>
              <a:rPr lang="en-US" altLang="ko-KR" dirty="0"/>
              <a:t>: </a:t>
            </a:r>
            <a:r>
              <a:rPr lang="en-US" altLang="ko-KR" dirty="0" err="1"/>
              <a:t>tile_length</a:t>
            </a:r>
            <a:r>
              <a:rPr lang="en-US" altLang="ko-KR" dirty="0"/>
              <a:t> (</a:t>
            </a:r>
            <a:r>
              <a:rPr lang="ko-KR" altLang="en-US" dirty="0"/>
              <a:t>정수</a:t>
            </a:r>
            <a:r>
              <a:rPr lang="en-US" altLang="ko-KR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en-US" altLang="ko-KR" dirty="0"/>
              <a:t>: </a:t>
            </a:r>
            <a:r>
              <a:rPr lang="ko-KR" altLang="en-US" dirty="0"/>
              <a:t>문자열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B52EEDF-2938-A300-AD45-083178C45E2F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D14BAE-8B18-93E1-EE90-5044288DC565}"/>
              </a:ext>
            </a:extLst>
          </p:cNvPr>
          <p:cNvSpPr txBox="1"/>
          <p:nvPr/>
        </p:nvSpPr>
        <p:spPr>
          <a:xfrm>
            <a:off x="1727455" y="1245928"/>
            <a:ext cx="4240530" cy="36317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member_age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adult_expense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adult_expense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8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child_expense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child_expense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8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total_expenses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age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member_age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8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total_expenses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adult_expense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total_expenses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child_expense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total_expenses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member_age1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transportation1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"Bus"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solution(member_age1, transportation1)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member_age2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transportation2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"Ship"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solution(member_age2, transportation2)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09258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543A-87D1-0EEE-F58C-2F472F78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877B3566-EA7D-4922-967B-37FED4B08CA3}"/>
              </a:ext>
            </a:extLst>
          </p:cNvPr>
          <p:cNvSpPr txBox="1">
            <a:spLocks/>
          </p:cNvSpPr>
          <p:nvPr/>
        </p:nvSpPr>
        <p:spPr>
          <a:xfrm>
            <a:off x="654709" y="1220588"/>
            <a:ext cx="4994251" cy="759560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1]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1]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 </a:t>
            </a:r>
            <a:r>
              <a:rPr lang="en-US" altLang="ko-KR" dirty="0"/>
              <a:t>2]    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2]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19] </a:t>
            </a:r>
            <a:r>
              <a:rPr lang="ko-KR" altLang="en-US" dirty="0"/>
              <a:t>온라인 강의 플랫폼에서 한 사용자가 시청한 방송 구간</a:t>
            </a:r>
            <a:r>
              <a:rPr lang="en-US" altLang="ko-KR" dirty="0"/>
              <a:t>(</a:t>
            </a:r>
            <a:r>
              <a:rPr lang="ko-KR" altLang="en-US" dirty="0"/>
              <a:t>시작 시각</a:t>
            </a:r>
            <a:r>
              <a:rPr lang="en-US" altLang="ko-KR" dirty="0"/>
              <a:t>, </a:t>
            </a:r>
            <a:r>
              <a:rPr lang="ko-KR" altLang="en-US" dirty="0"/>
              <a:t>종료 시각</a:t>
            </a:r>
            <a:r>
              <a:rPr lang="en-US" altLang="ko-KR" dirty="0"/>
              <a:t>) </a:t>
            </a:r>
            <a:r>
              <a:rPr lang="ko-KR" altLang="en-US" dirty="0"/>
              <a:t>정보가 주어집니다</a:t>
            </a:r>
            <a:r>
              <a:rPr lang="en-US" altLang="ko-KR" dirty="0"/>
              <a:t>. </a:t>
            </a:r>
            <a:r>
              <a:rPr lang="ko-KR" altLang="en-US" dirty="0"/>
              <a:t>어떤 시간에는 동시에 여러 방송을 켜둘 수 있습니다</a:t>
            </a:r>
            <a:r>
              <a:rPr lang="en-US" altLang="ko-KR" dirty="0"/>
              <a:t>. </a:t>
            </a:r>
            <a:r>
              <a:rPr lang="ko-KR" altLang="en-US" dirty="0"/>
              <a:t>당신은 동시에 </a:t>
            </a:r>
            <a:r>
              <a:rPr lang="en-US" altLang="ko-KR" dirty="0"/>
              <a:t>2</a:t>
            </a:r>
            <a:r>
              <a:rPr lang="ko-KR" altLang="en-US" dirty="0"/>
              <a:t>개 이상 방송이 켜져 있던 시간의 총합</a:t>
            </a:r>
            <a:r>
              <a:rPr lang="en-US" altLang="ko-KR" dirty="0"/>
              <a:t>(</a:t>
            </a:r>
            <a:r>
              <a:rPr lang="ko-KR" altLang="en-US" dirty="0"/>
              <a:t>시간 단위</a:t>
            </a:r>
            <a:r>
              <a:rPr lang="en-US" altLang="ko-KR" dirty="0"/>
              <a:t>)</a:t>
            </a:r>
            <a:r>
              <a:rPr lang="ko-KR" altLang="en-US" dirty="0"/>
              <a:t>을 구하려고 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programs</a:t>
            </a:r>
            <a:r>
              <a:rPr lang="ko-KR" altLang="en-US" dirty="0"/>
              <a:t>는 길이가 </a:t>
            </a:r>
            <a:r>
              <a:rPr lang="en-US" altLang="ko-KR" dirty="0"/>
              <a:t>3</a:t>
            </a:r>
            <a:r>
              <a:rPr lang="ko-KR" altLang="en-US" dirty="0"/>
              <a:t>인 </a:t>
            </a:r>
            <a:r>
              <a:rPr lang="en-US" altLang="ko-KR" dirty="0"/>
              <a:t>2</a:t>
            </a:r>
            <a:r>
              <a:rPr lang="ko-KR" altLang="en-US" dirty="0"/>
              <a:t>차원 리스트이며</a:t>
            </a:r>
            <a:r>
              <a:rPr lang="en-US" altLang="ko-KR" dirty="0"/>
              <a:t>, </a:t>
            </a:r>
            <a:r>
              <a:rPr lang="ko-KR" altLang="en-US" dirty="0"/>
              <a:t>각 원소는 </a:t>
            </a:r>
            <a:r>
              <a:rPr lang="en-US" altLang="ko-KR" dirty="0"/>
              <a:t>[start, end] </a:t>
            </a:r>
            <a:r>
              <a:rPr lang="ko-KR" altLang="en-US" dirty="0"/>
              <a:t>형태입니다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start </a:t>
            </a:r>
            <a:r>
              <a:rPr lang="ko-KR" altLang="en-US" dirty="0"/>
              <a:t>이상 </a:t>
            </a:r>
            <a:r>
              <a:rPr lang="en-US" altLang="ko-KR" dirty="0"/>
              <a:t>end </a:t>
            </a:r>
            <a:r>
              <a:rPr lang="ko-KR" altLang="en-US" dirty="0"/>
              <a:t>미만 시간 동안 방송이 켜져 있다고 가정합니다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[2, 5]</a:t>
            </a:r>
            <a:r>
              <a:rPr lang="ko-KR" altLang="en-US" dirty="0"/>
              <a:t>면 </a:t>
            </a:r>
            <a:r>
              <a:rPr lang="en-US" altLang="ko-KR" dirty="0"/>
              <a:t>2,3,4 </a:t>
            </a:r>
            <a:r>
              <a:rPr lang="ko-KR" altLang="en-US" dirty="0"/>
              <a:t>시간에 </a:t>
            </a:r>
            <a:r>
              <a:rPr lang="ko-KR" altLang="en-US" dirty="0" err="1"/>
              <a:t>켜짐</a:t>
            </a:r>
            <a:r>
              <a:rPr lang="en-US" altLang="ko-KR" dirty="0"/>
              <a:t>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시간은 </a:t>
            </a:r>
            <a:r>
              <a:rPr lang="en-US" altLang="ko-KR" dirty="0"/>
              <a:t>0~24 </a:t>
            </a:r>
            <a:r>
              <a:rPr lang="ko-KR" altLang="en-US" dirty="0"/>
              <a:t>범위의 정수입니다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아래 코드는 정답처럼 보이지만 한 줄이 잘못되어 결과가 틀립니다</a:t>
            </a:r>
            <a:r>
              <a:rPr lang="en-US" altLang="ko-KR" dirty="0"/>
              <a:t>. </a:t>
            </a:r>
            <a:r>
              <a:rPr lang="ko-KR" altLang="en-US" dirty="0"/>
              <a:t>한 줄만 수정해서 올바르게 동작하도록 하세요</a:t>
            </a:r>
            <a:r>
              <a:rPr lang="en-US" altLang="ko-KR" dirty="0"/>
              <a:t>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CD87355-F6F1-3669-5EDE-79D491233155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218AF-AF57-4EFD-CA5A-67428A09A9ED}"/>
              </a:ext>
            </a:extLst>
          </p:cNvPr>
          <p:cNvSpPr txBox="1"/>
          <p:nvPr/>
        </p:nvSpPr>
        <p:spPr>
          <a:xfrm>
            <a:off x="1528916" y="1185023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11</a:t>
            </a:r>
            <a:endParaRPr kumimoji="1" lang="en-US" altLang="ko-KR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456C3-EB13-FE5F-5C87-5EA91370D85E}"/>
              </a:ext>
            </a:extLst>
          </p:cNvPr>
          <p:cNvSpPr txBox="1"/>
          <p:nvPr/>
        </p:nvSpPr>
        <p:spPr>
          <a:xfrm>
            <a:off x="2050002" y="165042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"RRRGGBRRRGG"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203C0-D91C-974B-28EA-E0D6DE4BED8B}"/>
              </a:ext>
            </a:extLst>
          </p:cNvPr>
          <p:cNvSpPr txBox="1"/>
          <p:nvPr/>
        </p:nvSpPr>
        <p:spPr>
          <a:xfrm>
            <a:off x="1247870" y="3153066"/>
            <a:ext cx="4240530" cy="30162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tile_length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''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com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'RRRGGB'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tile_length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tile_length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rtl="0">
              <a:buNone/>
            </a:pP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1000" b="0" i="0" u="none" strike="noStrike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빈칸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'-1'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tile_length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com[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tile_length1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solution(tile_length1)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tile_length2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16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solution(tile_length2)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en-US" altLang="ko-KR" sz="1000" b="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6C16D-8403-BE3D-CFC9-EF927C67F7B7}"/>
              </a:ext>
            </a:extLst>
          </p:cNvPr>
          <p:cNvSpPr txBox="1"/>
          <p:nvPr/>
        </p:nvSpPr>
        <p:spPr>
          <a:xfrm>
            <a:off x="1528916" y="2144421"/>
            <a:ext cx="346370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07FFE-61EB-FB12-D0CF-CBA19A4D3BD7}"/>
              </a:ext>
            </a:extLst>
          </p:cNvPr>
          <p:cNvSpPr txBox="1"/>
          <p:nvPr/>
        </p:nvSpPr>
        <p:spPr>
          <a:xfrm>
            <a:off x="2050002" y="261764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"-1" </a:t>
            </a:r>
          </a:p>
        </p:txBody>
      </p:sp>
    </p:spTree>
    <p:extLst>
      <p:ext uri="{BB962C8B-B14F-4D97-AF65-F5344CB8AC3E}">
        <p14:creationId xmlns:p14="http://schemas.microsoft.com/office/powerpoint/2010/main" val="442244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BFF8-6E69-BDC8-703E-2F6408DA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72BC70C4-A6EB-46D1-8A40-8321EE39EAA9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함수 이름</a:t>
            </a:r>
            <a:r>
              <a:rPr lang="en-US" altLang="ko-KR" sz="1100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매개변수</a:t>
            </a:r>
            <a:r>
              <a:rPr lang="en-US" altLang="ko-KR" sz="1100" dirty="0"/>
              <a:t>: programs (</a:t>
            </a:r>
            <a:r>
              <a:rPr lang="ko-KR" altLang="en-US" sz="1100" dirty="0"/>
              <a:t>길이 </a:t>
            </a:r>
            <a:r>
              <a:rPr lang="en-US" altLang="ko-KR" sz="1100" dirty="0"/>
              <a:t>3</a:t>
            </a:r>
            <a:r>
              <a:rPr lang="ko-KR" altLang="en-US" sz="1100" dirty="0"/>
              <a:t>인 </a:t>
            </a:r>
            <a:r>
              <a:rPr lang="en-US" altLang="ko-KR" sz="1100" dirty="0"/>
              <a:t>2</a:t>
            </a:r>
            <a:r>
              <a:rPr lang="ko-KR" altLang="en-US" sz="1100" dirty="0"/>
              <a:t>차원 정수 리스트</a:t>
            </a:r>
            <a:r>
              <a:rPr lang="en-US" altLang="ko-KR" sz="11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/>
              <a:t>반환값</a:t>
            </a:r>
            <a:r>
              <a:rPr lang="en-US" altLang="ko-KR" sz="1100" dirty="0"/>
              <a:t>: </a:t>
            </a:r>
            <a:r>
              <a:rPr lang="ko-KR" altLang="en-US" sz="1100" dirty="0"/>
              <a:t>동시에 </a:t>
            </a:r>
            <a:r>
              <a:rPr lang="en-US" altLang="ko-KR" sz="1100" dirty="0"/>
              <a:t>2</a:t>
            </a:r>
            <a:r>
              <a:rPr lang="ko-KR" altLang="en-US" sz="1100" dirty="0"/>
              <a:t>개 이상 켜져 있던 시간의 총합</a:t>
            </a:r>
            <a:r>
              <a:rPr lang="en-US" altLang="ko-KR" sz="1100" dirty="0"/>
              <a:t>(</a:t>
            </a:r>
            <a:r>
              <a:rPr lang="ko-KR" altLang="en-US" sz="1100" dirty="0"/>
              <a:t>정수</a:t>
            </a:r>
            <a:r>
              <a:rPr lang="en-US" altLang="ko-KR" sz="11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20] </a:t>
            </a:r>
            <a:r>
              <a:rPr lang="ko-KR" altLang="en-US" dirty="0"/>
              <a:t>동아리에서 번호표를 정리하는 프로그램을 만들었습니다</a:t>
            </a:r>
            <a:r>
              <a:rPr lang="en-US" altLang="ko-KR" dirty="0"/>
              <a:t>. </a:t>
            </a:r>
            <a:r>
              <a:rPr lang="ko-KR" altLang="en-US" dirty="0"/>
              <a:t>리스트 </a:t>
            </a:r>
            <a:r>
              <a:rPr lang="en-US" altLang="ko-KR" dirty="0" err="1"/>
              <a:t>nums</a:t>
            </a:r>
            <a:r>
              <a:rPr lang="ko-KR" altLang="en-US" dirty="0"/>
              <a:t>에는 자연수가 들어 있습니다</a:t>
            </a:r>
            <a:r>
              <a:rPr lang="en-US" altLang="ko-KR" dirty="0"/>
              <a:t>. </a:t>
            </a:r>
            <a:r>
              <a:rPr lang="ko-KR" altLang="en-US" dirty="0"/>
              <a:t>여기서 어떤 수 </a:t>
            </a:r>
            <a:r>
              <a:rPr lang="en-US" altLang="ko-KR" dirty="0"/>
              <a:t>x</a:t>
            </a:r>
            <a:r>
              <a:rPr lang="ko-KR" altLang="en-US" dirty="0"/>
              <a:t>가 있을 때</a:t>
            </a:r>
            <a:r>
              <a:rPr lang="en-US" altLang="ko-KR" dirty="0"/>
              <a:t>, x/2</a:t>
            </a:r>
            <a:r>
              <a:rPr lang="ko-KR" altLang="en-US" dirty="0"/>
              <a:t>가 정수이고 그 값이 리스트 안에도 존재하면 </a:t>
            </a:r>
            <a:r>
              <a:rPr lang="en-US" altLang="ko-KR" dirty="0"/>
              <a:t>x</a:t>
            </a:r>
            <a:r>
              <a:rPr lang="ko-KR" altLang="en-US" dirty="0"/>
              <a:t>는 “짝이 있는 </a:t>
            </a:r>
            <a:r>
              <a:rPr lang="ko-KR" altLang="en-US" dirty="0" err="1"/>
              <a:t>수”라고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</a:t>
            </a:r>
            <a:r>
              <a:rPr lang="en-US" altLang="ko-KR" dirty="0"/>
              <a:t>6</a:t>
            </a:r>
            <a:r>
              <a:rPr lang="ko-KR" altLang="en-US" dirty="0"/>
              <a:t>이 있고 </a:t>
            </a:r>
            <a:r>
              <a:rPr lang="en-US" altLang="ko-KR" dirty="0"/>
              <a:t>6/2 = 3</a:t>
            </a:r>
            <a:r>
              <a:rPr lang="ko-KR" altLang="en-US" dirty="0"/>
              <a:t>이며 </a:t>
            </a:r>
            <a:r>
              <a:rPr lang="en-US" altLang="ko-KR" dirty="0"/>
              <a:t>3</a:t>
            </a:r>
            <a:r>
              <a:rPr lang="ko-KR" altLang="en-US" dirty="0"/>
              <a:t>이 리스트에 있다면</a:t>
            </a:r>
            <a:r>
              <a:rPr lang="en-US" altLang="ko-KR" dirty="0"/>
              <a:t>, 6</a:t>
            </a:r>
            <a:r>
              <a:rPr lang="ko-KR" altLang="en-US" dirty="0"/>
              <a:t>은 짝이 있습니다</a:t>
            </a:r>
            <a:r>
              <a:rPr lang="en-US" altLang="ko-KR" dirty="0"/>
              <a:t>. </a:t>
            </a:r>
            <a:r>
              <a:rPr lang="en-US" altLang="ko-KR" dirty="0" err="1"/>
              <a:t>nums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짝이 있는 수의 개수를 </a:t>
            </a:r>
            <a:r>
              <a:rPr lang="en-US" altLang="ko-KR" dirty="0"/>
              <a:t>return </a:t>
            </a:r>
            <a:r>
              <a:rPr lang="ko-KR" altLang="en-US" dirty="0"/>
              <a:t>하는 </a:t>
            </a:r>
            <a:r>
              <a:rPr lang="en-US" altLang="ko-KR" dirty="0"/>
              <a:t>solution() </a:t>
            </a:r>
            <a:r>
              <a:rPr lang="ko-KR" altLang="en-US" dirty="0"/>
              <a:t>함수입니다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아래 코드는 정답처럼 보이지만 한 줄이 잘못되어 결과가 틀립니다</a:t>
            </a:r>
            <a:r>
              <a:rPr lang="en-US" altLang="ko-KR" dirty="0"/>
              <a:t>. </a:t>
            </a:r>
            <a:r>
              <a:rPr lang="ko-KR" altLang="en-US" dirty="0"/>
              <a:t>한 줄만 수정해서 올바르게 동작하도록 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FC6162-EE2C-294C-2839-3FC85FF7B367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D0A63-FC98-B3CC-C425-743B8D1E9689}"/>
              </a:ext>
            </a:extLst>
          </p:cNvPr>
          <p:cNvSpPr txBox="1"/>
          <p:nvPr/>
        </p:nvSpPr>
        <p:spPr>
          <a:xfrm>
            <a:off x="1839812" y="1185023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11</a:t>
            </a:r>
            <a:endParaRPr kumimoji="1" lang="en-US" altLang="ko-KR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3D929C-23D4-C6B2-1FED-3F6038555A5C}"/>
              </a:ext>
            </a:extLst>
          </p:cNvPr>
          <p:cNvSpPr txBox="1"/>
          <p:nvPr/>
        </p:nvSpPr>
        <p:spPr>
          <a:xfrm>
            <a:off x="1636015" y="3425248"/>
            <a:ext cx="4240530" cy="286232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(programs)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used_tv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program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programs: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range(program[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program[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used_tv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used_tv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used_tv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= answer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programs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solution(programs)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D5D32-C8DF-C392-01A8-6769005491CB}"/>
              </a:ext>
            </a:extLst>
          </p:cNvPr>
          <p:cNvSpPr txBox="1"/>
          <p:nvPr/>
        </p:nvSpPr>
        <p:spPr>
          <a:xfrm>
            <a:off x="1765136" y="2388983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programs = [[1, 6], [3, 5], [2, 8]]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20DAA-1D03-E8DC-55E4-F139864EBAC1}"/>
              </a:ext>
            </a:extLst>
          </p:cNvPr>
          <p:cNvSpPr txBox="1"/>
          <p:nvPr/>
        </p:nvSpPr>
        <p:spPr>
          <a:xfrm>
            <a:off x="2431002" y="285438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256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AC08C-05CF-F81C-CA21-4FB5506F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52225EB-3D0C-D504-1855-A3955BC205AA}"/>
              </a:ext>
            </a:extLst>
          </p:cNvPr>
          <p:cNvSpPr txBox="1">
            <a:spLocks/>
          </p:cNvSpPr>
          <p:nvPr/>
        </p:nvSpPr>
        <p:spPr>
          <a:xfrm>
            <a:off x="654709" y="1220588"/>
            <a:ext cx="4994251" cy="759560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함수 작성 가이드라인</a:t>
            </a:r>
            <a:r>
              <a:rPr lang="en-US" altLang="ko-KR" dirty="0"/>
              <a:t>]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함수 이름</a:t>
            </a:r>
            <a:r>
              <a:rPr lang="en-US" altLang="ko-KR" sz="1100" dirty="0"/>
              <a:t>: solution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매개변수</a:t>
            </a:r>
            <a:r>
              <a:rPr lang="en-US" altLang="ko-KR" sz="1100" dirty="0"/>
              <a:t>: </a:t>
            </a:r>
            <a:r>
              <a:rPr lang="en-US" altLang="ko-KR" sz="1100" dirty="0" err="1"/>
              <a:t>nums</a:t>
            </a:r>
            <a:r>
              <a:rPr lang="en-US" altLang="ko-KR" sz="1100" dirty="0"/>
              <a:t> (</a:t>
            </a:r>
            <a:r>
              <a:rPr lang="ko-KR" altLang="en-US" sz="1100" dirty="0"/>
              <a:t>정수 리스트</a:t>
            </a:r>
            <a:r>
              <a:rPr lang="en-US" altLang="ko-KR" sz="1100" dirty="0"/>
              <a:t>)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/>
              <a:t>return: </a:t>
            </a:r>
            <a:r>
              <a:rPr lang="ko-KR" altLang="en-US" sz="1100" dirty="0"/>
              <a:t>짝이 있는 수의 개수</a:t>
            </a:r>
            <a:r>
              <a:rPr lang="en-US" altLang="ko-KR" sz="1100" dirty="0"/>
              <a:t>(</a:t>
            </a:r>
            <a:r>
              <a:rPr lang="ko-KR" altLang="en-US" sz="1100" dirty="0"/>
              <a:t>정수</a:t>
            </a:r>
            <a:r>
              <a:rPr lang="en-US" altLang="ko-KR" sz="1100" dirty="0"/>
              <a:t>)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] 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   </a:t>
            </a:r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  <a:p>
            <a:pPr marL="0" indent="0">
              <a:lnSpc>
                <a:spcPts val="11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B5843E-A023-3581-2BFF-A4C99BDE8750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F7CC0-7B62-F299-9839-A7B576452364}"/>
              </a:ext>
            </a:extLst>
          </p:cNvPr>
          <p:cNvSpPr txBox="1"/>
          <p:nvPr/>
        </p:nvSpPr>
        <p:spPr>
          <a:xfrm>
            <a:off x="1457282" y="2320982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[4, 8, 3, 6, 7]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0C5D9-8F08-3B30-F720-77BD968BEB13}"/>
              </a:ext>
            </a:extLst>
          </p:cNvPr>
          <p:cNvSpPr txBox="1"/>
          <p:nvPr/>
        </p:nvSpPr>
        <p:spPr>
          <a:xfrm>
            <a:off x="1247870" y="3343566"/>
            <a:ext cx="4240530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answer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    answer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6A52B-A592-17F3-F8BA-9D31D41BC77B}"/>
              </a:ext>
            </a:extLst>
          </p:cNvPr>
          <p:cNvSpPr txBox="1"/>
          <p:nvPr/>
        </p:nvSpPr>
        <p:spPr>
          <a:xfrm>
            <a:off x="2042382" y="2822124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0945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3F6F-BB06-7EC2-776E-747808F0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815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D13E-6394-71DF-35CD-A8014858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387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sz="2000" dirty="0"/>
              <a:t>COS PRO 2</a:t>
            </a:r>
            <a:r>
              <a:rPr lang="ko-KR" altLang="en-US" sz="2000" dirty="0"/>
              <a:t>급 기출문제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7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1232700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9EBF-5E8B-4AB7-1300-B9FED15C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F5EFEE68-3930-732F-C4F3-8050E7738478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1]</a:t>
            </a:r>
            <a:r>
              <a:rPr lang="ko-KR" altLang="en-US" dirty="0"/>
              <a:t> </a:t>
            </a:r>
            <a:r>
              <a:rPr lang="en-US" altLang="ko-KR" dirty="0"/>
              <a:t>A </a:t>
            </a:r>
            <a:r>
              <a:rPr lang="ko-KR" altLang="en-US" dirty="0"/>
              <a:t>학교에서는 단체 티셔츠를 주문하기 위해 학생별로 원하는 티셔츠 사이즈를 조사했습니다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선택할 수 있는 티셔츠 사이즈는 작은 순서대로 </a:t>
            </a:r>
            <a:r>
              <a:rPr lang="en-US" altLang="ko-KR" dirty="0"/>
              <a:t>"XS", "S", "M", "L", "XL", "XXL" </a:t>
            </a:r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종류가 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학생별로 원하는 티셔츠 사이즈 조사 결과가 들어있는 배열 </a:t>
            </a:r>
            <a:r>
              <a:rPr lang="en-US" altLang="ko-KR" dirty="0" err="1"/>
              <a:t>shirtSize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사이즈별로 티셔츠가 몇 벌씩 필요한지 가장 작은 사이즈부터 순서대로 배열에 담아 </a:t>
            </a:r>
            <a:r>
              <a:rPr lang="en-US" altLang="ko-KR" dirty="0"/>
              <a:t>return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학생별로 원하는 사이즈 조사 결과가 들어있는 배열 </a:t>
            </a:r>
            <a:r>
              <a:rPr lang="en-US" altLang="ko-KR" dirty="0" err="1"/>
              <a:t>shirtSize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shirtSize</a:t>
            </a:r>
            <a:r>
              <a:rPr lang="ko-KR" altLang="en-US" dirty="0"/>
              <a:t>의 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shirtSize</a:t>
            </a:r>
            <a:r>
              <a:rPr lang="ko-KR" altLang="en-US" dirty="0"/>
              <a:t>에는 티셔츠를 나타내는 문자열 </a:t>
            </a:r>
            <a:r>
              <a:rPr lang="en-US" altLang="ko-KR" dirty="0"/>
              <a:t>"XS", "S", "L", "L", "XL", "S"</a:t>
            </a:r>
            <a:r>
              <a:rPr lang="ko-KR" altLang="en-US" dirty="0"/>
              <a:t>만 들어있습니다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티셔츠 사이즈별로 몇 벌씩 필요한지 가장 작은 사이즈부터 순서대로 배열에 담아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return </a:t>
            </a:r>
            <a:r>
              <a:rPr lang="ko-KR" altLang="en-US" dirty="0"/>
              <a:t>하는 배열에는</a:t>
            </a:r>
            <a:r>
              <a:rPr lang="en-US" altLang="ko-KR" dirty="0"/>
              <a:t>"XS" </a:t>
            </a:r>
            <a:r>
              <a:rPr lang="ko-KR" altLang="en-US" dirty="0"/>
              <a:t>개수</a:t>
            </a:r>
            <a:r>
              <a:rPr lang="en-US" altLang="ko-KR" dirty="0"/>
              <a:t>, "S" </a:t>
            </a:r>
            <a:r>
              <a:rPr lang="ko-KR" altLang="en-US" dirty="0"/>
              <a:t>개수</a:t>
            </a:r>
            <a:r>
              <a:rPr lang="en-US" altLang="ko-KR" dirty="0"/>
              <a:t>, "M" </a:t>
            </a:r>
            <a:r>
              <a:rPr lang="ko-KR" altLang="en-US" dirty="0"/>
              <a:t>개수</a:t>
            </a:r>
            <a:r>
              <a:rPr lang="en-US" altLang="ko-KR" dirty="0"/>
              <a:t>, "L" </a:t>
            </a:r>
            <a:r>
              <a:rPr lang="ko-KR" altLang="en-US" dirty="0"/>
              <a:t>개수</a:t>
            </a:r>
            <a:r>
              <a:rPr lang="en-US" altLang="ko-KR" dirty="0"/>
              <a:t>, "XL" </a:t>
            </a:r>
            <a:r>
              <a:rPr lang="ko-KR" altLang="en-US" dirty="0"/>
              <a:t>개수</a:t>
            </a:r>
            <a:r>
              <a:rPr lang="en-US" altLang="ko-KR" dirty="0"/>
              <a:t>, "XXL" </a:t>
            </a:r>
            <a:r>
              <a:rPr lang="ko-KR" altLang="en-US" dirty="0"/>
              <a:t>개수순서로 들어있어야 합니다</a:t>
            </a: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 err="1"/>
              <a:t>shirtSize</a:t>
            </a:r>
            <a:r>
              <a:rPr lang="en-US" altLang="ko-KR" b="1" dirty="0"/>
              <a:t>     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F84B5E-B826-8E90-081C-85D3904E060A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32858-CFDD-F69A-0648-AF16D1409FFD}"/>
              </a:ext>
            </a:extLst>
          </p:cNvPr>
          <p:cNvSpPr txBox="1"/>
          <p:nvPr/>
        </p:nvSpPr>
        <p:spPr>
          <a:xfrm>
            <a:off x="736543" y="606171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["XS", "S", "L", "L", "XL", "S“, “XXL”]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A45F4-713D-16FA-4C77-627967A7466C}"/>
              </a:ext>
            </a:extLst>
          </p:cNvPr>
          <p:cNvSpPr txBox="1"/>
          <p:nvPr/>
        </p:nvSpPr>
        <p:spPr>
          <a:xfrm>
            <a:off x="3393379" y="606171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2, 0, 2, 1, 1]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B52FA-CE70-2D3F-8A3C-24C6E5033D92}"/>
              </a:ext>
            </a:extLst>
          </p:cNvPr>
          <p:cNvSpPr txBox="1"/>
          <p:nvPr/>
        </p:nvSpPr>
        <p:spPr>
          <a:xfrm>
            <a:off x="1282446" y="6967879"/>
            <a:ext cx="4258818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shirt_size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##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. ##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shirt_size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shirt_size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E3441BB-4F5F-BD95-47B4-94A52169843A}"/>
              </a:ext>
            </a:extLst>
          </p:cNvPr>
          <p:cNvCxnSpPr>
            <a:cxnSpLocks/>
          </p:cNvCxnSpPr>
          <p:nvPr/>
        </p:nvCxnSpPr>
        <p:spPr>
          <a:xfrm>
            <a:off x="710682" y="274320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E785698-C324-D240-2F8A-D06971E71432}"/>
              </a:ext>
            </a:extLst>
          </p:cNvPr>
          <p:cNvCxnSpPr>
            <a:cxnSpLocks/>
          </p:cNvCxnSpPr>
          <p:nvPr/>
        </p:nvCxnSpPr>
        <p:spPr>
          <a:xfrm>
            <a:off x="710682" y="404164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6E61C6F-CF27-D982-9DF5-94E2FB13419C}"/>
              </a:ext>
            </a:extLst>
          </p:cNvPr>
          <p:cNvCxnSpPr>
            <a:cxnSpLocks/>
          </p:cNvCxnSpPr>
          <p:nvPr/>
        </p:nvCxnSpPr>
        <p:spPr>
          <a:xfrm>
            <a:off x="710682" y="52160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119AA00-AA8D-2FAE-9160-B774F26770C1}"/>
              </a:ext>
            </a:extLst>
          </p:cNvPr>
          <p:cNvCxnSpPr>
            <a:cxnSpLocks/>
          </p:cNvCxnSpPr>
          <p:nvPr/>
        </p:nvCxnSpPr>
        <p:spPr>
          <a:xfrm>
            <a:off x="710682" y="58896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9FDCF4A-C874-2575-FEB8-C9DF11F48CA6}"/>
              </a:ext>
            </a:extLst>
          </p:cNvPr>
          <p:cNvCxnSpPr>
            <a:cxnSpLocks/>
          </p:cNvCxnSpPr>
          <p:nvPr/>
        </p:nvCxnSpPr>
        <p:spPr>
          <a:xfrm>
            <a:off x="710682" y="665467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707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FFA6-357E-E831-F9FA-1FFC5EE4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2881DCE-3F57-15D6-D45C-034825DB588E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2]</a:t>
            </a:r>
            <a:r>
              <a:rPr lang="ko-KR" altLang="en-US" dirty="0"/>
              <a:t> </a:t>
            </a:r>
            <a:r>
              <a:rPr lang="en-US" altLang="ko-KR" dirty="0"/>
              <a:t>A </a:t>
            </a:r>
            <a:r>
              <a:rPr lang="ko-KR" altLang="en-US" dirty="0"/>
              <a:t>쇼핑몰에서는 회원 등급에 따라 할인 서비스를 제공합니다</a:t>
            </a:r>
            <a:r>
              <a:rPr lang="en-US" altLang="ko-KR" dirty="0"/>
              <a:t>.</a:t>
            </a:r>
            <a:r>
              <a:rPr lang="ko-KR" altLang="en-US" dirty="0"/>
              <a:t>회원 등급에 따른 할인율은 다음과 같습니다</a:t>
            </a:r>
            <a:r>
              <a:rPr lang="en-US" altLang="ko-KR" dirty="0"/>
              <a:t>. (S = </a:t>
            </a:r>
            <a:r>
              <a:rPr lang="ko-KR" altLang="en-US" dirty="0"/>
              <a:t>실버</a:t>
            </a:r>
            <a:r>
              <a:rPr lang="en-US" altLang="ko-KR" dirty="0"/>
              <a:t>, G = </a:t>
            </a:r>
            <a:r>
              <a:rPr lang="ko-KR" altLang="en-US" dirty="0"/>
              <a:t>골드</a:t>
            </a:r>
            <a:r>
              <a:rPr lang="en-US" altLang="ko-KR" dirty="0"/>
              <a:t>, V = VIP)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상품의 가격 </a:t>
            </a:r>
            <a:r>
              <a:rPr lang="en-US" altLang="ko-KR" dirty="0"/>
              <a:t>price</a:t>
            </a:r>
            <a:r>
              <a:rPr lang="ko-KR" altLang="en-US" dirty="0"/>
              <a:t>와 구매자의 회원 등급을 나타내는 문자열 </a:t>
            </a:r>
            <a:r>
              <a:rPr lang="en-US" altLang="ko-KR" dirty="0"/>
              <a:t>grade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할인 서비스를 적용한 가격을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상품의 가격 </a:t>
            </a:r>
            <a:r>
              <a:rPr lang="en-US" altLang="ko-KR" dirty="0"/>
              <a:t>price</a:t>
            </a:r>
            <a:r>
              <a:rPr lang="ko-KR" altLang="en-US" dirty="0"/>
              <a:t>와 회원 등급 </a:t>
            </a:r>
            <a:r>
              <a:rPr lang="en-US" altLang="ko-KR" dirty="0"/>
              <a:t>grade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price</a:t>
            </a:r>
            <a:r>
              <a:rPr lang="ko-KR" altLang="en-US" dirty="0"/>
              <a:t>는 </a:t>
            </a:r>
            <a:r>
              <a:rPr lang="en-US" altLang="ko-KR" dirty="0"/>
              <a:t>100 </a:t>
            </a:r>
            <a:r>
              <a:rPr lang="ko-KR" altLang="en-US" dirty="0"/>
              <a:t>이상 </a:t>
            </a:r>
            <a:r>
              <a:rPr lang="en-US" altLang="ko-KR" dirty="0"/>
              <a:t>100,000 </a:t>
            </a:r>
            <a:r>
              <a:rPr lang="ko-KR" altLang="en-US" dirty="0"/>
              <a:t>이하의 </a:t>
            </a:r>
            <a:r>
              <a:rPr lang="en-US" altLang="ko-KR" dirty="0"/>
              <a:t>100</a:t>
            </a:r>
            <a:r>
              <a:rPr lang="ko-KR" altLang="en-US" dirty="0"/>
              <a:t>단위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grade</a:t>
            </a:r>
            <a:r>
              <a:rPr lang="ko-KR" altLang="en-US" dirty="0"/>
              <a:t>는 </a:t>
            </a:r>
            <a:r>
              <a:rPr lang="en-US" altLang="ko-KR" dirty="0"/>
              <a:t>"S", "G", "V" </a:t>
            </a:r>
            <a:r>
              <a:rPr lang="ko-KR" altLang="en-US" dirty="0"/>
              <a:t>세 가지 중 하나입니다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할인한 가격을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작성해보세요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FEAECBF-E37E-B950-8AE9-84DE4D456880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C807F-5B77-6713-8385-C909B8075E67}"/>
              </a:ext>
            </a:extLst>
          </p:cNvPr>
          <p:cNvSpPr txBox="1"/>
          <p:nvPr/>
        </p:nvSpPr>
        <p:spPr>
          <a:xfrm>
            <a:off x="1597494" y="7504005"/>
            <a:ext cx="3122334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taekwondo = 27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running = 63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shooting = [9, 10, 8, 10, 10, 10, 7, 10, 10, 10]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15BCE8-34A3-55EC-A6DD-54F95BA73CF0}"/>
              </a:ext>
            </a:extLst>
          </p:cNvPr>
          <p:cNvSpPr txBox="1"/>
          <p:nvPr/>
        </p:nvSpPr>
        <p:spPr>
          <a:xfrm>
            <a:off x="1597494" y="6716342"/>
            <a:ext cx="3944442" cy="215443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(price, grade)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5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price1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grade1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"V"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solution(price1, grade1)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5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price2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96900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grade2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solution(price2, grade2)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ko-KR" altLang="en-US" sz="10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2A443E9-7BA2-C495-619C-873B2ADB0D5E}"/>
              </a:ext>
            </a:extLst>
          </p:cNvPr>
          <p:cNvGraphicFramePr>
            <a:graphicFrameLocks noGrp="1"/>
          </p:cNvGraphicFramePr>
          <p:nvPr/>
        </p:nvGraphicFramePr>
        <p:xfrm>
          <a:off x="1567222" y="1701840"/>
          <a:ext cx="3152606" cy="975360"/>
        </p:xfrm>
        <a:graphic>
          <a:graphicData uri="http://schemas.openxmlformats.org/drawingml/2006/table">
            <a:tbl>
              <a:tblPr/>
              <a:tblGrid>
                <a:gridCol w="1576303">
                  <a:extLst>
                    <a:ext uri="{9D8B030D-6E8A-4147-A177-3AD203B41FA5}">
                      <a16:colId xmlns:a16="http://schemas.microsoft.com/office/drawing/2014/main" val="980549736"/>
                    </a:ext>
                  </a:extLst>
                </a:gridCol>
                <a:gridCol w="1576303">
                  <a:extLst>
                    <a:ext uri="{9D8B030D-6E8A-4147-A177-3AD203B41FA5}">
                      <a16:colId xmlns:a16="http://schemas.microsoft.com/office/drawing/2014/main" val="1109773991"/>
                    </a:ext>
                  </a:extLst>
                </a:gridCol>
              </a:tblGrid>
              <a:tr h="138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등급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할인율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133652"/>
                  </a:ext>
                </a:extLst>
              </a:tr>
              <a:tr h="138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"S"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142920"/>
                  </a:ext>
                </a:extLst>
              </a:tr>
              <a:tr h="138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"G"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72144"/>
                  </a:ext>
                </a:extLst>
              </a:tr>
              <a:tr h="138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"V"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491215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4C14C3B-36B9-D986-EB53-9F4F2A298CC5}"/>
              </a:ext>
            </a:extLst>
          </p:cNvPr>
          <p:cNvCxnSpPr>
            <a:cxnSpLocks/>
          </p:cNvCxnSpPr>
          <p:nvPr/>
        </p:nvCxnSpPr>
        <p:spPr>
          <a:xfrm>
            <a:off x="1081067" y="34148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60C57A9-7B7C-4ED3-98E3-5D188C7F5C18}"/>
              </a:ext>
            </a:extLst>
          </p:cNvPr>
          <p:cNvCxnSpPr>
            <a:cxnSpLocks/>
          </p:cNvCxnSpPr>
          <p:nvPr/>
        </p:nvCxnSpPr>
        <p:spPr>
          <a:xfrm>
            <a:off x="1081067" y="467563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6F4642C-245D-508C-C1FB-8464657F3854}"/>
              </a:ext>
            </a:extLst>
          </p:cNvPr>
          <p:cNvCxnSpPr>
            <a:cxnSpLocks/>
          </p:cNvCxnSpPr>
          <p:nvPr/>
        </p:nvCxnSpPr>
        <p:spPr>
          <a:xfrm>
            <a:off x="1081067" y="543153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F22A7ED-2ADD-2BAC-006A-310B96AA7E37}"/>
              </a:ext>
            </a:extLst>
          </p:cNvPr>
          <p:cNvGraphicFramePr>
            <a:graphicFrameLocks noGrp="1"/>
          </p:cNvGraphicFramePr>
          <p:nvPr/>
        </p:nvGraphicFramePr>
        <p:xfrm>
          <a:off x="1597494" y="5660051"/>
          <a:ext cx="3956559" cy="731520"/>
        </p:xfrm>
        <a:graphic>
          <a:graphicData uri="http://schemas.openxmlformats.org/drawingml/2006/table">
            <a:tbl>
              <a:tblPr/>
              <a:tblGrid>
                <a:gridCol w="1318853">
                  <a:extLst>
                    <a:ext uri="{9D8B030D-6E8A-4147-A177-3AD203B41FA5}">
                      <a16:colId xmlns:a16="http://schemas.microsoft.com/office/drawing/2014/main" val="3970327756"/>
                    </a:ext>
                  </a:extLst>
                </a:gridCol>
                <a:gridCol w="1318853">
                  <a:extLst>
                    <a:ext uri="{9D8B030D-6E8A-4147-A177-3AD203B41FA5}">
                      <a16:colId xmlns:a16="http://schemas.microsoft.com/office/drawing/2014/main" val="2247047862"/>
                    </a:ext>
                  </a:extLst>
                </a:gridCol>
                <a:gridCol w="1318853">
                  <a:extLst>
                    <a:ext uri="{9D8B030D-6E8A-4147-A177-3AD203B41FA5}">
                      <a16:colId xmlns:a16="http://schemas.microsoft.com/office/drawing/2014/main" val="934351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price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grade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return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573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"V"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2125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33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96900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"S"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92055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335866"/>
                  </a:ext>
                </a:extLst>
              </a:tr>
            </a:tbl>
          </a:graphicData>
        </a:graphic>
      </p:graphicFrame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A5B6A5A-5696-7808-1D04-A61FA8A069CD}"/>
              </a:ext>
            </a:extLst>
          </p:cNvPr>
          <p:cNvCxnSpPr>
            <a:cxnSpLocks/>
          </p:cNvCxnSpPr>
          <p:nvPr/>
        </p:nvCxnSpPr>
        <p:spPr>
          <a:xfrm>
            <a:off x="1081067" y="65928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15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DA2E-818A-1089-F9CF-67C4D4A6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3ED2DD16-AD8C-DFE3-BF91-B22D88160BA5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68719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3]</a:t>
            </a:r>
            <a:r>
              <a:rPr lang="ko-KR" altLang="en-US" dirty="0"/>
              <a:t> 시작 날짜와 끝 날짜가 주어질 때</a:t>
            </a:r>
            <a:r>
              <a:rPr lang="en-US" altLang="ko-KR" dirty="0"/>
              <a:t>, </a:t>
            </a:r>
            <a:r>
              <a:rPr lang="ko-KR" altLang="en-US" dirty="0"/>
              <a:t>두 날짜가 며칠만큼 떨어져 있는지</a:t>
            </a:r>
            <a:r>
              <a:rPr lang="en-US" altLang="ko-KR" dirty="0"/>
              <a:t>(D-day)</a:t>
            </a:r>
            <a:r>
              <a:rPr lang="ko-KR" altLang="en-US" dirty="0"/>
              <a:t>를 구하려고 합니다</a:t>
            </a:r>
            <a:r>
              <a:rPr lang="en-US" altLang="ko-KR" dirty="0"/>
              <a:t>. </a:t>
            </a:r>
            <a:r>
              <a:rPr lang="ko-KR" altLang="en-US" dirty="0"/>
              <a:t>이를 위해 다음과 같이 </a:t>
            </a:r>
            <a:r>
              <a:rPr lang="en-US" altLang="ko-KR" dirty="0"/>
              <a:t>3</a:t>
            </a:r>
            <a:r>
              <a:rPr lang="ko-KR" altLang="en-US" dirty="0"/>
              <a:t>단계로 간단한 프로그램 구조를 작성했습니다</a:t>
            </a:r>
            <a:r>
              <a:rPr lang="en-US" altLang="ko-KR" dirty="0"/>
              <a:t>. 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윤년은 고려하지 않습니다</a:t>
            </a:r>
            <a:r>
              <a:rPr lang="en-US" altLang="ko-KR" dirty="0"/>
              <a:t>.)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. </a:t>
            </a:r>
            <a:r>
              <a:rPr lang="ko-KR" altLang="en-US" dirty="0"/>
              <a:t>시작 날짜가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일부터 며칠만큼 떨어져 있는지 구합니다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. </a:t>
            </a:r>
            <a:r>
              <a:rPr lang="ko-KR" altLang="en-US" dirty="0"/>
              <a:t>끝 날짜가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일부터 며칠만큼 떨어져 있는지 구합니다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. (2</a:t>
            </a:r>
            <a:r>
              <a:rPr lang="ko-KR" altLang="en-US" dirty="0"/>
              <a:t>단계에서 구한 날짜</a:t>
            </a:r>
            <a:r>
              <a:rPr lang="en-US" altLang="ko-KR" dirty="0"/>
              <a:t>) - (1</a:t>
            </a:r>
            <a:r>
              <a:rPr lang="ko-KR" altLang="en-US" dirty="0"/>
              <a:t>단계에서 구한 날짜</a:t>
            </a:r>
            <a:r>
              <a:rPr lang="en-US" altLang="ko-KR" dirty="0"/>
              <a:t>)</a:t>
            </a:r>
            <a:r>
              <a:rPr lang="ko-KR" altLang="en-US" dirty="0"/>
              <a:t>를 구합니다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시작 날짜의 월</a:t>
            </a:r>
            <a:r>
              <a:rPr lang="en-US" altLang="ko-KR" dirty="0"/>
              <a:t>, </a:t>
            </a:r>
            <a:r>
              <a:rPr lang="ko-KR" altLang="en-US" dirty="0"/>
              <a:t>일을 나타내는 </a:t>
            </a:r>
            <a:r>
              <a:rPr lang="en-US" altLang="ko-KR" dirty="0" err="1"/>
              <a:t>startMonth</a:t>
            </a:r>
            <a:r>
              <a:rPr lang="en-US" altLang="ko-KR" dirty="0"/>
              <a:t>, </a:t>
            </a:r>
            <a:r>
              <a:rPr lang="en-US" altLang="ko-KR" dirty="0" err="1"/>
              <a:t>startDay</a:t>
            </a:r>
            <a:r>
              <a:rPr lang="en-US" altLang="ko-KR" dirty="0"/>
              <a:t>, </a:t>
            </a:r>
            <a:r>
              <a:rPr lang="ko-KR" altLang="en-US" dirty="0"/>
              <a:t>끝 날짜의 월</a:t>
            </a:r>
            <a:r>
              <a:rPr lang="en-US" altLang="ko-KR" dirty="0"/>
              <a:t>, </a:t>
            </a:r>
            <a:r>
              <a:rPr lang="ko-KR" altLang="en-US" dirty="0"/>
              <a:t>일을 나타내는 </a:t>
            </a:r>
            <a:r>
              <a:rPr lang="en-US" altLang="ko-KR" dirty="0" err="1"/>
              <a:t>endMonth</a:t>
            </a:r>
            <a:r>
              <a:rPr lang="en-US" altLang="ko-KR" dirty="0"/>
              <a:t>, </a:t>
            </a:r>
            <a:r>
              <a:rPr lang="en-US" altLang="ko-KR" dirty="0" err="1"/>
              <a:t>endDay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시작 날짜와 끝 날짜가 며칠만큼 떨어져 있는지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작성해보세요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시작 날짜의 월</a:t>
            </a:r>
            <a:r>
              <a:rPr lang="en-US" altLang="ko-KR" dirty="0"/>
              <a:t>, </a:t>
            </a:r>
            <a:r>
              <a:rPr lang="ko-KR" altLang="en-US" dirty="0"/>
              <a:t>일을 나타내는 </a:t>
            </a:r>
            <a:r>
              <a:rPr lang="en-US" altLang="ko-KR" dirty="0" err="1"/>
              <a:t>startMonth</a:t>
            </a:r>
            <a:r>
              <a:rPr lang="en-US" altLang="ko-KR" dirty="0"/>
              <a:t>, </a:t>
            </a:r>
            <a:r>
              <a:rPr lang="en-US" altLang="ko-KR" dirty="0" err="1"/>
              <a:t>startDay</a:t>
            </a:r>
            <a:r>
              <a:rPr lang="en-US" altLang="ko-KR" dirty="0"/>
              <a:t>, </a:t>
            </a:r>
            <a:r>
              <a:rPr lang="ko-KR" altLang="en-US" dirty="0"/>
              <a:t>끝 날짜의 월</a:t>
            </a:r>
            <a:r>
              <a:rPr lang="en-US" altLang="ko-KR" dirty="0"/>
              <a:t>, </a:t>
            </a:r>
            <a:r>
              <a:rPr lang="ko-KR" altLang="en-US" dirty="0"/>
              <a:t>일을 나타내는 </a:t>
            </a:r>
            <a:r>
              <a:rPr lang="en-US" altLang="ko-KR" dirty="0" err="1"/>
              <a:t>endMonth</a:t>
            </a:r>
            <a:r>
              <a:rPr lang="en-US" altLang="ko-KR" dirty="0"/>
              <a:t>, </a:t>
            </a:r>
            <a:r>
              <a:rPr lang="en-US" altLang="ko-KR" dirty="0" err="1"/>
              <a:t>endDay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잘못된 날짜가 주어지는 경우는 없습니다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끝 날짜는 항상 시작 날짜보다 뒤에 있는 날이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끝 날짜가 다음 해로 넘어가는 경우는 주어지지 않습니다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startMonth</a:t>
            </a:r>
            <a:r>
              <a:rPr lang="en-US" altLang="ko-KR" dirty="0"/>
              <a:t> &lt;= </a:t>
            </a:r>
            <a:r>
              <a:rPr lang="en-US" altLang="ko-KR" dirty="0" err="1"/>
              <a:t>endMonth</a:t>
            </a:r>
            <a:r>
              <a:rPr lang="ko-KR" altLang="en-US" dirty="0"/>
              <a:t>를 항상 만족합니다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startMonth</a:t>
            </a:r>
            <a:r>
              <a:rPr lang="en-US" altLang="ko-KR" dirty="0"/>
              <a:t> == </a:t>
            </a:r>
            <a:r>
              <a:rPr lang="en-US" altLang="ko-KR" dirty="0" err="1"/>
              <a:t>endMonth</a:t>
            </a:r>
            <a:r>
              <a:rPr lang="ko-KR" altLang="en-US" dirty="0"/>
              <a:t>라면 </a:t>
            </a:r>
            <a:r>
              <a:rPr lang="en-US" altLang="ko-KR" dirty="0" err="1"/>
              <a:t>startDay</a:t>
            </a:r>
            <a:r>
              <a:rPr lang="en-US" altLang="ko-KR" dirty="0"/>
              <a:t> &lt;= </a:t>
            </a:r>
            <a:r>
              <a:rPr lang="en-US" altLang="ko-KR" dirty="0" err="1"/>
              <a:t>endDay</a:t>
            </a:r>
            <a:r>
              <a:rPr lang="ko-KR" altLang="en-US" dirty="0"/>
              <a:t>를 항상 만족합니다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달의 날짜 수는 </a:t>
            </a:r>
            <a:r>
              <a:rPr lang="en-US" altLang="ko-KR" dirty="0"/>
              <a:t>1</a:t>
            </a:r>
            <a:r>
              <a:rPr lang="ko-KR" altLang="en-US" dirty="0"/>
              <a:t>월부터 순서대로</a:t>
            </a:r>
            <a:r>
              <a:rPr lang="en-US" altLang="ko-KR" dirty="0"/>
              <a:t>[31, 28, 31, 30, 31, 30, 31, 31, 30, 31, 30, 31] 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윤년은 고려하지 않습니다</a:t>
            </a:r>
            <a:r>
              <a:rPr lang="en-US" altLang="ko-KR" dirty="0"/>
              <a:t>..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시작 날짜와 끝 날짜가 며칠만큼 떨어져 있는지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시작 날짜는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일이고 끝 날짜는 </a:t>
            </a:r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일입니다</a:t>
            </a:r>
            <a:r>
              <a:rPr lang="en-US" altLang="ko-KR" dirty="0"/>
              <a:t>. 1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일은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일부터 </a:t>
            </a:r>
            <a:r>
              <a:rPr lang="en-US" altLang="ko-KR" dirty="0"/>
              <a:t>1</a:t>
            </a:r>
            <a:r>
              <a:rPr lang="ko-KR" altLang="en-US" dirty="0"/>
              <a:t>일만큼 지난 날입니다</a:t>
            </a:r>
            <a:r>
              <a:rPr lang="en-US" altLang="ko-KR" dirty="0"/>
              <a:t>. 2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일은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일부터 </a:t>
            </a:r>
            <a:r>
              <a:rPr lang="en-US" altLang="ko-KR" dirty="0"/>
              <a:t>32</a:t>
            </a:r>
            <a:r>
              <a:rPr lang="ko-KR" altLang="en-US" dirty="0"/>
              <a:t>일만큼 지난 날입니다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32 - 1 = 31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따라서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일과 </a:t>
            </a:r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일은 </a:t>
            </a:r>
            <a:r>
              <a:rPr lang="en-US" altLang="ko-KR" dirty="0"/>
              <a:t>31</a:t>
            </a:r>
            <a:r>
              <a:rPr lang="ko-KR" altLang="en-US" dirty="0"/>
              <a:t>일만큼 떨어져 있습니다</a:t>
            </a:r>
            <a:r>
              <a:rPr lang="en-US" altLang="ko-KR" dirty="0"/>
              <a:t>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E2DA729-2865-DC25-2A05-6A992FDBEE79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BF142A-6478-2A3A-578C-FAE8E3C9D07F}"/>
              </a:ext>
            </a:extLst>
          </p:cNvPr>
          <p:cNvCxnSpPr>
            <a:cxnSpLocks/>
          </p:cNvCxnSpPr>
          <p:nvPr/>
        </p:nvCxnSpPr>
        <p:spPr>
          <a:xfrm>
            <a:off x="710682" y="320040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A5E237F-2A6B-0B8B-914C-29CC1C3059E0}"/>
              </a:ext>
            </a:extLst>
          </p:cNvPr>
          <p:cNvCxnSpPr>
            <a:cxnSpLocks/>
          </p:cNvCxnSpPr>
          <p:nvPr/>
        </p:nvCxnSpPr>
        <p:spPr>
          <a:xfrm>
            <a:off x="710682" y="57494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8D4E967-A6BC-257F-73E3-D15D6BE3AC41}"/>
              </a:ext>
            </a:extLst>
          </p:cNvPr>
          <p:cNvCxnSpPr>
            <a:cxnSpLocks/>
          </p:cNvCxnSpPr>
          <p:nvPr/>
        </p:nvCxnSpPr>
        <p:spPr>
          <a:xfrm>
            <a:off x="710682" y="645350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45405D3-5581-C681-A0CA-7C65D93FD250}"/>
              </a:ext>
            </a:extLst>
          </p:cNvPr>
          <p:cNvGraphicFramePr>
            <a:graphicFrameLocks noGrp="1"/>
          </p:cNvGraphicFramePr>
          <p:nvPr/>
        </p:nvGraphicFramePr>
        <p:xfrm>
          <a:off x="736543" y="6859460"/>
          <a:ext cx="4677955" cy="487680"/>
        </p:xfrm>
        <a:graphic>
          <a:graphicData uri="http://schemas.openxmlformats.org/drawingml/2006/table">
            <a:tbl>
              <a:tblPr/>
              <a:tblGrid>
                <a:gridCol w="935591">
                  <a:extLst>
                    <a:ext uri="{9D8B030D-6E8A-4147-A177-3AD203B41FA5}">
                      <a16:colId xmlns:a16="http://schemas.microsoft.com/office/drawing/2014/main" val="2369612322"/>
                    </a:ext>
                  </a:extLst>
                </a:gridCol>
                <a:gridCol w="935591">
                  <a:extLst>
                    <a:ext uri="{9D8B030D-6E8A-4147-A177-3AD203B41FA5}">
                      <a16:colId xmlns:a16="http://schemas.microsoft.com/office/drawing/2014/main" val="714024845"/>
                    </a:ext>
                  </a:extLst>
                </a:gridCol>
                <a:gridCol w="935591">
                  <a:extLst>
                    <a:ext uri="{9D8B030D-6E8A-4147-A177-3AD203B41FA5}">
                      <a16:colId xmlns:a16="http://schemas.microsoft.com/office/drawing/2014/main" val="3945694415"/>
                    </a:ext>
                  </a:extLst>
                </a:gridCol>
                <a:gridCol w="935591">
                  <a:extLst>
                    <a:ext uri="{9D8B030D-6E8A-4147-A177-3AD203B41FA5}">
                      <a16:colId xmlns:a16="http://schemas.microsoft.com/office/drawing/2014/main" val="3787052928"/>
                    </a:ext>
                  </a:extLst>
                </a:gridCol>
                <a:gridCol w="935591">
                  <a:extLst>
                    <a:ext uri="{9D8B030D-6E8A-4147-A177-3AD203B41FA5}">
                      <a16:colId xmlns:a16="http://schemas.microsoft.com/office/drawing/2014/main" val="1908456748"/>
                    </a:ext>
                  </a:extLst>
                </a:gridCol>
              </a:tblGrid>
              <a:tr h="235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startMonth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startDay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 err="1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endMonth</a:t>
                      </a:r>
                      <a:endParaRPr lang="en-US" sz="10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endDay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return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337299"/>
                  </a:ext>
                </a:extLst>
              </a:tr>
              <a:tr h="235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99717"/>
                  </a:ext>
                </a:extLst>
              </a:tr>
            </a:tbl>
          </a:graphicData>
        </a:graphic>
      </p:graphicFrame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741512C-A288-995B-06BD-7C8515AC956C}"/>
              </a:ext>
            </a:extLst>
          </p:cNvPr>
          <p:cNvCxnSpPr>
            <a:cxnSpLocks/>
          </p:cNvCxnSpPr>
          <p:nvPr/>
        </p:nvCxnSpPr>
        <p:spPr>
          <a:xfrm>
            <a:off x="710682" y="74898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051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EE438-F1EF-C529-0A88-63E8D620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C93E76B1-8041-59C6-529D-F53FD4EEE808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95DD023-1AE8-A269-4B07-651C1E46E797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668019-A56A-53B2-570A-A7F5274A9B6C}"/>
              </a:ext>
            </a:extLst>
          </p:cNvPr>
          <p:cNvSpPr txBox="1"/>
          <p:nvPr/>
        </p:nvSpPr>
        <p:spPr>
          <a:xfrm>
            <a:off x="1597494" y="1260422"/>
            <a:ext cx="4258818" cy="270843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(month, day)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start_month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start_day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end_month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end_day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start_total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start_month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start_day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end_total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end_month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end_day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end_total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start_total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start_month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start_day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end_month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end_day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start_month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start_day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end_month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end_day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747283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07F78-1632-1D9C-2765-6FAA638C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544A85DC-30C6-F303-200B-068792681DD5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4]</a:t>
            </a:r>
            <a:r>
              <a:rPr lang="ko-KR" altLang="en-US" dirty="0"/>
              <a:t> 자연수가 들어있는 배열이 있습니다</a:t>
            </a:r>
            <a:r>
              <a:rPr lang="en-US" altLang="ko-KR" dirty="0"/>
              <a:t>. </a:t>
            </a:r>
            <a:r>
              <a:rPr lang="ko-KR" altLang="en-US" dirty="0"/>
              <a:t>이 배열에서 가장 많이 등장하는 숫자의 개수는 가장 적게 등장하는 숫자 개수의 몇 배인지 구하려고 합니다</a:t>
            </a:r>
            <a:r>
              <a:rPr lang="en-US" altLang="ko-KR" dirty="0"/>
              <a:t>. </a:t>
            </a:r>
            <a:r>
              <a:rPr lang="ko-KR" altLang="en-US" dirty="0"/>
              <a:t>이를 위해 다음과 같이 간단히 프로그램 구조를 작성했습니다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. </a:t>
            </a:r>
            <a:r>
              <a:rPr lang="ko-KR" altLang="en-US" dirty="0"/>
              <a:t>배열에 들어있는 각 자연수의 개수를 셉니다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. </a:t>
            </a:r>
            <a:r>
              <a:rPr lang="ko-KR" altLang="en-US" dirty="0"/>
              <a:t>가장 많이 등장하는 수의 개수를 구합니다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. </a:t>
            </a:r>
            <a:r>
              <a:rPr lang="ko-KR" altLang="en-US" dirty="0"/>
              <a:t>가장 적게 등장하는 수의 개수를 구합니다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. </a:t>
            </a:r>
            <a:r>
              <a:rPr lang="ko-KR" altLang="en-US" dirty="0"/>
              <a:t>가장 많이 등장하는 수가 가장 적게 등장하는 수보다 몇 배 더 </a:t>
            </a:r>
            <a:r>
              <a:rPr lang="ko-KR" altLang="en-US" dirty="0" err="1"/>
              <a:t>많은지</a:t>
            </a:r>
            <a:r>
              <a:rPr lang="ko-KR" altLang="en-US" dirty="0"/>
              <a:t> 구합니다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몇 배 더 </a:t>
            </a:r>
            <a:r>
              <a:rPr lang="ko-KR" altLang="en-US" dirty="0" err="1"/>
              <a:t>많은지</a:t>
            </a:r>
            <a:r>
              <a:rPr lang="ko-KR" altLang="en-US" dirty="0"/>
              <a:t> 구할 때는 소수 부분은 버리고 정수 부분만 구하면 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자연수가 들어있는 배열 </a:t>
            </a:r>
            <a:r>
              <a:rPr lang="en-US" altLang="ko-KR" dirty="0" err="1"/>
              <a:t>arr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가장 많이 등장하는 숫자와 가장 적게 등장하는 숫자의 개수를 비교하여 몇 배 더 </a:t>
            </a:r>
            <a:r>
              <a:rPr lang="ko-KR" altLang="en-US" dirty="0" err="1"/>
              <a:t>많은지</a:t>
            </a:r>
            <a:r>
              <a:rPr lang="ko-KR" altLang="en-US" dirty="0"/>
              <a:t>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자연수가 들어있는 배열 </a:t>
            </a:r>
            <a:r>
              <a:rPr lang="en-US" altLang="ko-KR" dirty="0" err="1"/>
              <a:t>arr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arr</a:t>
            </a:r>
            <a:r>
              <a:rPr lang="ko-KR" altLang="en-US" dirty="0"/>
              <a:t>의 길이는 </a:t>
            </a:r>
            <a:r>
              <a:rPr lang="en-US" altLang="ko-KR" dirty="0"/>
              <a:t>3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arr</a:t>
            </a:r>
            <a:r>
              <a:rPr lang="ko-KR" altLang="en-US" dirty="0"/>
              <a:t>에는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이하의 자연수가 들어있습니다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배열에서 가장 많이 등장하는 숫자가 가장 적게 등장하는 숫자보다 몇 배 이상 </a:t>
            </a:r>
            <a:r>
              <a:rPr lang="ko-KR" altLang="en-US" dirty="0" err="1"/>
              <a:t>많은지</a:t>
            </a:r>
            <a:r>
              <a:rPr lang="ko-KR" altLang="en-US" dirty="0"/>
              <a:t>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가장 많이 들어있는 수의 개수와 가장 적게 들어있는 수의 개수가 같은 경우에는 </a:t>
            </a:r>
            <a:r>
              <a:rPr lang="en-US" altLang="ko-KR" dirty="0"/>
              <a:t>1</a:t>
            </a:r>
            <a:r>
              <a:rPr lang="ko-KR" altLang="en-US" dirty="0"/>
              <a:t>을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 err="1"/>
              <a:t>shirtSize</a:t>
            </a:r>
            <a:r>
              <a:rPr lang="en-US" altLang="ko-KR" b="1" dirty="0"/>
              <a:t>     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A67848-86B7-BC24-9EC1-3B63504D2100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EBE6C-E31D-645B-D970-B003198415FA}"/>
              </a:ext>
            </a:extLst>
          </p:cNvPr>
          <p:cNvSpPr txBox="1"/>
          <p:nvPr/>
        </p:nvSpPr>
        <p:spPr>
          <a:xfrm>
            <a:off x="736543" y="721233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2, 3, 3, 1, 3, 3, 2, 3, 2]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2A6FF-4568-7C35-9674-49E531EC98AC}"/>
              </a:ext>
            </a:extLst>
          </p:cNvPr>
          <p:cNvSpPr txBox="1"/>
          <p:nvPr/>
        </p:nvSpPr>
        <p:spPr>
          <a:xfrm>
            <a:off x="3393379" y="721233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D78B464-3355-7FC0-E758-9765022EBA08}"/>
              </a:ext>
            </a:extLst>
          </p:cNvPr>
          <p:cNvCxnSpPr>
            <a:cxnSpLocks/>
          </p:cNvCxnSpPr>
          <p:nvPr/>
        </p:nvCxnSpPr>
        <p:spPr>
          <a:xfrm>
            <a:off x="710682" y="38816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3CDCA2-7BAC-1204-197C-00BDA262F7B2}"/>
              </a:ext>
            </a:extLst>
          </p:cNvPr>
          <p:cNvCxnSpPr>
            <a:cxnSpLocks/>
          </p:cNvCxnSpPr>
          <p:nvPr/>
        </p:nvCxnSpPr>
        <p:spPr>
          <a:xfrm>
            <a:off x="710682" y="52160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C84C9B6-F5CC-9DA3-2310-EF18B857B9C1}"/>
              </a:ext>
            </a:extLst>
          </p:cNvPr>
          <p:cNvCxnSpPr>
            <a:cxnSpLocks/>
          </p:cNvCxnSpPr>
          <p:nvPr/>
        </p:nvCxnSpPr>
        <p:spPr>
          <a:xfrm>
            <a:off x="710682" y="641540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F76B3E7-C65B-E34A-BF8B-B12648885D86}"/>
              </a:ext>
            </a:extLst>
          </p:cNvPr>
          <p:cNvCxnSpPr>
            <a:cxnSpLocks/>
          </p:cNvCxnSpPr>
          <p:nvPr/>
        </p:nvCxnSpPr>
        <p:spPr>
          <a:xfrm>
            <a:off x="710682" y="709663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8174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C9F79-3EF8-BC78-48CA-620D8B3B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03616D9-7CF3-A03C-0E01-BA8C4F44A3DD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배열에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이 </a:t>
            </a:r>
            <a:r>
              <a:rPr lang="en-US" altLang="ko-KR" dirty="0"/>
              <a:t>5</a:t>
            </a:r>
            <a:r>
              <a:rPr lang="ko-KR" altLang="en-US" dirty="0"/>
              <a:t>개 들어있습니다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가장 적게 들어있는 숫자</a:t>
            </a:r>
            <a:r>
              <a:rPr lang="en-US" altLang="ko-KR" dirty="0"/>
              <a:t>: 1 (2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가장 많이 들어있는 숫자</a:t>
            </a:r>
            <a:r>
              <a:rPr lang="en-US" altLang="ko-KR" dirty="0"/>
              <a:t>: 3 (5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5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보다 </a:t>
            </a:r>
            <a:r>
              <a:rPr lang="en-US" altLang="ko-KR" dirty="0"/>
              <a:t>2.5</a:t>
            </a:r>
            <a:r>
              <a:rPr lang="ko-KR" altLang="en-US" dirty="0"/>
              <a:t>배 많으므로</a:t>
            </a:r>
            <a:r>
              <a:rPr lang="en-US" altLang="ko-KR" dirty="0"/>
              <a:t>, </a:t>
            </a:r>
            <a:r>
              <a:rPr lang="ko-KR" altLang="en-US" dirty="0"/>
              <a:t>소수 부분을 버려 </a:t>
            </a:r>
            <a:r>
              <a:rPr lang="en-US" altLang="ko-KR" dirty="0"/>
              <a:t>2</a:t>
            </a:r>
            <a:r>
              <a:rPr lang="ko-KR" altLang="en-US" dirty="0"/>
              <a:t>를 </a:t>
            </a:r>
            <a:r>
              <a:rPr lang="en-US" altLang="ko-KR" dirty="0"/>
              <a:t>return </a:t>
            </a:r>
            <a:r>
              <a:rPr lang="ko-KR" altLang="en-US" dirty="0"/>
              <a:t>하면 됩니다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CF1CFA7-9A7D-06EA-67DC-23460144058D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95391-63D4-9173-700B-88C303EA1416}"/>
              </a:ext>
            </a:extLst>
          </p:cNvPr>
          <p:cNvSpPr txBox="1"/>
          <p:nvPr/>
        </p:nvSpPr>
        <p:spPr>
          <a:xfrm>
            <a:off x="1597494" y="3630242"/>
            <a:ext cx="4258818" cy="378565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(counter)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(counter)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min_cnt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E5257B5-ACA3-A067-1E74-32B7B045D2E3}"/>
              </a:ext>
            </a:extLst>
          </p:cNvPr>
          <p:cNvCxnSpPr>
            <a:cxnSpLocks/>
          </p:cNvCxnSpPr>
          <p:nvPr/>
        </p:nvCxnSpPr>
        <p:spPr>
          <a:xfrm>
            <a:off x="1081067" y="344576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714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C9F19-7047-73C9-42F7-96BB42C5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7A2673C2-7664-D9F8-DA71-C32321E3FB09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5]</a:t>
            </a:r>
            <a:r>
              <a:rPr lang="ko-KR" altLang="en-US" dirty="0"/>
              <a:t> 주어진 배열의 순서를 뒤집으려고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주어진 배열이 </a:t>
            </a:r>
            <a:r>
              <a:rPr lang="en-US" altLang="ko-KR" dirty="0"/>
              <a:t>[1, 4, 2, 3]</a:t>
            </a:r>
            <a:r>
              <a:rPr lang="ko-KR" altLang="en-US" dirty="0"/>
              <a:t>이면</a:t>
            </a:r>
            <a:r>
              <a:rPr lang="en-US" altLang="ko-KR" dirty="0"/>
              <a:t>,</a:t>
            </a:r>
            <a:r>
              <a:rPr lang="ko-KR" altLang="en-US" dirty="0"/>
              <a:t>순서를 뒤집은 배열은 </a:t>
            </a:r>
            <a:r>
              <a:rPr lang="en-US" altLang="ko-KR" dirty="0"/>
              <a:t>[3, 2, 4, 1]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정수가 들어있는 배열 </a:t>
            </a:r>
            <a:r>
              <a:rPr lang="en-US" altLang="ko-KR" dirty="0" err="1"/>
              <a:t>arr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en-US" altLang="ko-KR" dirty="0" err="1"/>
              <a:t>arr</a:t>
            </a:r>
            <a:r>
              <a:rPr lang="ko-KR" altLang="en-US" dirty="0"/>
              <a:t>를 뒤집어서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정수가 들어있는 배열 </a:t>
            </a:r>
            <a:r>
              <a:rPr lang="en-US" altLang="ko-KR" dirty="0" err="1"/>
              <a:t>arr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arr</a:t>
            </a:r>
            <a:r>
              <a:rPr lang="ko-KR" altLang="en-US" dirty="0"/>
              <a:t>의 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arr</a:t>
            </a:r>
            <a:r>
              <a:rPr lang="ko-KR" altLang="en-US" dirty="0"/>
              <a:t>의 원소는 </a:t>
            </a:r>
            <a:r>
              <a:rPr lang="en-US" altLang="ko-KR" dirty="0"/>
              <a:t>-100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배열 </a:t>
            </a:r>
            <a:r>
              <a:rPr lang="en-US" altLang="ko-KR" dirty="0" err="1"/>
              <a:t>arr</a:t>
            </a:r>
            <a:r>
              <a:rPr lang="ko-KR" altLang="en-US" dirty="0"/>
              <a:t>의 순서를 뒤집어서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 </a:t>
            </a:r>
            <a:r>
              <a:rPr lang="en-US" altLang="ko-KR" b="1" dirty="0" err="1"/>
              <a:t>arr</a:t>
            </a:r>
            <a:r>
              <a:rPr lang="en-US" altLang="ko-KR" b="1" dirty="0"/>
              <a:t>         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6CBEB-B6B0-A353-5E81-7324C281C121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97BC8-380C-5A8C-C7D3-34404D276E0E}"/>
              </a:ext>
            </a:extLst>
          </p:cNvPr>
          <p:cNvSpPr txBox="1"/>
          <p:nvPr/>
        </p:nvSpPr>
        <p:spPr>
          <a:xfrm>
            <a:off x="736543" y="500253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4, 2, 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94D14-FAAD-CEAF-6894-79F3005AEDA7}"/>
              </a:ext>
            </a:extLst>
          </p:cNvPr>
          <p:cNvSpPr txBox="1"/>
          <p:nvPr/>
        </p:nvSpPr>
        <p:spPr>
          <a:xfrm>
            <a:off x="3393379" y="500253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[3, 2, 4, 1]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07263-199B-1A8B-2209-B65DC1AD1262}"/>
              </a:ext>
            </a:extLst>
          </p:cNvPr>
          <p:cNvSpPr txBox="1"/>
          <p:nvPr/>
        </p:nvSpPr>
        <p:spPr>
          <a:xfrm>
            <a:off x="1282446" y="5649619"/>
            <a:ext cx="4258818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en-US" altLang="ko-KR" sz="1000" b="0" dirty="0">
              <a:effectLst/>
            </a:endParaRPr>
          </a:p>
          <a:p>
            <a:pPr>
              <a:buNone/>
            </a:pP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390A107-78C0-E861-8F00-01480F563E39}"/>
              </a:ext>
            </a:extLst>
          </p:cNvPr>
          <p:cNvCxnSpPr>
            <a:cxnSpLocks/>
          </p:cNvCxnSpPr>
          <p:nvPr/>
        </p:nvCxnSpPr>
        <p:spPr>
          <a:xfrm>
            <a:off x="710682" y="225552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5C099FE-062E-AD33-1D68-767F60781F57}"/>
              </a:ext>
            </a:extLst>
          </p:cNvPr>
          <p:cNvCxnSpPr>
            <a:cxnSpLocks/>
          </p:cNvCxnSpPr>
          <p:nvPr/>
        </p:nvCxnSpPr>
        <p:spPr>
          <a:xfrm>
            <a:off x="710682" y="353110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EFC581D-CC56-1DB3-C798-A678F8EC55C2}"/>
              </a:ext>
            </a:extLst>
          </p:cNvPr>
          <p:cNvCxnSpPr>
            <a:cxnSpLocks/>
          </p:cNvCxnSpPr>
          <p:nvPr/>
        </p:nvCxnSpPr>
        <p:spPr>
          <a:xfrm>
            <a:off x="710682" y="423303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8E08F78-C2DC-D17D-A42E-BB9B42646BD2}"/>
              </a:ext>
            </a:extLst>
          </p:cNvPr>
          <p:cNvCxnSpPr>
            <a:cxnSpLocks/>
          </p:cNvCxnSpPr>
          <p:nvPr/>
        </p:nvCxnSpPr>
        <p:spPr>
          <a:xfrm>
            <a:off x="710682" y="492188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CE04D1-321F-DC92-2418-AE4F25172382}"/>
              </a:ext>
            </a:extLst>
          </p:cNvPr>
          <p:cNvCxnSpPr>
            <a:cxnSpLocks/>
          </p:cNvCxnSpPr>
          <p:nvPr/>
        </p:nvCxnSpPr>
        <p:spPr>
          <a:xfrm>
            <a:off x="710682" y="541261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767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38AE6-D578-8DAC-450C-95DFCA0F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792D5BD6-1D80-4F79-A921-1C3C89251326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6]</a:t>
            </a:r>
            <a:r>
              <a:rPr lang="ko-KR" altLang="en-US" dirty="0"/>
              <a:t> </a:t>
            </a:r>
            <a:r>
              <a:rPr lang="en-US" altLang="ko-KR" dirty="0"/>
              <a:t>369 </a:t>
            </a:r>
            <a:r>
              <a:rPr lang="ko-KR" altLang="en-US" dirty="0"/>
              <a:t>게임은 여러 명이 같이하는 게임입니다</a:t>
            </a:r>
            <a:r>
              <a:rPr lang="en-US" altLang="ko-KR" dirty="0"/>
              <a:t>. </a:t>
            </a:r>
            <a:r>
              <a:rPr lang="ko-KR" altLang="en-US" dirty="0"/>
              <a:t>게임의 규칙은 아래와 같습니다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부터 시작합니다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한 사람씩 차례대로 숫자를 </a:t>
            </a:r>
            <a:r>
              <a:rPr lang="en-US" altLang="ko-KR" dirty="0"/>
              <a:t>1</a:t>
            </a:r>
            <a:r>
              <a:rPr lang="ko-KR" altLang="en-US" dirty="0"/>
              <a:t>씩 더해가며 말합니다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말해야 하는 숫자에 </a:t>
            </a:r>
            <a:r>
              <a:rPr lang="en-US" altLang="ko-KR" dirty="0"/>
              <a:t>3, 6, 9 </a:t>
            </a:r>
            <a:r>
              <a:rPr lang="ko-KR" altLang="en-US" dirty="0"/>
              <a:t>중 하나라도 포함되어 있다면 숫자를 말하는 대신 숫자에 포함된 </a:t>
            </a:r>
            <a:r>
              <a:rPr lang="en-US" altLang="ko-KR" dirty="0"/>
              <a:t>3, 6, 9</a:t>
            </a:r>
            <a:r>
              <a:rPr lang="ko-KR" altLang="en-US" dirty="0"/>
              <a:t>의 개수만큼 박수를 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number</a:t>
            </a:r>
            <a:r>
              <a:rPr lang="ko-KR" altLang="en-US" dirty="0"/>
              <a:t>가 주어졌을 때</a:t>
            </a:r>
            <a:r>
              <a:rPr lang="en-US" altLang="ko-KR" dirty="0"/>
              <a:t>, 1</a:t>
            </a:r>
            <a:r>
              <a:rPr lang="ko-KR" altLang="en-US" dirty="0"/>
              <a:t>부터 </a:t>
            </a:r>
            <a:r>
              <a:rPr lang="en-US" altLang="ko-KR" dirty="0"/>
              <a:t>number</a:t>
            </a:r>
            <a:r>
              <a:rPr lang="ko-KR" altLang="en-US" dirty="0"/>
              <a:t>까지 </a:t>
            </a:r>
            <a:r>
              <a:rPr lang="en-US" altLang="ko-KR" dirty="0"/>
              <a:t>369 </a:t>
            </a:r>
            <a:r>
              <a:rPr lang="ko-KR" altLang="en-US" dirty="0"/>
              <a:t>게임을 올바르게 진행했을 경우 박수를 총 몇 번 쳤는지 구하려고 합니다</a:t>
            </a:r>
            <a:r>
              <a:rPr lang="en-US" altLang="ko-KR" dirty="0"/>
              <a:t>. </a:t>
            </a:r>
            <a:r>
              <a:rPr lang="ko-KR" altLang="en-US" dirty="0"/>
              <a:t>이를 위해 다음과 같이 프로그램 구조를 작성했습니다</a:t>
            </a:r>
            <a:r>
              <a:rPr lang="en-US" altLang="ko-KR" dirty="0"/>
              <a:t>. </a:t>
            </a:r>
            <a:r>
              <a:rPr lang="ko-KR" altLang="en-US" dirty="0"/>
              <a:t>숫자 </a:t>
            </a:r>
            <a:r>
              <a:rPr lang="en-US" altLang="ko-KR" dirty="0"/>
              <a:t>number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박수를 친 총 횟수를 </a:t>
            </a:r>
            <a:r>
              <a:rPr lang="en-US" altLang="ko-KR" dirty="0"/>
              <a:t>return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number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number</a:t>
            </a:r>
            <a:r>
              <a:rPr lang="ko-KR" altLang="en-US" dirty="0"/>
              <a:t>는 </a:t>
            </a:r>
            <a:r>
              <a:rPr lang="en-US" altLang="ko-KR" dirty="0"/>
              <a:t>10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number</a:t>
            </a:r>
            <a:r>
              <a:rPr lang="ko-KR" altLang="en-US" dirty="0"/>
              <a:t>까지 </a:t>
            </a:r>
            <a:r>
              <a:rPr lang="en-US" altLang="ko-KR" dirty="0"/>
              <a:t>369 </a:t>
            </a:r>
            <a:r>
              <a:rPr lang="ko-KR" altLang="en-US" dirty="0"/>
              <a:t>게임을 진행했을 때 박수를 친 총 횟수를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number  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C3B4437-8FCE-3599-60E2-65C08539E31E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80359-C235-19EC-76AA-50E707683112}"/>
              </a:ext>
            </a:extLst>
          </p:cNvPr>
          <p:cNvSpPr txBox="1"/>
          <p:nvPr/>
        </p:nvSpPr>
        <p:spPr>
          <a:xfrm>
            <a:off x="1597494" y="6381062"/>
            <a:ext cx="4258818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(number)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solution(number)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3222E9F-A8FB-E11A-7076-7CC465C5785F}"/>
              </a:ext>
            </a:extLst>
          </p:cNvPr>
          <p:cNvCxnSpPr>
            <a:cxnSpLocks/>
          </p:cNvCxnSpPr>
          <p:nvPr/>
        </p:nvCxnSpPr>
        <p:spPr>
          <a:xfrm>
            <a:off x="1078066" y="320907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F744D50-2053-B680-DD55-A3581C2E4128}"/>
              </a:ext>
            </a:extLst>
          </p:cNvPr>
          <p:cNvCxnSpPr>
            <a:cxnSpLocks/>
          </p:cNvCxnSpPr>
          <p:nvPr/>
        </p:nvCxnSpPr>
        <p:spPr>
          <a:xfrm>
            <a:off x="1078066" y="422605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61EF46C-C675-CE79-C0F9-498AECFD8065}"/>
              </a:ext>
            </a:extLst>
          </p:cNvPr>
          <p:cNvCxnSpPr>
            <a:cxnSpLocks/>
          </p:cNvCxnSpPr>
          <p:nvPr/>
        </p:nvCxnSpPr>
        <p:spPr>
          <a:xfrm>
            <a:off x="1078066" y="61051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35A2A9-2391-A89B-08AB-C7CE773A4C2D}"/>
              </a:ext>
            </a:extLst>
          </p:cNvPr>
          <p:cNvSpPr txBox="1"/>
          <p:nvPr/>
        </p:nvSpPr>
        <p:spPr>
          <a:xfrm>
            <a:off x="1103927" y="5707518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81F9A-3581-4786-A793-0CCDE17CD528}"/>
              </a:ext>
            </a:extLst>
          </p:cNvPr>
          <p:cNvSpPr txBox="1"/>
          <p:nvPr/>
        </p:nvSpPr>
        <p:spPr>
          <a:xfrm>
            <a:off x="3760763" y="5707518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22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6CBD481-14B5-12B9-8312-3F71AA408CAE}"/>
              </a:ext>
            </a:extLst>
          </p:cNvPr>
          <p:cNvCxnSpPr>
            <a:cxnSpLocks/>
          </p:cNvCxnSpPr>
          <p:nvPr/>
        </p:nvCxnSpPr>
        <p:spPr>
          <a:xfrm>
            <a:off x="1078066" y="5649725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FC3954F-0C3E-636C-100D-6A4D6B703A84}"/>
              </a:ext>
            </a:extLst>
          </p:cNvPr>
          <p:cNvCxnSpPr>
            <a:cxnSpLocks/>
          </p:cNvCxnSpPr>
          <p:nvPr/>
        </p:nvCxnSpPr>
        <p:spPr>
          <a:xfrm>
            <a:off x="1078066" y="498805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300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370FF-5DFD-3B6A-EBE5-874F2E3F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7239F08-397E-F406-756C-D1AC81D204E3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7]</a:t>
            </a:r>
            <a:r>
              <a:rPr lang="ko-KR" altLang="en-US" dirty="0"/>
              <a:t> 앞에서부터 읽을 때와 뒤에서부터 읽을 때 같은 단어 또는 문장을 </a:t>
            </a:r>
            <a:r>
              <a:rPr lang="ko-KR" altLang="en-US" dirty="0" err="1"/>
              <a:t>팰린드롬</a:t>
            </a:r>
            <a:r>
              <a:rPr lang="en-US" altLang="ko-KR" dirty="0"/>
              <a:t>(palindrome)</a:t>
            </a:r>
            <a:r>
              <a:rPr lang="ko-KR" altLang="en-US" dirty="0"/>
              <a:t>이라고 합니다</a:t>
            </a:r>
            <a:r>
              <a:rPr lang="en-US" altLang="ko-KR" dirty="0"/>
              <a:t>. </a:t>
            </a:r>
            <a:r>
              <a:rPr lang="ko-KR" altLang="en-US" dirty="0"/>
              <a:t>예를 들어서 </a:t>
            </a:r>
            <a:r>
              <a:rPr lang="en-US" altLang="ko-KR" dirty="0"/>
              <a:t>racecar, noon</a:t>
            </a:r>
            <a:r>
              <a:rPr lang="ko-KR" altLang="en-US" dirty="0"/>
              <a:t>은 </a:t>
            </a:r>
            <a:r>
              <a:rPr lang="ko-KR" altLang="en-US" dirty="0" err="1"/>
              <a:t>팰린드롬입니다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소문자 알파벳</a:t>
            </a:r>
            <a:r>
              <a:rPr lang="en-US" altLang="ko-KR" dirty="0"/>
              <a:t>, </a:t>
            </a:r>
            <a:r>
              <a:rPr lang="ko-KR" altLang="en-US" dirty="0"/>
              <a:t>공백</a:t>
            </a:r>
            <a:r>
              <a:rPr lang="en-US" altLang="ko-KR" dirty="0"/>
              <a:t>(" "), </a:t>
            </a:r>
            <a:r>
              <a:rPr lang="ko-KR" altLang="en-US" dirty="0"/>
              <a:t>그리고 마침표</a:t>
            </a:r>
            <a:r>
              <a:rPr lang="en-US" altLang="ko-KR" dirty="0"/>
              <a:t>(".")</a:t>
            </a:r>
            <a:r>
              <a:rPr lang="ko-KR" altLang="en-US" dirty="0"/>
              <a:t>로 이루어진 문장이 </a:t>
            </a:r>
            <a:r>
              <a:rPr lang="ko-KR" altLang="en-US" dirty="0" err="1"/>
              <a:t>팰린드롬</a:t>
            </a:r>
            <a:r>
              <a:rPr lang="ko-KR" altLang="en-US" dirty="0"/>
              <a:t> 문장인지 점검하려고 합니다</a:t>
            </a:r>
            <a:r>
              <a:rPr lang="en-US" altLang="ko-KR" dirty="0"/>
              <a:t>. </a:t>
            </a:r>
            <a:r>
              <a:rPr lang="ko-KR" altLang="en-US" dirty="0"/>
              <a:t>문장 내에서 알파벳만 추출하였을 때 </a:t>
            </a:r>
            <a:r>
              <a:rPr lang="ko-KR" altLang="en-US" dirty="0" err="1"/>
              <a:t>팰린드롬</a:t>
            </a:r>
            <a:r>
              <a:rPr lang="ko-KR" altLang="en-US" dirty="0"/>
              <a:t> 단어이면 </a:t>
            </a:r>
            <a:r>
              <a:rPr lang="ko-KR" altLang="en-US" dirty="0" err="1"/>
              <a:t>팰린드롬</a:t>
            </a:r>
            <a:r>
              <a:rPr lang="ko-KR" altLang="en-US" dirty="0"/>
              <a:t> 문장입니다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"never odd or even." </a:t>
            </a:r>
            <a:r>
              <a:rPr lang="ko-KR" altLang="en-US" dirty="0"/>
              <a:t>과 같은 문장은 </a:t>
            </a:r>
            <a:r>
              <a:rPr lang="ko-KR" altLang="en-US" dirty="0" err="1"/>
              <a:t>팰린드롬입니다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소문자 알파벳</a:t>
            </a:r>
            <a:r>
              <a:rPr lang="en-US" altLang="ko-KR" dirty="0"/>
              <a:t>, </a:t>
            </a:r>
            <a:r>
              <a:rPr lang="ko-KR" altLang="en-US" dirty="0"/>
              <a:t>공백</a:t>
            </a:r>
            <a:r>
              <a:rPr lang="en-US" altLang="ko-KR" dirty="0"/>
              <a:t>(" "), </a:t>
            </a:r>
            <a:r>
              <a:rPr lang="ko-KR" altLang="en-US" dirty="0"/>
              <a:t>그리고 마침표</a:t>
            </a:r>
            <a:r>
              <a:rPr lang="en-US" altLang="ko-KR" dirty="0"/>
              <a:t>(".")</a:t>
            </a:r>
            <a:r>
              <a:rPr lang="ko-KR" altLang="en-US" dirty="0"/>
              <a:t>로 이루어진 문장 </a:t>
            </a:r>
            <a:r>
              <a:rPr lang="en-US" altLang="ko-KR" dirty="0"/>
              <a:t>sentence</a:t>
            </a:r>
            <a:r>
              <a:rPr lang="ko-KR" altLang="en-US" dirty="0"/>
              <a:t>가 주어질 </a:t>
            </a:r>
            <a:r>
              <a:rPr lang="ko-KR" altLang="en-US" dirty="0" err="1"/>
              <a:t>때팰린드롬인지</a:t>
            </a:r>
            <a:r>
              <a:rPr lang="ko-KR" altLang="en-US" dirty="0"/>
              <a:t> 아닌지를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소문자 알파벳</a:t>
            </a:r>
            <a:r>
              <a:rPr lang="en-US" altLang="ko-KR" dirty="0"/>
              <a:t>, </a:t>
            </a:r>
            <a:r>
              <a:rPr lang="ko-KR" altLang="en-US" dirty="0"/>
              <a:t>공백</a:t>
            </a:r>
            <a:r>
              <a:rPr lang="en-US" altLang="ko-KR" dirty="0"/>
              <a:t>(" "), </a:t>
            </a:r>
            <a:r>
              <a:rPr lang="ko-KR" altLang="en-US" dirty="0"/>
              <a:t>그리고 마침표</a:t>
            </a:r>
            <a:r>
              <a:rPr lang="en-US" altLang="ko-KR" dirty="0"/>
              <a:t>(".")</a:t>
            </a:r>
            <a:r>
              <a:rPr lang="ko-KR" altLang="en-US" dirty="0"/>
              <a:t>로 이루어진 문장 </a:t>
            </a:r>
            <a:r>
              <a:rPr lang="en-US" altLang="ko-KR" dirty="0"/>
              <a:t>sentence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sentence</a:t>
            </a:r>
            <a:r>
              <a:rPr lang="ko-KR" altLang="en-US" dirty="0"/>
              <a:t>의 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sentence</a:t>
            </a:r>
            <a:r>
              <a:rPr lang="ko-KR" altLang="en-US" dirty="0"/>
              <a:t>에는 적어도 하나의 알파벳이 포함되어 있습니다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sentence</a:t>
            </a:r>
            <a:r>
              <a:rPr lang="ko-KR" altLang="en-US" dirty="0"/>
              <a:t>의 각 문자는 소문자 알파벳</a:t>
            </a:r>
            <a:r>
              <a:rPr lang="en-US" altLang="ko-KR" dirty="0"/>
              <a:t>, </a:t>
            </a:r>
            <a:r>
              <a:rPr lang="ko-KR" altLang="en-US" dirty="0"/>
              <a:t>공백</a:t>
            </a:r>
            <a:r>
              <a:rPr lang="en-US" altLang="ko-KR" dirty="0"/>
              <a:t>(" "), </a:t>
            </a:r>
            <a:r>
              <a:rPr lang="ko-KR" altLang="en-US" dirty="0"/>
              <a:t>또는 마침표</a:t>
            </a:r>
            <a:r>
              <a:rPr lang="en-US" altLang="ko-KR" dirty="0"/>
              <a:t>(".")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주어진 문장이 </a:t>
            </a:r>
            <a:r>
              <a:rPr lang="ko-KR" altLang="en-US" dirty="0" err="1"/>
              <a:t>팰린드롬인지</a:t>
            </a:r>
            <a:r>
              <a:rPr lang="ko-KR" altLang="en-US" dirty="0"/>
              <a:t> 아닌지를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sentence 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FD99CC0-62CC-8A10-9332-DBD98B252936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C1EF5-EF4F-FDB6-7A7B-9C6806ECD8A2}"/>
              </a:ext>
            </a:extLst>
          </p:cNvPr>
          <p:cNvSpPr txBox="1"/>
          <p:nvPr/>
        </p:nvSpPr>
        <p:spPr>
          <a:xfrm>
            <a:off x="736543" y="580263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"never odd or even."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570C98-D89B-3FA1-79A7-A89D736DE91B}"/>
              </a:ext>
            </a:extLst>
          </p:cNvPr>
          <p:cNvSpPr txBox="1"/>
          <p:nvPr/>
        </p:nvSpPr>
        <p:spPr>
          <a:xfrm>
            <a:off x="3393379" y="580263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B3A31-AD25-1FC1-6B69-97161AA6C8FE}"/>
              </a:ext>
            </a:extLst>
          </p:cNvPr>
          <p:cNvSpPr txBox="1"/>
          <p:nvPr/>
        </p:nvSpPr>
        <p:spPr>
          <a:xfrm>
            <a:off x="1282446" y="6929779"/>
            <a:ext cx="4258818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(sentence)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sentence1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"never odd or even."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solution(sentence1)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sentence2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"palindrome"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solution(sentence2)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27E8FDF-3DCD-62D7-2FC5-A5B5671EAF49}"/>
              </a:ext>
            </a:extLst>
          </p:cNvPr>
          <p:cNvCxnSpPr>
            <a:cxnSpLocks/>
          </p:cNvCxnSpPr>
          <p:nvPr/>
        </p:nvCxnSpPr>
        <p:spPr>
          <a:xfrm>
            <a:off x="710682" y="272034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B05B423-0805-837F-EEBB-AD95266F6BB7}"/>
              </a:ext>
            </a:extLst>
          </p:cNvPr>
          <p:cNvCxnSpPr>
            <a:cxnSpLocks/>
          </p:cNvCxnSpPr>
          <p:nvPr/>
        </p:nvCxnSpPr>
        <p:spPr>
          <a:xfrm>
            <a:off x="710682" y="43769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758468F-43B8-83A8-B241-8056DC0969C6}"/>
              </a:ext>
            </a:extLst>
          </p:cNvPr>
          <p:cNvCxnSpPr>
            <a:cxnSpLocks/>
          </p:cNvCxnSpPr>
          <p:nvPr/>
        </p:nvCxnSpPr>
        <p:spPr>
          <a:xfrm>
            <a:off x="710682" y="508647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FC7F839-AC62-9E4C-8B26-A0E882E8E635}"/>
              </a:ext>
            </a:extLst>
          </p:cNvPr>
          <p:cNvCxnSpPr>
            <a:cxnSpLocks/>
          </p:cNvCxnSpPr>
          <p:nvPr/>
        </p:nvCxnSpPr>
        <p:spPr>
          <a:xfrm>
            <a:off x="710682" y="57067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D06C554-745E-4F37-0CBE-7214232ECC64}"/>
              </a:ext>
            </a:extLst>
          </p:cNvPr>
          <p:cNvCxnSpPr>
            <a:cxnSpLocks/>
          </p:cNvCxnSpPr>
          <p:nvPr/>
        </p:nvCxnSpPr>
        <p:spPr>
          <a:xfrm>
            <a:off x="710682" y="661657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549B31C-1571-2E8A-F043-A3FA4D5C12E9}"/>
              </a:ext>
            </a:extLst>
          </p:cNvPr>
          <p:cNvCxnSpPr>
            <a:cxnSpLocks/>
          </p:cNvCxnSpPr>
          <p:nvPr/>
        </p:nvCxnSpPr>
        <p:spPr>
          <a:xfrm>
            <a:off x="818378" y="6118224"/>
            <a:ext cx="46375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DC8328-B7AF-F0B4-E057-8B4D60853BF7}"/>
              </a:ext>
            </a:extLst>
          </p:cNvPr>
          <p:cNvSpPr txBox="1"/>
          <p:nvPr/>
        </p:nvSpPr>
        <p:spPr>
          <a:xfrm>
            <a:off x="736543" y="619620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"palindrome"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050D1-772A-0C7F-058E-DE586DB8B0F1}"/>
              </a:ext>
            </a:extLst>
          </p:cNvPr>
          <p:cNvSpPr txBox="1"/>
          <p:nvPr/>
        </p:nvSpPr>
        <p:spPr>
          <a:xfrm>
            <a:off x="3393379" y="619620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900509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570B-217A-F016-5E20-648B447C7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1378684C-EB7B-63C3-EDAC-ECE187077F49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8]</a:t>
            </a:r>
            <a:r>
              <a:rPr lang="ko-KR" altLang="en-US" dirty="0"/>
              <a:t> 알파벳 문자열이 주어질 때</a:t>
            </a:r>
            <a:r>
              <a:rPr lang="en-US" altLang="ko-KR" dirty="0"/>
              <a:t>, </a:t>
            </a:r>
            <a:r>
              <a:rPr lang="ko-KR" altLang="en-US" dirty="0"/>
              <a:t>연속하는 중복 문자를 삭제하려고 합니다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"</a:t>
            </a:r>
            <a:r>
              <a:rPr lang="en-US" altLang="ko-KR" dirty="0" err="1"/>
              <a:t>senteeeeenccccceeee</a:t>
            </a:r>
            <a:r>
              <a:rPr lang="en-US" altLang="ko-KR" dirty="0"/>
              <a:t>"</a:t>
            </a:r>
            <a:r>
              <a:rPr lang="ko-KR" altLang="en-US" dirty="0"/>
              <a:t>라는 문자열이 주어진다면</a:t>
            </a:r>
            <a:r>
              <a:rPr lang="en-US" altLang="ko-KR" dirty="0"/>
              <a:t>, “sentence"</a:t>
            </a:r>
            <a:r>
              <a:rPr lang="ko-KR" altLang="en-US" dirty="0"/>
              <a:t>라는 결과를 나옵니다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영어 소문자 알파벳으로 이루어진 임의의 문자열 </a:t>
            </a:r>
            <a:r>
              <a:rPr lang="en-US" altLang="ko-KR" dirty="0"/>
              <a:t>characters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연속하는 중복 문자를 삭제한 결과를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영어 소문자 알파벳으로 이루어진 임의의 문자열 </a:t>
            </a:r>
            <a:r>
              <a:rPr lang="en-US" altLang="ko-KR" dirty="0"/>
              <a:t>characters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characters</a:t>
            </a:r>
            <a:r>
              <a:rPr lang="ko-KR" altLang="en-US" dirty="0"/>
              <a:t>는 알파벳 소문자로만 이루어져 있습니다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characters</a:t>
            </a:r>
            <a:r>
              <a:rPr lang="ko-KR" altLang="en-US" dirty="0"/>
              <a:t>의 길이는 </a:t>
            </a:r>
            <a:r>
              <a:rPr lang="en-US" altLang="ko-KR" dirty="0"/>
              <a:t>10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characters</a:t>
            </a:r>
            <a:r>
              <a:rPr lang="ko-KR" altLang="en-US" dirty="0"/>
              <a:t>에서 연속하는 중복 문자를 제거한 문자열을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characters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FA5CD1B-36FB-715D-410B-F8C3D6655969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C93DF0-8C5F-F271-3FBF-E5BAF35C5D79}"/>
              </a:ext>
            </a:extLst>
          </p:cNvPr>
          <p:cNvSpPr txBox="1"/>
          <p:nvPr/>
        </p:nvSpPr>
        <p:spPr>
          <a:xfrm>
            <a:off x="1597494" y="5855282"/>
            <a:ext cx="4258818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(characters)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characters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senteeeeenccccceeee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solution(characters)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CA69020-AADF-E1F2-E8A2-9A411CAA70E5}"/>
              </a:ext>
            </a:extLst>
          </p:cNvPr>
          <p:cNvCxnSpPr>
            <a:cxnSpLocks/>
          </p:cNvCxnSpPr>
          <p:nvPr/>
        </p:nvCxnSpPr>
        <p:spPr>
          <a:xfrm>
            <a:off x="1081067" y="371199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981B550-B156-1ADD-9756-D81FCE280A30}"/>
              </a:ext>
            </a:extLst>
          </p:cNvPr>
          <p:cNvCxnSpPr>
            <a:cxnSpLocks/>
          </p:cNvCxnSpPr>
          <p:nvPr/>
        </p:nvCxnSpPr>
        <p:spPr>
          <a:xfrm>
            <a:off x="1081067" y="446227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71FA7F-2579-3044-C4FB-AE19D46CF418}"/>
              </a:ext>
            </a:extLst>
          </p:cNvPr>
          <p:cNvCxnSpPr>
            <a:cxnSpLocks/>
          </p:cNvCxnSpPr>
          <p:nvPr/>
        </p:nvCxnSpPr>
        <p:spPr>
          <a:xfrm>
            <a:off x="1055206" y="562965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E47AF4-00B3-E5CD-4E38-A501ED8FC433}"/>
              </a:ext>
            </a:extLst>
          </p:cNvPr>
          <p:cNvSpPr txBox="1"/>
          <p:nvPr/>
        </p:nvSpPr>
        <p:spPr>
          <a:xfrm>
            <a:off x="1081067" y="5206429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</a:t>
            </a:r>
            <a:r>
              <a:rPr kumimoji="1" lang="en-US" altLang="ko-KR" sz="11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senteeeeenccccceeee</a:t>
            </a:r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48B64-FA4C-E86B-E7D5-1F9538D1924B}"/>
              </a:ext>
            </a:extLst>
          </p:cNvPr>
          <p:cNvSpPr txBox="1"/>
          <p:nvPr/>
        </p:nvSpPr>
        <p:spPr>
          <a:xfrm>
            <a:off x="3737903" y="5206429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"sentence"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A2511C9-6162-BCE5-749F-C7E5F9FF1185}"/>
              </a:ext>
            </a:extLst>
          </p:cNvPr>
          <p:cNvCxnSpPr>
            <a:cxnSpLocks/>
          </p:cNvCxnSpPr>
          <p:nvPr/>
        </p:nvCxnSpPr>
        <p:spPr>
          <a:xfrm>
            <a:off x="1055206" y="511815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162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DE0C5-6241-9755-540C-FF394A74B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44A26FED-553F-3020-FC1C-E388CFC38422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9]</a:t>
            </a:r>
            <a:r>
              <a:rPr lang="ko-KR" altLang="en-US" dirty="0"/>
              <a:t> 평균은 자료의 합을 자료의 개수로 나눈 값을 의미합니다</a:t>
            </a:r>
            <a:r>
              <a:rPr lang="en-US" altLang="ko-KR" dirty="0"/>
              <a:t>. </a:t>
            </a:r>
            <a:r>
              <a:rPr lang="ko-KR" altLang="en-US" dirty="0"/>
              <a:t>자연수가 들어있는 배열의 평균을 구하고</a:t>
            </a:r>
            <a:r>
              <a:rPr lang="en-US" altLang="ko-KR" dirty="0"/>
              <a:t>, </a:t>
            </a:r>
            <a:r>
              <a:rPr lang="ko-KR" altLang="en-US" dirty="0"/>
              <a:t>평균 이하인 숫자는 몇 개인지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주어진 배열이 </a:t>
            </a:r>
            <a:r>
              <a:rPr lang="en-US" altLang="ko-KR" dirty="0"/>
              <a:t>[1, 2, 3, 4, 5, 6, 7, 8, 9, 10]</a:t>
            </a:r>
            <a:r>
              <a:rPr lang="ko-KR" altLang="en-US" dirty="0"/>
              <a:t>이라면</a:t>
            </a:r>
            <a:r>
              <a:rPr lang="en-US" altLang="ko-KR" dirty="0"/>
              <a:t>, </a:t>
            </a:r>
            <a:r>
              <a:rPr lang="ko-KR" altLang="en-US" dirty="0"/>
              <a:t>평균은 </a:t>
            </a:r>
            <a:r>
              <a:rPr lang="en-US" altLang="ko-KR" dirty="0"/>
              <a:t>5.5</a:t>
            </a:r>
            <a:r>
              <a:rPr lang="ko-KR" altLang="en-US" dirty="0"/>
              <a:t>이므로 배열에서 평균 이하인 값은 </a:t>
            </a:r>
            <a:r>
              <a:rPr lang="en-US" altLang="ko-KR" dirty="0"/>
              <a:t>5</a:t>
            </a:r>
            <a:r>
              <a:rPr lang="ko-KR" altLang="en-US" dirty="0"/>
              <a:t>개입니다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자연수가 들어있는 배열 </a:t>
            </a:r>
            <a:r>
              <a:rPr lang="en-US" altLang="ko-KR" dirty="0"/>
              <a:t>data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배열의 평균 이하인 값은 몇 개인지 </a:t>
            </a:r>
            <a:r>
              <a:rPr lang="en-US" altLang="ko-KR" dirty="0"/>
              <a:t>return </a:t>
            </a:r>
            <a:r>
              <a:rPr lang="ko-KR" altLang="en-US" dirty="0"/>
              <a:t>하도록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자연수가 들어있는 배열 </a:t>
            </a:r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data</a:t>
            </a:r>
            <a:r>
              <a:rPr lang="ko-KR" altLang="en-US" dirty="0"/>
              <a:t>의 길이는 </a:t>
            </a:r>
            <a:r>
              <a:rPr lang="en-US" altLang="ko-KR" dirty="0"/>
              <a:t>10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data</a:t>
            </a:r>
            <a:r>
              <a:rPr lang="ko-KR" altLang="en-US" dirty="0"/>
              <a:t>의 원소는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평균보다 값이 작은 자연수는 몇 개인지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data     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F9143-303B-D26B-C8B1-AF2BAF79B539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3F85C-2E3F-3B2F-07F4-F9EAF9AC0141}"/>
              </a:ext>
            </a:extLst>
          </p:cNvPr>
          <p:cNvSpPr txBox="1"/>
          <p:nvPr/>
        </p:nvSpPr>
        <p:spPr>
          <a:xfrm>
            <a:off x="1282446" y="6449719"/>
            <a:ext cx="4258818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(data)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data1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solution(data1)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data2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ret2 = solution(data2)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print(ret2)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80839C8-4AC1-8540-D050-859948FCEC66}"/>
              </a:ext>
            </a:extLst>
          </p:cNvPr>
          <p:cNvCxnSpPr>
            <a:cxnSpLocks/>
          </p:cNvCxnSpPr>
          <p:nvPr/>
        </p:nvCxnSpPr>
        <p:spPr>
          <a:xfrm>
            <a:off x="710682" y="256032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BDCB490-23E1-D30C-F055-235A17AC6E8E}"/>
              </a:ext>
            </a:extLst>
          </p:cNvPr>
          <p:cNvCxnSpPr>
            <a:cxnSpLocks/>
          </p:cNvCxnSpPr>
          <p:nvPr/>
        </p:nvCxnSpPr>
        <p:spPr>
          <a:xfrm>
            <a:off x="710682" y="382828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7580C7F-BF69-F80A-E081-677C729493DB}"/>
              </a:ext>
            </a:extLst>
          </p:cNvPr>
          <p:cNvCxnSpPr>
            <a:cxnSpLocks/>
          </p:cNvCxnSpPr>
          <p:nvPr/>
        </p:nvCxnSpPr>
        <p:spPr>
          <a:xfrm>
            <a:off x="710682" y="52160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F90D57B-47B8-F3A6-9CA7-20C2D4C4CC34}"/>
              </a:ext>
            </a:extLst>
          </p:cNvPr>
          <p:cNvCxnSpPr>
            <a:cxnSpLocks/>
          </p:cNvCxnSpPr>
          <p:nvPr/>
        </p:nvCxnSpPr>
        <p:spPr>
          <a:xfrm>
            <a:off x="710682" y="619747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739AB5B-02F5-4E2D-A7B4-B898FDCCD3CA}"/>
              </a:ext>
            </a:extLst>
          </p:cNvPr>
          <p:cNvSpPr txBox="1"/>
          <p:nvPr/>
        </p:nvSpPr>
        <p:spPr>
          <a:xfrm>
            <a:off x="736543" y="531495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2, 3, 4, 5, 6, 7, 8, 9, 10]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30523-3D62-BF8F-57EC-70A5EE6A7471}"/>
              </a:ext>
            </a:extLst>
          </p:cNvPr>
          <p:cNvSpPr txBox="1"/>
          <p:nvPr/>
        </p:nvSpPr>
        <p:spPr>
          <a:xfrm>
            <a:off x="3393379" y="531495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66C4A17-945C-F12D-2C54-EAD018C4F497}"/>
              </a:ext>
            </a:extLst>
          </p:cNvPr>
          <p:cNvCxnSpPr>
            <a:cxnSpLocks/>
          </p:cNvCxnSpPr>
          <p:nvPr/>
        </p:nvCxnSpPr>
        <p:spPr>
          <a:xfrm>
            <a:off x="818378" y="5630544"/>
            <a:ext cx="46375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23B2D4-8753-C0DD-3C39-1B8D786665A7}"/>
              </a:ext>
            </a:extLst>
          </p:cNvPr>
          <p:cNvSpPr txBox="1"/>
          <p:nvPr/>
        </p:nvSpPr>
        <p:spPr>
          <a:xfrm>
            <a:off x="736543" y="570852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1, 1, 1, 1, 1, 1, 1, 1, 10]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558705-3D75-07A5-455E-1DD6B318BC9F}"/>
              </a:ext>
            </a:extLst>
          </p:cNvPr>
          <p:cNvSpPr txBox="1"/>
          <p:nvPr/>
        </p:nvSpPr>
        <p:spPr>
          <a:xfrm>
            <a:off x="3393379" y="570852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7906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C6C3-D50B-00F0-BEE5-D8D4B2A3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BC3706A-3D34-9E60-53BF-74AD2FAAAB51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10]</a:t>
            </a:r>
            <a:r>
              <a:rPr lang="ko-KR" altLang="en-US" dirty="0"/>
              <a:t> 왼손 장갑의 제품 번호가 들어있는 배열과 오른손 장갑의 제품 번호가 들어있는 배열이 있습니다</a:t>
            </a:r>
            <a:r>
              <a:rPr lang="en-US" altLang="ko-KR" dirty="0"/>
              <a:t>. </a:t>
            </a:r>
            <a:r>
              <a:rPr lang="ko-KR" altLang="en-US" dirty="0"/>
              <a:t>제품 번호는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10 </a:t>
            </a:r>
            <a:r>
              <a:rPr lang="ko-KR" altLang="en-US" dirty="0"/>
              <a:t>사이의 자연수입니다</a:t>
            </a:r>
            <a:r>
              <a:rPr lang="en-US" altLang="ko-KR" dirty="0"/>
              <a:t>. </a:t>
            </a:r>
            <a:r>
              <a:rPr lang="ko-KR" altLang="en-US" dirty="0"/>
              <a:t>제품 번호가 같은 왼손장갑과 오른손장갑을 합쳐 장갑 쌍을 만들 수 있습니다</a:t>
            </a:r>
            <a:r>
              <a:rPr lang="en-US" altLang="ko-KR" dirty="0"/>
              <a:t>. </a:t>
            </a:r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최대 몇 쌍의 장갑을 만들 수 있는지 구하려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이를 위해 다음과 같이 프로그램 구조를 작성했습니다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dirty="0"/>
              <a:t>왼손 장갑의 제품 번호별 개수를 셉니다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dirty="0"/>
              <a:t>오른손 장갑의 제품 번호별 개수를 셉니다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dirty="0"/>
              <a:t>각 제품 번호별로 최대한 많은 장갑 쌍을 만들어 개수를 셉니다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왼손 장갑의 제품 번호가 들어있는 배열 </a:t>
            </a:r>
            <a:r>
              <a:rPr lang="en-US" altLang="ko-KR" dirty="0" err="1"/>
              <a:t>leftGloves</a:t>
            </a:r>
            <a:r>
              <a:rPr lang="ko-KR" altLang="en-US" dirty="0"/>
              <a:t>와 오른손 장갑의 제품 번호가 들어있는 배열 </a:t>
            </a:r>
            <a:r>
              <a:rPr lang="en-US" altLang="ko-KR" dirty="0" err="1"/>
              <a:t>rightGloves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최대 몇 개의 장갑 쌍을 만들 수 있는지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leftGloves</a:t>
            </a:r>
            <a:r>
              <a:rPr lang="en-US" altLang="ko-KR" dirty="0"/>
              <a:t> : </a:t>
            </a:r>
            <a:r>
              <a:rPr lang="ko-KR" altLang="en-US" dirty="0"/>
              <a:t>왼손 장갑의 제품 번호가 들어있는 배열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원소는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rightGloves</a:t>
            </a:r>
            <a:r>
              <a:rPr lang="en-US" altLang="ko-KR" dirty="0"/>
              <a:t> : </a:t>
            </a:r>
            <a:r>
              <a:rPr lang="ko-KR" altLang="en-US" dirty="0"/>
              <a:t>오른손 장갑의 제품 번호가 들어있는 배열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원소는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왼손과 오른손의 제품 번호가 같은 장갑끼리 쌍을 만들 때</a:t>
            </a:r>
            <a:r>
              <a:rPr lang="en-US" altLang="ko-KR" dirty="0"/>
              <a:t>, </a:t>
            </a:r>
            <a:r>
              <a:rPr lang="ko-KR" altLang="en-US" dirty="0"/>
              <a:t>최대 몇 개의 쌍을 만들 수 있는지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</a:t>
            </a:r>
            <a:r>
              <a:rPr lang="en-US" altLang="ko-KR" b="1" dirty="0" err="1"/>
              <a:t>leftGloves</a:t>
            </a:r>
            <a:r>
              <a:rPr lang="en-US" altLang="ko-KR" b="1" dirty="0"/>
              <a:t>                          </a:t>
            </a:r>
            <a:r>
              <a:rPr lang="en-US" altLang="ko-KR" b="1" dirty="0" err="1"/>
              <a:t>rightGloves</a:t>
            </a:r>
            <a:r>
              <a:rPr lang="en-US" altLang="ko-KR" b="1" dirty="0"/>
              <a:t>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8A7E091-9FCE-FBC8-8EA9-AED328073AC6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E7764-A503-EB36-A066-12D8E7488F4E}"/>
              </a:ext>
            </a:extLst>
          </p:cNvPr>
          <p:cNvSpPr txBox="1"/>
          <p:nvPr/>
        </p:nvSpPr>
        <p:spPr>
          <a:xfrm>
            <a:off x="1597494" y="7504005"/>
            <a:ext cx="3122334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taekwondo = 27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running = 63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shooting = [9, 10, 8, 10, 10, 10, 7, 10, 10, 10]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0F0DF9-95CE-5AD3-82B5-F427EFCAE443}"/>
              </a:ext>
            </a:extLst>
          </p:cNvPr>
          <p:cNvSpPr txBox="1"/>
          <p:nvPr/>
        </p:nvSpPr>
        <p:spPr>
          <a:xfrm>
            <a:off x="1597494" y="7569782"/>
            <a:ext cx="4258818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(gloves)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left_gloves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right_gloves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4DAF11E-5134-7B98-D305-0B3943BD79A5}"/>
              </a:ext>
            </a:extLst>
          </p:cNvPr>
          <p:cNvCxnSpPr>
            <a:cxnSpLocks/>
          </p:cNvCxnSpPr>
          <p:nvPr/>
        </p:nvCxnSpPr>
        <p:spPr>
          <a:xfrm>
            <a:off x="1081067" y="358550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0182112-5761-6E59-94A5-37C7C9A22AC1}"/>
              </a:ext>
            </a:extLst>
          </p:cNvPr>
          <p:cNvCxnSpPr>
            <a:cxnSpLocks/>
          </p:cNvCxnSpPr>
          <p:nvPr/>
        </p:nvCxnSpPr>
        <p:spPr>
          <a:xfrm>
            <a:off x="1081067" y="543153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049732-0221-1C3C-E6A8-87187A512313}"/>
              </a:ext>
            </a:extLst>
          </p:cNvPr>
          <p:cNvCxnSpPr>
            <a:cxnSpLocks/>
          </p:cNvCxnSpPr>
          <p:nvPr/>
        </p:nvCxnSpPr>
        <p:spPr>
          <a:xfrm>
            <a:off x="1081067" y="634898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6ACE36-7F68-C5B6-D39F-B1B9758E6378}"/>
              </a:ext>
            </a:extLst>
          </p:cNvPr>
          <p:cNvSpPr txBox="1"/>
          <p:nvPr/>
        </p:nvSpPr>
        <p:spPr>
          <a:xfrm>
            <a:off x="1132783" y="6981402"/>
            <a:ext cx="138486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[2, 1, 2, 2, 4]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A77B1-D0B5-BB63-A9B5-B0209FA3B6F1}"/>
              </a:ext>
            </a:extLst>
          </p:cNvPr>
          <p:cNvSpPr txBox="1"/>
          <p:nvPr/>
        </p:nvSpPr>
        <p:spPr>
          <a:xfrm>
            <a:off x="4751047" y="7006750"/>
            <a:ext cx="79088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913DD5B-25FA-3E3E-743B-7A17EA1239C3}"/>
              </a:ext>
            </a:extLst>
          </p:cNvPr>
          <p:cNvCxnSpPr>
            <a:cxnSpLocks/>
          </p:cNvCxnSpPr>
          <p:nvPr/>
        </p:nvCxnSpPr>
        <p:spPr>
          <a:xfrm>
            <a:off x="1081067" y="698296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2F33E2-CFD8-3314-817E-4244E6F22F76}"/>
              </a:ext>
            </a:extLst>
          </p:cNvPr>
          <p:cNvSpPr txBox="1"/>
          <p:nvPr/>
        </p:nvSpPr>
        <p:spPr>
          <a:xfrm>
            <a:off x="2855643" y="7004822"/>
            <a:ext cx="138486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[1, 2, 2, 4, 4, 7]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2A448E6-6134-C54A-B444-1DC1B8DD2329}"/>
              </a:ext>
            </a:extLst>
          </p:cNvPr>
          <p:cNvCxnSpPr>
            <a:cxnSpLocks/>
          </p:cNvCxnSpPr>
          <p:nvPr/>
        </p:nvCxnSpPr>
        <p:spPr>
          <a:xfrm>
            <a:off x="1081067" y="73548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3504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0C95-69FB-D970-BF90-897C19E5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3AEFC3DE-267C-F5BC-ED98-48984A86CF4F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91B252-09D7-259C-9307-5E869951D52D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CA3C9-26C5-15BF-5E73-28480E00AF08}"/>
              </a:ext>
            </a:extLst>
          </p:cNvPr>
          <p:cNvSpPr txBox="1"/>
          <p:nvPr/>
        </p:nvSpPr>
        <p:spPr>
          <a:xfrm>
            <a:off x="1282446" y="1262023"/>
            <a:ext cx="4258818" cy="70788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left_gloves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right_gloves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7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ret = solution(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left_gloves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right_gloves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9505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D8AE-11B1-D94B-C92A-11A5330C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82C4B10E-BD6E-1798-FC99-F53E3B145424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11]</a:t>
            </a:r>
            <a:r>
              <a:rPr lang="ko-KR" altLang="en-US" dirty="0"/>
              <a:t> 자연수가 들어있는 배열에 </a:t>
            </a:r>
            <a:r>
              <a:rPr lang="en-US" altLang="ko-KR" dirty="0"/>
              <a:t>3</a:t>
            </a:r>
            <a:r>
              <a:rPr lang="ko-KR" altLang="en-US" dirty="0"/>
              <a:t>의 배수와 </a:t>
            </a:r>
            <a:r>
              <a:rPr lang="en-US" altLang="ko-KR" dirty="0"/>
              <a:t>5</a:t>
            </a:r>
            <a:r>
              <a:rPr lang="ko-KR" altLang="en-US" dirty="0"/>
              <a:t>의 배수 중 어떤 수가 더 </a:t>
            </a:r>
            <a:r>
              <a:rPr lang="ko-KR" altLang="en-US" dirty="0" err="1"/>
              <a:t>많은지</a:t>
            </a:r>
            <a:r>
              <a:rPr lang="ko-KR" altLang="en-US" dirty="0"/>
              <a:t> 알아보려 합니다</a:t>
            </a:r>
            <a:r>
              <a:rPr lang="en-US" altLang="ko-KR" dirty="0"/>
              <a:t>. </a:t>
            </a:r>
            <a:r>
              <a:rPr lang="ko-KR" altLang="en-US" dirty="0"/>
              <a:t>이를 위해 다음과 같이 프로그램 구조를 작성했습니다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3</a:t>
            </a:r>
            <a:r>
              <a:rPr lang="ko-KR" altLang="en-US" dirty="0"/>
              <a:t>의 배수의 개수를 셉니다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5</a:t>
            </a:r>
            <a:r>
              <a:rPr lang="ko-KR" altLang="en-US" dirty="0"/>
              <a:t>의 배수의 개수를 셉니다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3</a:t>
            </a:r>
            <a:r>
              <a:rPr lang="ko-KR" altLang="en-US" dirty="0"/>
              <a:t>의 배수와 </a:t>
            </a:r>
            <a:r>
              <a:rPr lang="en-US" altLang="ko-KR" dirty="0"/>
              <a:t>5</a:t>
            </a:r>
            <a:r>
              <a:rPr lang="ko-KR" altLang="en-US" dirty="0"/>
              <a:t>의 배수의 개수를 비교 후 다음을 수행합니다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r>
              <a:rPr lang="en-US" altLang="ko-KR" dirty="0"/>
              <a:t>3-1. </a:t>
            </a:r>
            <a:r>
              <a:rPr lang="ko-KR" altLang="en-US" dirty="0"/>
              <a:t>만약 </a:t>
            </a:r>
            <a:r>
              <a:rPr lang="en-US" altLang="ko-KR" dirty="0"/>
              <a:t>3</a:t>
            </a:r>
            <a:r>
              <a:rPr lang="ko-KR" altLang="en-US" dirty="0"/>
              <a:t>의 배수가 더 많다면 </a:t>
            </a:r>
            <a:r>
              <a:rPr lang="en-US" altLang="ko-KR" dirty="0"/>
              <a:t>"three"</a:t>
            </a:r>
            <a:r>
              <a:rPr lang="ko-KR" altLang="en-US" dirty="0"/>
              <a:t>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r>
              <a:rPr lang="en-US" altLang="ko-KR" dirty="0"/>
              <a:t>3-2. </a:t>
            </a:r>
            <a:r>
              <a:rPr lang="ko-KR" altLang="en-US" dirty="0"/>
              <a:t>만약 </a:t>
            </a:r>
            <a:r>
              <a:rPr lang="en-US" altLang="ko-KR" dirty="0"/>
              <a:t>5</a:t>
            </a:r>
            <a:r>
              <a:rPr lang="ko-KR" altLang="en-US" dirty="0"/>
              <a:t>의 배수가 더 많다면 </a:t>
            </a:r>
            <a:r>
              <a:rPr lang="en-US" altLang="ko-KR" dirty="0"/>
              <a:t>"five"</a:t>
            </a:r>
            <a:r>
              <a:rPr lang="ko-KR" altLang="en-US" dirty="0"/>
              <a:t>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r>
              <a:rPr lang="en-US" altLang="ko-KR" dirty="0"/>
              <a:t>3-3. </a:t>
            </a:r>
            <a:r>
              <a:rPr lang="ko-KR" altLang="en-US" dirty="0"/>
              <a:t>만약 </a:t>
            </a:r>
            <a:r>
              <a:rPr lang="en-US" altLang="ko-KR" dirty="0"/>
              <a:t>3</a:t>
            </a:r>
            <a:r>
              <a:rPr lang="ko-KR" altLang="en-US" dirty="0"/>
              <a:t>의 배수와 </a:t>
            </a:r>
            <a:r>
              <a:rPr lang="en-US" altLang="ko-KR" dirty="0"/>
              <a:t>5</a:t>
            </a:r>
            <a:r>
              <a:rPr lang="ko-KR" altLang="en-US" dirty="0"/>
              <a:t>의 배수의 개수가 같다면 </a:t>
            </a:r>
            <a:r>
              <a:rPr lang="en-US" altLang="ko-KR" dirty="0"/>
              <a:t>"same"</a:t>
            </a:r>
            <a:r>
              <a:rPr lang="ko-KR" altLang="en-US" dirty="0"/>
              <a:t>을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자연수가 들어있는 배열 </a:t>
            </a:r>
            <a:r>
              <a:rPr lang="en-US" altLang="ko-KR" dirty="0" err="1"/>
              <a:t>arr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배열에 </a:t>
            </a:r>
            <a:r>
              <a:rPr lang="en-US" altLang="ko-KR" dirty="0"/>
              <a:t>3</a:t>
            </a:r>
            <a:r>
              <a:rPr lang="ko-KR" altLang="en-US" dirty="0"/>
              <a:t>의 배수의 개수가 더 많다면 </a:t>
            </a:r>
            <a:r>
              <a:rPr lang="en-US" altLang="ko-KR" dirty="0"/>
              <a:t>"three", 5</a:t>
            </a:r>
            <a:r>
              <a:rPr lang="ko-KR" altLang="en-US" dirty="0"/>
              <a:t>의 배수의 개수가 더 많다면 </a:t>
            </a:r>
            <a:r>
              <a:rPr lang="en-US" altLang="ko-KR" dirty="0"/>
              <a:t>"five", 3</a:t>
            </a:r>
            <a:r>
              <a:rPr lang="ko-KR" altLang="en-US" dirty="0"/>
              <a:t>의 배수와 </a:t>
            </a:r>
            <a:r>
              <a:rPr lang="en-US" altLang="ko-KR" dirty="0"/>
              <a:t>5</a:t>
            </a:r>
            <a:r>
              <a:rPr lang="ko-KR" altLang="en-US" dirty="0"/>
              <a:t>의 배수의 개수가 같다면 </a:t>
            </a:r>
            <a:r>
              <a:rPr lang="en-US" altLang="ko-KR" dirty="0"/>
              <a:t>"same"</a:t>
            </a:r>
            <a:r>
              <a:rPr lang="ko-KR" altLang="en-US" dirty="0"/>
              <a:t>을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자연수가 들어있는 배열 </a:t>
            </a:r>
            <a:r>
              <a:rPr lang="en-US" altLang="ko-KR" dirty="0" err="1"/>
              <a:t>arr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arr</a:t>
            </a:r>
            <a:r>
              <a:rPr lang="ko-KR" altLang="en-US" dirty="0"/>
              <a:t>의 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arr</a:t>
            </a:r>
            <a:r>
              <a:rPr lang="ko-KR" altLang="en-US" dirty="0"/>
              <a:t>에 들어있는 숫자는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배열에 </a:t>
            </a:r>
            <a:r>
              <a:rPr lang="en-US" altLang="ko-KR" dirty="0"/>
              <a:t>3</a:t>
            </a:r>
            <a:r>
              <a:rPr lang="ko-KR" altLang="en-US" dirty="0"/>
              <a:t>의 배수의 개수가 더 많다면 </a:t>
            </a:r>
            <a:r>
              <a:rPr lang="en-US" altLang="ko-KR" dirty="0"/>
              <a:t>"three",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5</a:t>
            </a:r>
            <a:r>
              <a:rPr lang="ko-KR" altLang="en-US" dirty="0"/>
              <a:t>의 배수의 개수가 더 많다면 </a:t>
            </a:r>
            <a:r>
              <a:rPr lang="en-US" altLang="ko-KR" dirty="0"/>
              <a:t>"five",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의 배수와 </a:t>
            </a:r>
            <a:r>
              <a:rPr lang="en-US" altLang="ko-KR" dirty="0"/>
              <a:t>5</a:t>
            </a:r>
            <a:r>
              <a:rPr lang="ko-KR" altLang="en-US" dirty="0"/>
              <a:t>의 배수의 개수가 같다면 </a:t>
            </a:r>
            <a:r>
              <a:rPr lang="en-US" altLang="ko-KR" dirty="0"/>
              <a:t>"same"</a:t>
            </a:r>
            <a:r>
              <a:rPr lang="ko-KR" altLang="en-US" dirty="0"/>
              <a:t>을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</a:t>
            </a:r>
            <a:r>
              <a:rPr lang="en-US" altLang="ko-KR" b="1" dirty="0" err="1"/>
              <a:t>arr</a:t>
            </a:r>
            <a:r>
              <a:rPr lang="en-US" altLang="ko-KR" b="1" dirty="0"/>
              <a:t>        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AB6766D-A343-6E4E-CA96-4B2796CD0041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90F78-13E8-9721-33AB-702A598CC37C}"/>
              </a:ext>
            </a:extLst>
          </p:cNvPr>
          <p:cNvSpPr txBox="1"/>
          <p:nvPr/>
        </p:nvSpPr>
        <p:spPr>
          <a:xfrm>
            <a:off x="1597494" y="7504005"/>
            <a:ext cx="3122334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taekwondo = 27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running = 63</a:t>
            </a:r>
          </a:p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shooting = [9, 10, 8, 10, 10, 10, 7, 10, 10, 10]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3D6D4-6AEE-621F-A673-9AA901F71784}"/>
              </a:ext>
            </a:extLst>
          </p:cNvPr>
          <p:cNvSpPr txBox="1"/>
          <p:nvPr/>
        </p:nvSpPr>
        <p:spPr>
          <a:xfrm>
            <a:off x="1597494" y="7210118"/>
            <a:ext cx="4258818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(three, five)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endParaRPr lang="ko-KR" altLang="en-US" sz="10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3BCC40B-1C6C-A022-D568-1AC8330ECCFD}"/>
              </a:ext>
            </a:extLst>
          </p:cNvPr>
          <p:cNvCxnSpPr>
            <a:cxnSpLocks/>
          </p:cNvCxnSpPr>
          <p:nvPr/>
        </p:nvCxnSpPr>
        <p:spPr>
          <a:xfrm>
            <a:off x="1081067" y="364646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AED2CDD-5F82-7492-CD7A-27AC7A1FE72F}"/>
              </a:ext>
            </a:extLst>
          </p:cNvPr>
          <p:cNvCxnSpPr>
            <a:cxnSpLocks/>
          </p:cNvCxnSpPr>
          <p:nvPr/>
        </p:nvCxnSpPr>
        <p:spPr>
          <a:xfrm>
            <a:off x="1081067" y="479145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62E6A9E-C647-D4A7-3F8C-ABBF08262898}"/>
              </a:ext>
            </a:extLst>
          </p:cNvPr>
          <p:cNvCxnSpPr>
            <a:cxnSpLocks/>
          </p:cNvCxnSpPr>
          <p:nvPr/>
        </p:nvCxnSpPr>
        <p:spPr>
          <a:xfrm>
            <a:off x="1081067" y="601675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C696382-87AB-55EC-CD38-680E8B666490}"/>
              </a:ext>
            </a:extLst>
          </p:cNvPr>
          <p:cNvCxnSpPr>
            <a:cxnSpLocks/>
          </p:cNvCxnSpPr>
          <p:nvPr/>
        </p:nvCxnSpPr>
        <p:spPr>
          <a:xfrm>
            <a:off x="1081067" y="665378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49919F-A7D7-8F26-13E0-FF2884C083F6}"/>
              </a:ext>
            </a:extLst>
          </p:cNvPr>
          <p:cNvSpPr txBox="1"/>
          <p:nvPr/>
        </p:nvSpPr>
        <p:spPr>
          <a:xfrm>
            <a:off x="1068875" y="6686480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[2, 3, 6, 9, 12, 15, 10, 20, 22, 25]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6326-8CBB-C0BB-DD2C-DCD04368B787}"/>
              </a:ext>
            </a:extLst>
          </p:cNvPr>
          <p:cNvSpPr txBox="1"/>
          <p:nvPr/>
        </p:nvSpPr>
        <p:spPr>
          <a:xfrm>
            <a:off x="3725711" y="6686480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"three"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0D727A-B8CC-B9FC-9E18-E595ADA8CC56}"/>
              </a:ext>
            </a:extLst>
          </p:cNvPr>
          <p:cNvCxnSpPr>
            <a:cxnSpLocks/>
          </p:cNvCxnSpPr>
          <p:nvPr/>
        </p:nvCxnSpPr>
        <p:spPr>
          <a:xfrm>
            <a:off x="1081067" y="70439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2711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DC00-3063-AC80-DF84-37B4ADA2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6C5FC26-F5C7-DAB6-F109-66A55FBAA3A1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BA9C165-8519-D7AD-6079-46A0FB7D2C23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9A535-78BD-207B-8D2D-55109A5A3D29}"/>
              </a:ext>
            </a:extLst>
          </p:cNvPr>
          <p:cNvSpPr txBox="1"/>
          <p:nvPr/>
        </p:nvSpPr>
        <p:spPr>
          <a:xfrm>
            <a:off x="1282446" y="1262023"/>
            <a:ext cx="4258818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count_three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count_five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count_three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count_five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en-US" altLang="ko-KR" sz="1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3773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EB15-A494-5DC5-556C-62D53DACC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ADC2B8D-FFCF-E427-1683-47A9C3065B5D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12]</a:t>
            </a:r>
            <a:r>
              <a:rPr lang="ko-KR" altLang="en-US" dirty="0"/>
              <a:t> 자연수의 각 자릿수 중에서 소수는 몇 개인지 구하려 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자연수를 각 자릿수별로 나누었을 때 </a:t>
            </a:r>
            <a:r>
              <a:rPr lang="en-US" altLang="ko-KR" dirty="0"/>
              <a:t>2, 3, 5, 7</a:t>
            </a:r>
            <a:r>
              <a:rPr lang="ko-KR" altLang="en-US" dirty="0"/>
              <a:t>이 몇 개 있는지 구하려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자연수가 </a:t>
            </a:r>
            <a:r>
              <a:rPr lang="en-US" altLang="ko-KR" dirty="0"/>
              <a:t>29022531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각 자릿수 중 소수의 위치는 다음과 같습니다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2 9 0 2 2 5 3 1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따라서 소수의 개수는 총 </a:t>
            </a:r>
            <a:r>
              <a:rPr lang="en-US" altLang="ko-KR" dirty="0"/>
              <a:t>5</a:t>
            </a:r>
            <a:r>
              <a:rPr lang="ko-KR" altLang="en-US" dirty="0"/>
              <a:t>개입니다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 </a:t>
            </a:r>
            <a:r>
              <a:rPr lang="en-US" altLang="ko-KR" dirty="0"/>
              <a:t>number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number</a:t>
            </a:r>
            <a:r>
              <a:rPr lang="ko-KR" altLang="en-US" dirty="0"/>
              <a:t>의 각 자릿수 중 소수는 몇 개인지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 </a:t>
            </a:r>
            <a:r>
              <a:rPr lang="en-US" altLang="ko-KR" dirty="0"/>
              <a:t>number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number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1,000,000,000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number</a:t>
            </a:r>
            <a:r>
              <a:rPr lang="ko-KR" altLang="en-US" dirty="0"/>
              <a:t>의 각 자릿수 중 소수는 몇 개인지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number                                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74C928E-71BD-67C5-2145-3178260182E9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EADD0D-9FEB-638A-646E-6FDA0B0AD315}"/>
              </a:ext>
            </a:extLst>
          </p:cNvPr>
          <p:cNvSpPr txBox="1"/>
          <p:nvPr/>
        </p:nvSpPr>
        <p:spPr>
          <a:xfrm>
            <a:off x="1597494" y="6019874"/>
            <a:ext cx="4258818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(number)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29022531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solution(number)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7C21DF7-B2EA-CFF3-46E1-ED766BD098C8}"/>
              </a:ext>
            </a:extLst>
          </p:cNvPr>
          <p:cNvCxnSpPr>
            <a:cxnSpLocks/>
          </p:cNvCxnSpPr>
          <p:nvPr/>
        </p:nvCxnSpPr>
        <p:spPr>
          <a:xfrm>
            <a:off x="1055206" y="29012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31584C9-3209-7220-DD51-F6CDDB1D9C5E}"/>
              </a:ext>
            </a:extLst>
          </p:cNvPr>
          <p:cNvCxnSpPr>
            <a:cxnSpLocks/>
          </p:cNvCxnSpPr>
          <p:nvPr/>
        </p:nvCxnSpPr>
        <p:spPr>
          <a:xfrm>
            <a:off x="1055206" y="39258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ABFFC0-A41E-61A0-FABA-E1E82500FEAB}"/>
              </a:ext>
            </a:extLst>
          </p:cNvPr>
          <p:cNvCxnSpPr>
            <a:cxnSpLocks/>
          </p:cNvCxnSpPr>
          <p:nvPr/>
        </p:nvCxnSpPr>
        <p:spPr>
          <a:xfrm>
            <a:off x="1055206" y="58003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04AE2E-FCBA-A424-B444-4B1345F47604}"/>
              </a:ext>
            </a:extLst>
          </p:cNvPr>
          <p:cNvSpPr txBox="1"/>
          <p:nvPr/>
        </p:nvSpPr>
        <p:spPr>
          <a:xfrm>
            <a:off x="1081067" y="5377117"/>
            <a:ext cx="312233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29022531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3A68D-1279-ADD9-67A5-00DCDE79617B}"/>
              </a:ext>
            </a:extLst>
          </p:cNvPr>
          <p:cNvSpPr txBox="1"/>
          <p:nvPr/>
        </p:nvSpPr>
        <p:spPr>
          <a:xfrm>
            <a:off x="3737903" y="5377117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8B29FC-DFE3-C6EE-EFCA-33DFC8E3EF33}"/>
              </a:ext>
            </a:extLst>
          </p:cNvPr>
          <p:cNvCxnSpPr>
            <a:cxnSpLocks/>
          </p:cNvCxnSpPr>
          <p:nvPr/>
        </p:nvCxnSpPr>
        <p:spPr>
          <a:xfrm>
            <a:off x="1055206" y="529494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4FB91D1-1C27-56A2-C721-6F1528499A3A}"/>
              </a:ext>
            </a:extLst>
          </p:cNvPr>
          <p:cNvCxnSpPr>
            <a:cxnSpLocks/>
          </p:cNvCxnSpPr>
          <p:nvPr/>
        </p:nvCxnSpPr>
        <p:spPr>
          <a:xfrm>
            <a:off x="1055206" y="468534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2205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D741-C545-A8DD-E86B-8BCB4C553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7E7F7C25-5A2A-9ACB-ED04-B51D5106E65D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13]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명의 후보에 대해 투표한 결과가 들어있는 배열이 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</a:t>
            </a:r>
            <a:r>
              <a:rPr lang="en-US" altLang="ko-KR" dirty="0"/>
              <a:t>5</a:t>
            </a:r>
            <a:r>
              <a:rPr lang="ko-KR" altLang="en-US" dirty="0"/>
              <a:t>명의 후보에 대해 투표를 진행한 결과가 </a:t>
            </a:r>
            <a:r>
              <a:rPr lang="en-US" altLang="ko-KR" dirty="0"/>
              <a:t>[2, 5, 3, 4, 1, 5, 1, 5, 5, 3] </a:t>
            </a:r>
            <a:r>
              <a:rPr lang="ko-KR" altLang="en-US" dirty="0"/>
              <a:t>이라면 순서대로 </a:t>
            </a:r>
            <a:r>
              <a:rPr lang="en-US" altLang="ko-KR" dirty="0"/>
              <a:t>2</a:t>
            </a:r>
            <a:r>
              <a:rPr lang="ko-KR" altLang="en-US" dirty="0"/>
              <a:t>번</a:t>
            </a:r>
            <a:r>
              <a:rPr lang="en-US" altLang="ko-KR" dirty="0"/>
              <a:t>, 5</a:t>
            </a:r>
            <a:r>
              <a:rPr lang="ko-KR" altLang="en-US" dirty="0"/>
              <a:t>번</a:t>
            </a:r>
            <a:r>
              <a:rPr lang="en-US" altLang="ko-KR" dirty="0"/>
              <a:t>, 3</a:t>
            </a:r>
            <a:r>
              <a:rPr lang="ko-KR" altLang="en-US" dirty="0"/>
              <a:t>번</a:t>
            </a:r>
            <a:r>
              <a:rPr lang="en-US" altLang="ko-KR" dirty="0"/>
              <a:t>, 4</a:t>
            </a:r>
            <a:r>
              <a:rPr lang="ko-KR" altLang="en-US" dirty="0"/>
              <a:t>번</a:t>
            </a:r>
            <a:r>
              <a:rPr lang="en-US" altLang="ko-KR" dirty="0"/>
              <a:t>, 1</a:t>
            </a:r>
            <a:r>
              <a:rPr lang="ko-KR" altLang="en-US" dirty="0"/>
              <a:t>번</a:t>
            </a:r>
            <a:r>
              <a:rPr lang="en-US" altLang="ko-KR" dirty="0"/>
              <a:t>, 5</a:t>
            </a:r>
            <a:r>
              <a:rPr lang="ko-KR" altLang="en-US" dirty="0"/>
              <a:t>번</a:t>
            </a:r>
            <a:r>
              <a:rPr lang="en-US" altLang="ko-KR" dirty="0"/>
              <a:t>, 1</a:t>
            </a:r>
            <a:r>
              <a:rPr lang="ko-KR" altLang="en-US" dirty="0"/>
              <a:t>번</a:t>
            </a:r>
            <a:r>
              <a:rPr lang="en-US" altLang="ko-KR" dirty="0"/>
              <a:t>, 5</a:t>
            </a:r>
            <a:r>
              <a:rPr lang="ko-KR" altLang="en-US" dirty="0"/>
              <a:t>번</a:t>
            </a:r>
            <a:r>
              <a:rPr lang="en-US" altLang="ko-KR" dirty="0"/>
              <a:t>, 5</a:t>
            </a:r>
            <a:r>
              <a:rPr lang="ko-KR" altLang="en-US" dirty="0"/>
              <a:t>번</a:t>
            </a:r>
            <a:r>
              <a:rPr lang="en-US" altLang="ko-KR" dirty="0"/>
              <a:t>, 3</a:t>
            </a:r>
            <a:r>
              <a:rPr lang="ko-KR" altLang="en-US" dirty="0"/>
              <a:t>번 후보에 투표했음을 나타냅니다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이 때</a:t>
            </a:r>
            <a:r>
              <a:rPr lang="en-US" altLang="ko-KR" dirty="0"/>
              <a:t>, </a:t>
            </a:r>
            <a:r>
              <a:rPr lang="ko-KR" altLang="en-US" dirty="0"/>
              <a:t>정확히 </a:t>
            </a:r>
            <a:r>
              <a:rPr lang="en-US" altLang="ko-KR" dirty="0"/>
              <a:t>K</a:t>
            </a:r>
            <a:r>
              <a:rPr lang="ko-KR" altLang="en-US" dirty="0"/>
              <a:t>표를 받은 후보는 총 몇 명인지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</a:t>
            </a:r>
            <a:r>
              <a:rPr lang="en-US" altLang="ko-KR" dirty="0"/>
              <a:t>K = 2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위 투표 결과에서 정확히 </a:t>
            </a:r>
            <a:r>
              <a:rPr lang="en-US" altLang="ko-KR" dirty="0"/>
              <a:t>2</a:t>
            </a:r>
            <a:r>
              <a:rPr lang="ko-KR" altLang="en-US" dirty="0"/>
              <a:t>표를 받은 후보는</a:t>
            </a:r>
            <a:r>
              <a:rPr lang="en-US" altLang="ko-KR" dirty="0"/>
              <a:t>1</a:t>
            </a:r>
            <a:r>
              <a:rPr lang="ko-KR" altLang="en-US" dirty="0"/>
              <a:t>번</a:t>
            </a:r>
            <a:r>
              <a:rPr lang="en-US" altLang="ko-KR" dirty="0"/>
              <a:t>, 3</a:t>
            </a:r>
            <a:r>
              <a:rPr lang="ko-KR" altLang="en-US" dirty="0"/>
              <a:t>번 후보로 총 </a:t>
            </a:r>
            <a:r>
              <a:rPr lang="en-US" altLang="ko-KR" dirty="0"/>
              <a:t>2</a:t>
            </a:r>
            <a:r>
              <a:rPr lang="ko-KR" altLang="en-US" dirty="0"/>
              <a:t>명입니다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투표 결과가 들어있는 배열 </a:t>
            </a:r>
            <a:r>
              <a:rPr lang="en-US" altLang="ko-KR" dirty="0"/>
              <a:t>votes, </a:t>
            </a:r>
            <a:r>
              <a:rPr lang="ko-KR" altLang="en-US" dirty="0"/>
              <a:t>후보의 수 </a:t>
            </a:r>
            <a:r>
              <a:rPr lang="en-US" altLang="ko-KR" dirty="0"/>
              <a:t>N, </a:t>
            </a:r>
            <a:r>
              <a:rPr lang="ko-KR" altLang="en-US" dirty="0"/>
              <a:t>표의 개수 </a:t>
            </a:r>
            <a:r>
              <a:rPr lang="en-US" altLang="ko-KR" dirty="0"/>
              <a:t>K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K</a:t>
            </a:r>
            <a:r>
              <a:rPr lang="ko-KR" altLang="en-US" dirty="0"/>
              <a:t>표를 받은 후보는 몇 명인지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메소드를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투표 결과가 들어있는 배열 </a:t>
            </a:r>
            <a:r>
              <a:rPr lang="en-US" altLang="ko-KR" dirty="0"/>
              <a:t>votes, </a:t>
            </a:r>
            <a:r>
              <a:rPr lang="ko-KR" altLang="en-US" dirty="0"/>
              <a:t>후보의 수 </a:t>
            </a:r>
            <a:r>
              <a:rPr lang="en-US" altLang="ko-KR" dirty="0"/>
              <a:t>N, </a:t>
            </a:r>
            <a:r>
              <a:rPr lang="ko-KR" altLang="en-US" dirty="0"/>
              <a:t>표의 개수 </a:t>
            </a:r>
            <a:r>
              <a:rPr lang="en-US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메소드의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votes</a:t>
            </a:r>
            <a:r>
              <a:rPr lang="ko-KR" altLang="en-US" dirty="0"/>
              <a:t>의 길이는 </a:t>
            </a:r>
            <a:r>
              <a:rPr lang="en-US" altLang="ko-KR" dirty="0"/>
              <a:t>10 </a:t>
            </a:r>
            <a:r>
              <a:rPr lang="ko-KR" altLang="en-US" dirty="0"/>
              <a:t>이상</a:t>
            </a:r>
            <a:r>
              <a:rPr lang="en-US" altLang="ko-KR" dirty="0"/>
              <a:t>, 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votes</a:t>
            </a:r>
            <a:r>
              <a:rPr lang="ko-KR" altLang="en-US" dirty="0"/>
              <a:t>의 원소는 </a:t>
            </a:r>
            <a:r>
              <a:rPr lang="en-US" altLang="ko-KR" dirty="0"/>
              <a:t>1 </a:t>
            </a:r>
            <a:r>
              <a:rPr lang="ko-KR" altLang="en-US" dirty="0"/>
              <a:t>이상</a:t>
            </a:r>
            <a:r>
              <a:rPr lang="en-US" altLang="ko-KR" dirty="0"/>
              <a:t>, </a:t>
            </a:r>
            <a:r>
              <a:rPr lang="ko-KR" altLang="en-US" dirty="0"/>
              <a:t>전체 후보의 수 </a:t>
            </a:r>
            <a:r>
              <a:rPr lang="en-US" altLang="ko-KR" dirty="0"/>
              <a:t>N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N</a:t>
            </a:r>
            <a:r>
              <a:rPr lang="ko-KR" altLang="en-US" dirty="0"/>
              <a:t>은 </a:t>
            </a:r>
            <a:r>
              <a:rPr lang="en-US" altLang="ko-KR" dirty="0"/>
              <a:t>3 </a:t>
            </a:r>
            <a:r>
              <a:rPr lang="ko-KR" altLang="en-US" dirty="0"/>
              <a:t>이상 </a:t>
            </a:r>
            <a:r>
              <a:rPr lang="en-US" altLang="ko-KR" dirty="0"/>
              <a:t>10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K</a:t>
            </a:r>
            <a:r>
              <a:rPr lang="ko-KR" altLang="en-US" dirty="0"/>
              <a:t>는 </a:t>
            </a:r>
            <a:r>
              <a:rPr lang="en-US" altLang="ko-KR" dirty="0"/>
              <a:t>0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K</a:t>
            </a:r>
            <a:r>
              <a:rPr lang="ko-KR" altLang="en-US" dirty="0"/>
              <a:t>표를 받은 후보는 몇 명인지 </a:t>
            </a:r>
            <a:r>
              <a:rPr lang="en-US" altLang="ko-KR" dirty="0"/>
              <a:t>return </a:t>
            </a:r>
            <a:r>
              <a:rPr lang="ko-KR" altLang="en-US" dirty="0"/>
              <a:t>해주세요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 votes                                  N                    K               return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865B257-A18A-05FA-AEF5-D8F36A5A0332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F5B9B-1BA8-C0A9-FA22-4C57FBD90740}"/>
              </a:ext>
            </a:extLst>
          </p:cNvPr>
          <p:cNvSpPr txBox="1"/>
          <p:nvPr/>
        </p:nvSpPr>
        <p:spPr>
          <a:xfrm>
            <a:off x="1282446" y="7272679"/>
            <a:ext cx="4258818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(votes, N, K)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  ##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votes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K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solution(votes, N, K)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72B7BC6-3C1E-B04D-9E83-F452262529D5}"/>
              </a:ext>
            </a:extLst>
          </p:cNvPr>
          <p:cNvCxnSpPr>
            <a:cxnSpLocks/>
          </p:cNvCxnSpPr>
          <p:nvPr/>
        </p:nvCxnSpPr>
        <p:spPr>
          <a:xfrm>
            <a:off x="710682" y="318211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9A9A7FF-3B9A-A1D5-A2B2-3AAB5847AB1F}"/>
              </a:ext>
            </a:extLst>
          </p:cNvPr>
          <p:cNvCxnSpPr>
            <a:cxnSpLocks/>
          </p:cNvCxnSpPr>
          <p:nvPr/>
        </p:nvCxnSpPr>
        <p:spPr>
          <a:xfrm>
            <a:off x="710682" y="51450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A4F31CA-BA42-51C2-D24D-A1D22FC5330B}"/>
              </a:ext>
            </a:extLst>
          </p:cNvPr>
          <p:cNvCxnSpPr>
            <a:cxnSpLocks/>
          </p:cNvCxnSpPr>
          <p:nvPr/>
        </p:nvCxnSpPr>
        <p:spPr>
          <a:xfrm>
            <a:off x="710682" y="583171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3CEBE66-B235-93E0-21E3-9CEA848F62AE}"/>
              </a:ext>
            </a:extLst>
          </p:cNvPr>
          <p:cNvSpPr txBox="1"/>
          <p:nvPr/>
        </p:nvSpPr>
        <p:spPr>
          <a:xfrm>
            <a:off x="736543" y="6568063"/>
            <a:ext cx="172624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[2, 5, 3, 4, 1, 5, 1, 5, 5, 3]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826FC-9D80-7BA1-911C-543EBFB31217}"/>
              </a:ext>
            </a:extLst>
          </p:cNvPr>
          <p:cNvSpPr txBox="1"/>
          <p:nvPr/>
        </p:nvSpPr>
        <p:spPr>
          <a:xfrm>
            <a:off x="2544618" y="6568063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37D44AD-8F9F-D8BC-BBAA-1E2BD2517F8C}"/>
              </a:ext>
            </a:extLst>
          </p:cNvPr>
          <p:cNvCxnSpPr>
            <a:cxnSpLocks/>
          </p:cNvCxnSpPr>
          <p:nvPr/>
        </p:nvCxnSpPr>
        <p:spPr>
          <a:xfrm>
            <a:off x="710682" y="648398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6A17F3-CF2C-1BBE-9976-38465677BE66}"/>
              </a:ext>
            </a:extLst>
          </p:cNvPr>
          <p:cNvSpPr txBox="1"/>
          <p:nvPr/>
        </p:nvSpPr>
        <p:spPr>
          <a:xfrm>
            <a:off x="3507786" y="6568063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1E3B26-4775-229B-3A6C-0E15EBEBC854}"/>
              </a:ext>
            </a:extLst>
          </p:cNvPr>
          <p:cNvSpPr txBox="1"/>
          <p:nvPr/>
        </p:nvSpPr>
        <p:spPr>
          <a:xfrm>
            <a:off x="4298675" y="6568063"/>
            <a:ext cx="158177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6BC7A1D-FAEB-7922-8CFE-03C6268EAF90}"/>
              </a:ext>
            </a:extLst>
          </p:cNvPr>
          <p:cNvCxnSpPr>
            <a:cxnSpLocks/>
          </p:cNvCxnSpPr>
          <p:nvPr/>
        </p:nvCxnSpPr>
        <p:spPr>
          <a:xfrm>
            <a:off x="710682" y="706920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6920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A000-F17F-5D71-E81B-4C6EC7FE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F8228B6-2FE1-2FFD-7126-6CF97A2AFD80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14]</a:t>
            </a:r>
            <a:r>
              <a:rPr lang="ko-KR" altLang="en-US" dirty="0"/>
              <a:t> 마트에서 음료수를 상자에 담아 정리하려고 합니다</a:t>
            </a:r>
            <a:r>
              <a:rPr lang="en-US" altLang="ko-KR" dirty="0"/>
              <a:t>. </a:t>
            </a:r>
            <a:r>
              <a:rPr lang="ko-KR" altLang="en-US" dirty="0"/>
              <a:t>상자 하나에는 음료수 </a:t>
            </a:r>
            <a:r>
              <a:rPr lang="en-US" altLang="ko-KR" dirty="0"/>
              <a:t>4</a:t>
            </a:r>
            <a:r>
              <a:rPr lang="ko-KR" altLang="en-US" dirty="0"/>
              <a:t>개씩 들어갑니다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음료수의 개수 </a:t>
            </a:r>
            <a:r>
              <a:rPr lang="en-US" altLang="ko-KR" dirty="0"/>
              <a:t>n</a:t>
            </a:r>
            <a:r>
              <a:rPr lang="ko-KR" altLang="en-US" dirty="0"/>
              <a:t>이 주어질 때</a:t>
            </a:r>
            <a:r>
              <a:rPr lang="en-US" altLang="ko-KR" dirty="0"/>
              <a:t>, </a:t>
            </a:r>
            <a:r>
              <a:rPr lang="ko-KR" altLang="en-US" dirty="0"/>
              <a:t>만들 수 있는 상자의 수와 상자에 담고 남는 음료수의 수를 구하려고 합니다</a:t>
            </a:r>
            <a:r>
              <a:rPr lang="en-US" altLang="ko-KR" dirty="0"/>
              <a:t>. </a:t>
            </a:r>
            <a:r>
              <a:rPr lang="ko-KR" altLang="en-US" dirty="0"/>
              <a:t>예를 들어 음료수가 </a:t>
            </a:r>
            <a:r>
              <a:rPr lang="en-US" altLang="ko-KR" dirty="0"/>
              <a:t>15</a:t>
            </a:r>
            <a:r>
              <a:rPr lang="ko-KR" altLang="en-US" dirty="0"/>
              <a:t>개라면</a:t>
            </a:r>
            <a:r>
              <a:rPr lang="en-US" altLang="ko-KR" dirty="0"/>
              <a:t>, 4</a:t>
            </a:r>
            <a:r>
              <a:rPr lang="ko-KR" altLang="en-US" dirty="0"/>
              <a:t>개씩 </a:t>
            </a:r>
            <a:r>
              <a:rPr lang="en-US" altLang="ko-KR" dirty="0"/>
              <a:t>3</a:t>
            </a:r>
            <a:r>
              <a:rPr lang="ko-KR" altLang="en-US" dirty="0"/>
              <a:t>상자를 만들 수 있고</a:t>
            </a:r>
            <a:r>
              <a:rPr lang="en-US" altLang="ko-KR" dirty="0"/>
              <a:t>, </a:t>
            </a:r>
            <a:r>
              <a:rPr lang="ko-KR" altLang="en-US" dirty="0"/>
              <a:t>남는 음료수는 </a:t>
            </a:r>
            <a:r>
              <a:rPr lang="en-US" altLang="ko-KR" dirty="0"/>
              <a:t>3</a:t>
            </a:r>
            <a:r>
              <a:rPr lang="ko-KR" altLang="en-US" dirty="0"/>
              <a:t>개입니다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음료수 개수 </a:t>
            </a:r>
            <a:r>
              <a:rPr lang="en-US" altLang="ko-KR" dirty="0"/>
              <a:t>n</a:t>
            </a:r>
            <a:r>
              <a:rPr lang="ko-KR" altLang="en-US" dirty="0"/>
              <a:t>이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상자의 수와 남은 음료수 수를 리스트로 반환하도록 </a:t>
            </a:r>
            <a:r>
              <a:rPr lang="en-US" altLang="ko-KR" dirty="0"/>
              <a:t>solution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코드가 올바르게 동작할 수 있도록 빈칸을 채워 전체 코드를 완성해 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음료수 개수 </a:t>
            </a:r>
            <a:r>
              <a:rPr lang="en-US" altLang="ko-KR" dirty="0"/>
              <a:t>n</a:t>
            </a:r>
            <a:r>
              <a:rPr lang="ko-KR" altLang="en-US" dirty="0"/>
              <a:t>이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n</a:t>
            </a:r>
            <a:r>
              <a:rPr lang="ko-KR" altLang="en-US" dirty="0"/>
              <a:t>은 </a:t>
            </a:r>
            <a:r>
              <a:rPr lang="en-US" altLang="ko-KR" dirty="0"/>
              <a:t>4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상자에 담을 수 있는 상자의 수와 담고 남는 음료수의 수를 리스트로 반환합니다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3BA9FBE-C390-C6D7-9C9E-5D21C751C5AF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BDCF41-6D8F-A365-6B52-2987178EDA7F}"/>
              </a:ext>
            </a:extLst>
          </p:cNvPr>
          <p:cNvSpPr txBox="1"/>
          <p:nvPr/>
        </p:nvSpPr>
        <p:spPr>
          <a:xfrm>
            <a:off x="1597494" y="6385634"/>
            <a:ext cx="4258818" cy="20928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box_count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= 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remaining_drinks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= 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box_count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remaining_drinks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solution(n)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solution(n1)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5C264F1-BB4D-32B0-C4A5-22E06DEAD90B}"/>
              </a:ext>
            </a:extLst>
          </p:cNvPr>
          <p:cNvCxnSpPr>
            <a:cxnSpLocks/>
          </p:cNvCxnSpPr>
          <p:nvPr/>
        </p:nvCxnSpPr>
        <p:spPr>
          <a:xfrm>
            <a:off x="1055206" y="29012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A274D71-1674-F2D8-DA40-8A2F214CB314}"/>
              </a:ext>
            </a:extLst>
          </p:cNvPr>
          <p:cNvCxnSpPr>
            <a:cxnSpLocks/>
          </p:cNvCxnSpPr>
          <p:nvPr/>
        </p:nvCxnSpPr>
        <p:spPr>
          <a:xfrm>
            <a:off x="1055206" y="39258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E56AA54-2383-F810-3E35-65635C9382AC}"/>
              </a:ext>
            </a:extLst>
          </p:cNvPr>
          <p:cNvCxnSpPr>
            <a:cxnSpLocks/>
          </p:cNvCxnSpPr>
          <p:nvPr/>
        </p:nvCxnSpPr>
        <p:spPr>
          <a:xfrm>
            <a:off x="1055206" y="468534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6A04A52-A01A-DCA1-6F97-07F786767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355549"/>
              </p:ext>
            </p:extLst>
          </p:nvPr>
        </p:nvGraphicFramePr>
        <p:xfrm>
          <a:off x="1188720" y="5228147"/>
          <a:ext cx="4544568" cy="86410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272284">
                  <a:extLst>
                    <a:ext uri="{9D8B030D-6E8A-4147-A177-3AD203B41FA5}">
                      <a16:colId xmlns:a16="http://schemas.microsoft.com/office/drawing/2014/main" val="2676082547"/>
                    </a:ext>
                  </a:extLst>
                </a:gridCol>
                <a:gridCol w="2272284">
                  <a:extLst>
                    <a:ext uri="{9D8B030D-6E8A-4147-A177-3AD203B41FA5}">
                      <a16:colId xmlns:a16="http://schemas.microsoft.com/office/drawing/2014/main" val="719973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942322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[3, 3]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521045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[2,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3416832"/>
                  </a:ext>
                </a:extLst>
              </a:tr>
            </a:tbl>
          </a:graphicData>
        </a:graphic>
      </p:graphicFrame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289A3CB-251D-C888-6420-EC48358CE58D}"/>
              </a:ext>
            </a:extLst>
          </p:cNvPr>
          <p:cNvCxnSpPr>
            <a:cxnSpLocks/>
          </p:cNvCxnSpPr>
          <p:nvPr/>
        </p:nvCxnSpPr>
        <p:spPr>
          <a:xfrm>
            <a:off x="1055206" y="550557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D005219-EAB5-C1C5-109B-9A40592518BB}"/>
              </a:ext>
            </a:extLst>
          </p:cNvPr>
          <p:cNvCxnSpPr>
            <a:cxnSpLocks/>
          </p:cNvCxnSpPr>
          <p:nvPr/>
        </p:nvCxnSpPr>
        <p:spPr>
          <a:xfrm>
            <a:off x="1055206" y="62066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69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68099-8ACC-EE49-8240-2342C098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E38AB353-3382-03DE-A66E-C9CF5F623C74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15]</a:t>
            </a:r>
            <a:r>
              <a:rPr lang="ko-KR" altLang="en-US" dirty="0"/>
              <a:t> 상점에서는 날짜별 매출 데이터를 분석하여</a:t>
            </a:r>
            <a:r>
              <a:rPr lang="en-US" altLang="ko-KR" dirty="0"/>
              <a:t>, </a:t>
            </a:r>
            <a:r>
              <a:rPr lang="ko-KR" altLang="en-US" dirty="0"/>
              <a:t>전날 대비 매출 변화량 중 가장 큰 </a:t>
            </a:r>
            <a:r>
              <a:rPr lang="ko-KR" altLang="en-US" dirty="0" err="1"/>
              <a:t>증가값을</a:t>
            </a:r>
            <a:r>
              <a:rPr lang="ko-KR" altLang="en-US" dirty="0"/>
              <a:t> 찾으려고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하루 전과 비교하여 매출이 얼마나 증가하거나 감소했는지를 계산하고</a:t>
            </a:r>
            <a:r>
              <a:rPr lang="en-US" altLang="ko-KR" dirty="0"/>
              <a:t>, </a:t>
            </a:r>
            <a:r>
              <a:rPr lang="ko-KR" altLang="en-US" dirty="0"/>
              <a:t>그 중 가장 큰 </a:t>
            </a:r>
            <a:r>
              <a:rPr lang="ko-KR" altLang="en-US" dirty="0" err="1"/>
              <a:t>증가값을</a:t>
            </a:r>
            <a:r>
              <a:rPr lang="ko-KR" altLang="en-US" dirty="0"/>
              <a:t> 구하려고 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매출 데이터가 </a:t>
            </a:r>
            <a:r>
              <a:rPr lang="en-US" altLang="ko-KR" dirty="0"/>
              <a:t>[50, 25, 45, 75, 30]</a:t>
            </a:r>
            <a:r>
              <a:rPr lang="ko-KR" altLang="en-US" dirty="0"/>
              <a:t>이라면 전날 대비 변화량은 </a:t>
            </a:r>
            <a:r>
              <a:rPr lang="en-US" altLang="ko-KR" dirty="0"/>
              <a:t>[-25, 20, 30, -45]</a:t>
            </a:r>
            <a:r>
              <a:rPr lang="ko-KR" altLang="en-US" dirty="0"/>
              <a:t>가 되고</a:t>
            </a:r>
            <a:r>
              <a:rPr lang="en-US" altLang="ko-KR" dirty="0"/>
              <a:t>, </a:t>
            </a:r>
            <a:r>
              <a:rPr lang="ko-KR" altLang="en-US" dirty="0"/>
              <a:t>이 중 가장 큰 값은 </a:t>
            </a:r>
            <a:r>
              <a:rPr lang="en-US" altLang="ko-KR" dirty="0"/>
              <a:t>30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매출 데이터가 담긴 배열 </a:t>
            </a:r>
            <a:r>
              <a:rPr lang="en-US" altLang="ko-KR" dirty="0"/>
              <a:t>sales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전날 대비 매출 </a:t>
            </a:r>
            <a:r>
              <a:rPr lang="ko-KR" altLang="en-US" dirty="0" err="1"/>
              <a:t>증가량</a:t>
            </a:r>
            <a:r>
              <a:rPr lang="ko-KR" altLang="en-US" dirty="0"/>
              <a:t> 중 최댓값을 반환하는 함수를 작성해보세요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코드가 올바르게 동작할 수 있도록 빈칸을 채워 전체 코드를 완성해 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매출 데이터가 담긴 배열 </a:t>
            </a:r>
            <a:r>
              <a:rPr lang="en-US" altLang="ko-KR" dirty="0"/>
              <a:t>sales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</a:t>
            </a:r>
            <a:r>
              <a:rPr lang="ko-KR" altLang="en-US" dirty="0"/>
              <a:t>의 길이는 </a:t>
            </a:r>
            <a:r>
              <a:rPr lang="en-US" altLang="ko-KR" dirty="0"/>
              <a:t>2 </a:t>
            </a:r>
            <a:r>
              <a:rPr lang="ko-KR" altLang="en-US" dirty="0"/>
              <a:t>이상 </a:t>
            </a:r>
            <a:r>
              <a:rPr lang="en-US" altLang="ko-KR" dirty="0"/>
              <a:t>20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</a:t>
            </a:r>
            <a:r>
              <a:rPr lang="ko-KR" altLang="en-US" dirty="0"/>
              <a:t>의 원소는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3000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전날과 비교한 매출 </a:t>
            </a:r>
            <a:r>
              <a:rPr lang="ko-KR" altLang="en-US" dirty="0" err="1"/>
              <a:t>증가량</a:t>
            </a:r>
            <a:r>
              <a:rPr lang="ko-KR" altLang="en-US" dirty="0"/>
              <a:t> 중 가장 큰 값을 반환합니다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457477-5521-56CC-8085-2A719AC65190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51FEE-F6F2-059D-8147-FB2954D80E67}"/>
              </a:ext>
            </a:extLst>
          </p:cNvPr>
          <p:cNvSpPr txBox="1"/>
          <p:nvPr/>
        </p:nvSpPr>
        <p:spPr>
          <a:xfrm>
            <a:off x="1282446" y="7272679"/>
            <a:ext cx="4258818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2B9B4F8-950F-118A-04BE-0638C63850ED}"/>
              </a:ext>
            </a:extLst>
          </p:cNvPr>
          <p:cNvCxnSpPr>
            <a:cxnSpLocks/>
          </p:cNvCxnSpPr>
          <p:nvPr/>
        </p:nvCxnSpPr>
        <p:spPr>
          <a:xfrm>
            <a:off x="710682" y="318211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67F0BDF-E611-F4B9-BF13-B343393EB217}"/>
              </a:ext>
            </a:extLst>
          </p:cNvPr>
          <p:cNvCxnSpPr>
            <a:cxnSpLocks/>
          </p:cNvCxnSpPr>
          <p:nvPr/>
        </p:nvCxnSpPr>
        <p:spPr>
          <a:xfrm>
            <a:off x="710682" y="44592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3C62F9D-6B1F-0DD3-C619-E440A740781B}"/>
              </a:ext>
            </a:extLst>
          </p:cNvPr>
          <p:cNvCxnSpPr>
            <a:cxnSpLocks/>
          </p:cNvCxnSpPr>
          <p:nvPr/>
        </p:nvCxnSpPr>
        <p:spPr>
          <a:xfrm>
            <a:off x="710682" y="520077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6839FFD-1EE6-6D45-B533-0FE6DD48A63F}"/>
              </a:ext>
            </a:extLst>
          </p:cNvPr>
          <p:cNvCxnSpPr>
            <a:cxnSpLocks/>
          </p:cNvCxnSpPr>
          <p:nvPr/>
        </p:nvCxnSpPr>
        <p:spPr>
          <a:xfrm>
            <a:off x="710682" y="70326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AB48BE0-6FBB-8914-02AE-56D9F956A527}"/>
              </a:ext>
            </a:extLst>
          </p:cNvPr>
          <p:cNvCxnSpPr>
            <a:cxnSpLocks/>
          </p:cNvCxnSpPr>
          <p:nvPr/>
        </p:nvCxnSpPr>
        <p:spPr>
          <a:xfrm>
            <a:off x="710682" y="613651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956EB3-1365-7851-CA9C-846CDBCAE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24225"/>
              </p:ext>
            </p:extLst>
          </p:nvPr>
        </p:nvGraphicFramePr>
        <p:xfrm>
          <a:off x="777691" y="5852277"/>
          <a:ext cx="4644702" cy="864108"/>
        </p:xfrm>
        <a:graphic>
          <a:graphicData uri="http://schemas.openxmlformats.org/drawingml/2006/table">
            <a:tbl>
              <a:tblPr/>
              <a:tblGrid>
                <a:gridCol w="2322351">
                  <a:extLst>
                    <a:ext uri="{9D8B030D-6E8A-4147-A177-3AD203B41FA5}">
                      <a16:colId xmlns:a16="http://schemas.microsoft.com/office/drawing/2014/main" val="2376127439"/>
                    </a:ext>
                  </a:extLst>
                </a:gridCol>
                <a:gridCol w="2322351">
                  <a:extLst>
                    <a:ext uri="{9D8B030D-6E8A-4147-A177-3AD203B41FA5}">
                      <a16:colId xmlns:a16="http://schemas.microsoft.com/office/drawing/2014/main" val="3679704294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50157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[50, 25, 45, 75, 30]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52328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[150, 235, 145, 175, 230, 100]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36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0860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82FC-466B-2F35-FB24-099FCAB7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A97C8D-7237-2050-54BA-331068C088A2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C7AC8-68AF-B26D-2810-D1E44305034C}"/>
              </a:ext>
            </a:extLst>
          </p:cNvPr>
          <p:cNvSpPr txBox="1"/>
          <p:nvPr/>
        </p:nvSpPr>
        <p:spPr>
          <a:xfrm>
            <a:off x="1730502" y="1237639"/>
            <a:ext cx="4258818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arr.sort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(sales)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diff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sales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solution(sales)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sales1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235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145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175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solution(sales1)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394246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01FD-3AFC-46EA-A00C-76EC4B56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EF2992F2-9BF0-1C3B-F356-25484C7E9B2A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16]</a:t>
            </a:r>
            <a:r>
              <a:rPr lang="ko-KR" altLang="en-US" dirty="0"/>
              <a:t> 학생들의 시험 점수가 리스트로 주어졌을 때</a:t>
            </a:r>
            <a:r>
              <a:rPr lang="en-US" altLang="ko-KR" dirty="0"/>
              <a:t>, </a:t>
            </a:r>
            <a:r>
              <a:rPr lang="ko-KR" altLang="en-US" dirty="0"/>
              <a:t>가장 높은 점수와 가장 낮은 점수의 차이를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점수가 </a:t>
            </a:r>
            <a:r>
              <a:rPr lang="en-US" altLang="ko-KR" dirty="0"/>
              <a:t>[70, 30, 20, 85, 50]</a:t>
            </a:r>
            <a:r>
              <a:rPr lang="ko-KR" altLang="en-US" dirty="0"/>
              <a:t>이라면 가장 높은 점수는 </a:t>
            </a:r>
            <a:r>
              <a:rPr lang="en-US" altLang="ko-KR" dirty="0"/>
              <a:t>85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가장 낮은 점수는 </a:t>
            </a:r>
            <a:r>
              <a:rPr lang="en-US" altLang="ko-KR" dirty="0"/>
              <a:t>20</a:t>
            </a:r>
            <a:r>
              <a:rPr lang="ko-KR" altLang="en-US" dirty="0"/>
              <a:t>점이므로 두 값의 차이는 </a:t>
            </a:r>
            <a:r>
              <a:rPr lang="en-US" altLang="ko-KR" dirty="0"/>
              <a:t>65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이 값을 구하기 위해 다음과 같은 과정을 사용합니다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가장 높은 점수를 찾습니다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가장 낮은 점수를 찾습니다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두 값의 차이를 계산합니다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점수 목록이 담긴 배열 </a:t>
            </a:r>
            <a:r>
              <a:rPr lang="en-US" altLang="ko-KR" dirty="0"/>
              <a:t>scores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최댓값과 최솟값의 차이를 반환하는 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코드가 올바르게 동작할 수 있도록 빈칸을 채워 전체 코드를 완성해 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점수 목록이 담긴 배열 </a:t>
            </a:r>
            <a:r>
              <a:rPr lang="en-US" altLang="ko-KR" dirty="0"/>
              <a:t>scores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scores</a:t>
            </a:r>
            <a:r>
              <a:rPr lang="ko-KR" altLang="en-US" dirty="0"/>
              <a:t>의 길이는 </a:t>
            </a:r>
            <a:r>
              <a:rPr lang="en-US" altLang="ko-KR" dirty="0"/>
              <a:t>2 </a:t>
            </a:r>
            <a:r>
              <a:rPr lang="ko-KR" altLang="en-US" dirty="0"/>
              <a:t>이상 </a:t>
            </a:r>
            <a:r>
              <a:rPr lang="en-US" altLang="ko-KR" dirty="0"/>
              <a:t>50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scores</a:t>
            </a:r>
            <a:r>
              <a:rPr lang="ko-KR" altLang="en-US" dirty="0"/>
              <a:t>의 원소는 </a:t>
            </a:r>
            <a:r>
              <a:rPr lang="en-US" altLang="ko-KR" dirty="0"/>
              <a:t>0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모든 점수는 서로 다른 값입니다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가장 높은 점수와 가장 낮은 점수의 차이를 반환합니다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3303B11-DB35-EC11-03C2-C30F560D400C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45AC1-7C49-2520-9F58-04A329DC62E0}"/>
              </a:ext>
            </a:extLst>
          </p:cNvPr>
          <p:cNvSpPr txBox="1"/>
          <p:nvPr/>
        </p:nvSpPr>
        <p:spPr>
          <a:xfrm>
            <a:off x="1282446" y="8031631"/>
            <a:ext cx="4258818" cy="55399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nn-NO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nn-NO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nn-NO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(val1, val2)</a:t>
            </a:r>
            <a:r>
              <a:rPr lang="nn-NO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nn-NO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nn-NO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n-NO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val1 - val2</a:t>
            </a:r>
          </a:p>
          <a:p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D56795B-F280-39E3-0F6C-5C543B7902E3}"/>
              </a:ext>
            </a:extLst>
          </p:cNvPr>
          <p:cNvCxnSpPr>
            <a:cxnSpLocks/>
          </p:cNvCxnSpPr>
          <p:nvPr/>
        </p:nvCxnSpPr>
        <p:spPr>
          <a:xfrm>
            <a:off x="710682" y="383133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106744-2BD3-FFDE-9E92-B4C3BA42694A}"/>
              </a:ext>
            </a:extLst>
          </p:cNvPr>
          <p:cNvCxnSpPr>
            <a:cxnSpLocks/>
          </p:cNvCxnSpPr>
          <p:nvPr/>
        </p:nvCxnSpPr>
        <p:spPr>
          <a:xfrm>
            <a:off x="710682" y="531876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6E709D2-5306-BBC0-E169-093859EB5BA0}"/>
              </a:ext>
            </a:extLst>
          </p:cNvPr>
          <p:cNvCxnSpPr>
            <a:cxnSpLocks/>
          </p:cNvCxnSpPr>
          <p:nvPr/>
        </p:nvCxnSpPr>
        <p:spPr>
          <a:xfrm>
            <a:off x="710682" y="606031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207BF41-3E2A-ADD7-2552-03F91C625D33}"/>
              </a:ext>
            </a:extLst>
          </p:cNvPr>
          <p:cNvCxnSpPr>
            <a:cxnSpLocks/>
          </p:cNvCxnSpPr>
          <p:nvPr/>
        </p:nvCxnSpPr>
        <p:spPr>
          <a:xfrm>
            <a:off x="710682" y="778243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703FB8F-8A1F-8539-B60A-D43A9BA175E8}"/>
              </a:ext>
            </a:extLst>
          </p:cNvPr>
          <p:cNvCxnSpPr>
            <a:cxnSpLocks/>
          </p:cNvCxnSpPr>
          <p:nvPr/>
        </p:nvCxnSpPr>
        <p:spPr>
          <a:xfrm>
            <a:off x="710682" y="694118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45868E1-B646-2BE9-6AD2-AA9D6DFC5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072991"/>
              </p:ext>
            </p:extLst>
          </p:nvPr>
        </p:nvGraphicFramePr>
        <p:xfrm>
          <a:off x="777240" y="6637515"/>
          <a:ext cx="4507992" cy="864108"/>
        </p:xfrm>
        <a:graphic>
          <a:graphicData uri="http://schemas.openxmlformats.org/drawingml/2006/table">
            <a:tbl>
              <a:tblPr/>
              <a:tblGrid>
                <a:gridCol w="2253996">
                  <a:extLst>
                    <a:ext uri="{9D8B030D-6E8A-4147-A177-3AD203B41FA5}">
                      <a16:colId xmlns:a16="http://schemas.microsoft.com/office/drawing/2014/main" val="2997842510"/>
                    </a:ext>
                  </a:extLst>
                </a:gridCol>
                <a:gridCol w="2253996">
                  <a:extLst>
                    <a:ext uri="{9D8B030D-6E8A-4147-A177-3AD203B41FA5}">
                      <a16:colId xmlns:a16="http://schemas.microsoft.com/office/drawing/2014/main" val="1136311711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38082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[70, 30, 20, 85, 50]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3554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[90, 50, 40, 80, 60, 70, 100]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1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0946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D29FE-7CB5-B8A4-8309-781EAAAB6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D47FC0D-8F82-C210-A9C8-158B7151AE49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F728F-A0C6-918F-EA85-AB5BB71B38C7}"/>
              </a:ext>
            </a:extLst>
          </p:cNvPr>
          <p:cNvSpPr txBox="1"/>
          <p:nvPr/>
        </p:nvSpPr>
        <p:spPr>
          <a:xfrm>
            <a:off x="1730502" y="1237639"/>
            <a:ext cx="4258818" cy="455509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elem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elem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solution(scores)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solution(scores1)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306981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CCC4-D590-28F9-EBAE-77254A92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8F083FA1-A43A-8105-C106-EC01A690A42C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17]</a:t>
            </a:r>
            <a:r>
              <a:rPr lang="ko-KR" altLang="en-US" dirty="0"/>
              <a:t> 복도에 </a:t>
            </a:r>
            <a:r>
              <a:rPr lang="en-US" altLang="ko-KR" dirty="0"/>
              <a:t>10</a:t>
            </a:r>
            <a:r>
              <a:rPr lang="ko-KR" altLang="en-US" dirty="0"/>
              <a:t>개의 전등이 일렬로 놓여 있습니다</a:t>
            </a:r>
            <a:r>
              <a:rPr lang="en-US" altLang="ko-KR" dirty="0"/>
              <a:t>. </a:t>
            </a:r>
            <a:r>
              <a:rPr lang="ko-KR" altLang="en-US" dirty="0"/>
              <a:t>처음에는 모든 전등이 꺼져 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사람들이 차례대로 복도를 지나가며 전등을 조작합니다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번 사람</a:t>
            </a:r>
            <a:r>
              <a:rPr lang="en-US" altLang="ko-KR" dirty="0"/>
              <a:t>: </a:t>
            </a:r>
            <a:r>
              <a:rPr lang="ko-KR" altLang="en-US" dirty="0"/>
              <a:t>모든 전등을 조작합니다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번 사람</a:t>
            </a:r>
            <a:r>
              <a:rPr lang="en-US" altLang="ko-KR" dirty="0"/>
              <a:t>: 2</a:t>
            </a:r>
            <a:r>
              <a:rPr lang="ko-KR" altLang="en-US" dirty="0"/>
              <a:t>의 배수 번호 전등만 조작합니다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번 사람</a:t>
            </a:r>
            <a:r>
              <a:rPr lang="en-US" altLang="ko-KR" dirty="0"/>
              <a:t>: 3</a:t>
            </a:r>
            <a:r>
              <a:rPr lang="ko-KR" altLang="en-US" dirty="0"/>
              <a:t>의 배수 번호 전등만 조작합니다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…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k</a:t>
            </a:r>
            <a:r>
              <a:rPr lang="ko-KR" altLang="en-US" dirty="0"/>
              <a:t>번 사람</a:t>
            </a:r>
            <a:r>
              <a:rPr lang="en-US" altLang="ko-KR" dirty="0"/>
              <a:t>: k</a:t>
            </a:r>
            <a:r>
              <a:rPr lang="ko-KR" altLang="en-US" dirty="0"/>
              <a:t>의 배수 번호 전등을 조작합니다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전등은 조작될 때마다 상태가 바뀝니다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꺼짐 → </a:t>
            </a:r>
            <a:r>
              <a:rPr lang="ko-KR" altLang="en-US" dirty="0" err="1"/>
              <a:t>켜짐</a:t>
            </a:r>
            <a:r>
              <a:rPr lang="en-US" altLang="ko-KR" dirty="0"/>
              <a:t>, </a:t>
            </a:r>
            <a:r>
              <a:rPr lang="ko-KR" altLang="en-US" dirty="0" err="1"/>
              <a:t>켜짐</a:t>
            </a:r>
            <a:r>
              <a:rPr lang="ko-KR" altLang="en-US" dirty="0"/>
              <a:t> → 꺼짐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</a:t>
            </a:r>
            <a:r>
              <a:rPr lang="en-US" altLang="ko-KR" dirty="0"/>
              <a:t>k = 2</a:t>
            </a:r>
            <a:r>
              <a:rPr lang="ko-KR" altLang="en-US" dirty="0"/>
              <a:t>일 경우</a:t>
            </a:r>
            <a:r>
              <a:rPr lang="en-US" altLang="ko-KR" dirty="0"/>
              <a:t>, </a:t>
            </a:r>
            <a:r>
              <a:rPr lang="ko-KR" altLang="en-US" dirty="0"/>
              <a:t>최종 상태는 다음과 같습니다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사람 수 </a:t>
            </a:r>
            <a:r>
              <a:rPr lang="en-US" altLang="ko-KR" dirty="0"/>
              <a:t>k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모든 사람이 지나간 후 전등의 상태를 리스트로 반환하는 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코드가 올바르게 동작할 수 있도록 빈칸을 채워 전체 코드를 완성해 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사람 수 </a:t>
            </a:r>
            <a:r>
              <a:rPr lang="en-US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k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모든 사람이 지나간 후 켜진 전등은 </a:t>
            </a:r>
            <a:r>
              <a:rPr lang="en-US" altLang="ko-KR" dirty="0"/>
              <a:t>True, </a:t>
            </a:r>
            <a:r>
              <a:rPr lang="ko-KR" altLang="en-US" dirty="0"/>
              <a:t>꺼진 전등은 </a:t>
            </a:r>
            <a:r>
              <a:rPr lang="en-US" altLang="ko-KR" dirty="0"/>
              <a:t>False</a:t>
            </a:r>
            <a:r>
              <a:rPr lang="ko-KR" altLang="en-US" dirty="0"/>
              <a:t>로 표현한 리스트를 반환합니다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AD099D-5984-A840-AD88-E2ACAAAD27A1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6FA5B85-E92C-E5EC-576D-B50EFAF1DE34}"/>
              </a:ext>
            </a:extLst>
          </p:cNvPr>
          <p:cNvCxnSpPr>
            <a:cxnSpLocks/>
          </p:cNvCxnSpPr>
          <p:nvPr/>
        </p:nvCxnSpPr>
        <p:spPr>
          <a:xfrm>
            <a:off x="710682" y="46817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D862C47-C0C9-D26B-A52C-C1F50C900135}"/>
              </a:ext>
            </a:extLst>
          </p:cNvPr>
          <p:cNvCxnSpPr>
            <a:cxnSpLocks/>
          </p:cNvCxnSpPr>
          <p:nvPr/>
        </p:nvCxnSpPr>
        <p:spPr>
          <a:xfrm>
            <a:off x="719826" y="567537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30B72DA-E879-BFDB-40BC-E564D2885B5B}"/>
              </a:ext>
            </a:extLst>
          </p:cNvPr>
          <p:cNvCxnSpPr>
            <a:cxnSpLocks/>
          </p:cNvCxnSpPr>
          <p:nvPr/>
        </p:nvCxnSpPr>
        <p:spPr>
          <a:xfrm>
            <a:off x="710682" y="65449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430031F-A0F5-BCFC-F730-7F86CC42F8D3}"/>
              </a:ext>
            </a:extLst>
          </p:cNvPr>
          <p:cNvCxnSpPr>
            <a:cxnSpLocks/>
          </p:cNvCxnSpPr>
          <p:nvPr/>
        </p:nvCxnSpPr>
        <p:spPr>
          <a:xfrm>
            <a:off x="710682" y="74258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C4EFE57-9C63-B2DA-D903-0B4536B61378}"/>
              </a:ext>
            </a:extLst>
          </p:cNvPr>
          <p:cNvSpPr txBox="1"/>
          <p:nvPr/>
        </p:nvSpPr>
        <p:spPr>
          <a:xfrm>
            <a:off x="636421" y="3670052"/>
            <a:ext cx="53954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altLang="ko-KR" sz="105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a-DK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1050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C6F572-D4D2-D554-411F-37BB619A2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120681"/>
              </p:ext>
            </p:extLst>
          </p:nvPr>
        </p:nvGraphicFramePr>
        <p:xfrm>
          <a:off x="768096" y="7150860"/>
          <a:ext cx="4782312" cy="905004"/>
        </p:xfrm>
        <a:graphic>
          <a:graphicData uri="http://schemas.openxmlformats.org/drawingml/2006/table">
            <a:tbl>
              <a:tblPr/>
              <a:tblGrid>
                <a:gridCol w="426131">
                  <a:extLst>
                    <a:ext uri="{9D8B030D-6E8A-4147-A177-3AD203B41FA5}">
                      <a16:colId xmlns:a16="http://schemas.microsoft.com/office/drawing/2014/main" val="3935113874"/>
                    </a:ext>
                  </a:extLst>
                </a:gridCol>
                <a:gridCol w="4356181">
                  <a:extLst>
                    <a:ext uri="{9D8B030D-6E8A-4147-A177-3AD203B41FA5}">
                      <a16:colId xmlns:a16="http://schemas.microsoft.com/office/drawing/2014/main" val="319288821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+mn-ea"/>
                          <a:ea typeface="+mn-ea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556128"/>
                  </a:ext>
                </a:extLst>
              </a:tr>
              <a:tr h="31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latin typeface="+mn-ea"/>
                          <a:ea typeface="+mn-ea"/>
                        </a:rPr>
                        <a:t>[True, False, True, False, True, False, True, False, True, False]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63495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latin typeface="+mn-ea"/>
                          <a:ea typeface="+mn-ea"/>
                        </a:rPr>
                        <a:t>[True, False, False, True, True, False, False, True, False, False]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91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6246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ECE2E-9DCC-4B5E-4296-2044681AE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A5748CE-06BF-327E-D5DC-500A69A0CA07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19771-0F18-7417-C006-21411B5BFAFA}"/>
              </a:ext>
            </a:extLst>
          </p:cNvPr>
          <p:cNvSpPr txBox="1"/>
          <p:nvPr/>
        </p:nvSpPr>
        <p:spPr>
          <a:xfrm>
            <a:off x="1666494" y="1237639"/>
            <a:ext cx="4258818" cy="286232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(k)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multiple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range(person,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person):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answer[multiple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k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solution(k)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k1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solution(k1)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2A0CE238-49A4-0A96-777C-04E45AB380FB}"/>
              </a:ext>
            </a:extLst>
          </p:cNvPr>
          <p:cNvSpPr txBox="1">
            <a:spLocks/>
          </p:cNvSpPr>
          <p:nvPr/>
        </p:nvSpPr>
        <p:spPr>
          <a:xfrm>
            <a:off x="1081067" y="1237639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423390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ABEBC-BF80-6BB7-31A2-8E4096F35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237628F-B8E1-CB86-5FC1-FC6FCB92F23B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18]</a:t>
            </a:r>
            <a:r>
              <a:rPr lang="ko-KR" altLang="en-US" dirty="0"/>
              <a:t> 어떤 수 </a:t>
            </a:r>
            <a:r>
              <a:rPr lang="en-US" altLang="ko-KR" dirty="0"/>
              <a:t>k</a:t>
            </a:r>
            <a:r>
              <a:rPr lang="ko-KR" altLang="en-US" dirty="0"/>
              <a:t>가 주어졌을 때</a:t>
            </a:r>
            <a:r>
              <a:rPr lang="en-US" altLang="ko-KR" dirty="0"/>
              <a:t>, 1</a:t>
            </a:r>
            <a:r>
              <a:rPr lang="ko-KR" altLang="en-US" dirty="0"/>
              <a:t>부터 </a:t>
            </a:r>
            <a:r>
              <a:rPr lang="en-US" altLang="ko-KR" dirty="0"/>
              <a:t>k</a:t>
            </a:r>
            <a:r>
              <a:rPr lang="ko-KR" altLang="en-US" dirty="0"/>
              <a:t>까지 제곱의 합을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</a:t>
            </a:r>
            <a:r>
              <a:rPr lang="en-US" altLang="ko-KR" dirty="0"/>
              <a:t>k = 3</a:t>
            </a:r>
            <a:r>
              <a:rPr lang="ko-KR" altLang="en-US" dirty="0"/>
              <a:t>일 경우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3</a:t>
            </a:r>
            <a:r>
              <a:rPr lang="ko-KR" altLang="en-US" dirty="0"/>
              <a:t>까지 제곱의 합은 </a:t>
            </a:r>
            <a:r>
              <a:rPr lang="en-US" altLang="ko-KR" dirty="0"/>
              <a:t>14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 </a:t>
            </a:r>
            <a:r>
              <a:rPr lang="en-US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주어질 때</a:t>
            </a:r>
            <a:r>
              <a:rPr lang="en-US" altLang="ko-KR" dirty="0"/>
              <a:t>, 1</a:t>
            </a:r>
            <a:r>
              <a:rPr lang="ko-KR" altLang="en-US" dirty="0"/>
              <a:t>부터 </a:t>
            </a:r>
            <a:r>
              <a:rPr lang="en-US" altLang="ko-KR" dirty="0"/>
              <a:t>k</a:t>
            </a:r>
            <a:r>
              <a:rPr lang="ko-KR" altLang="en-US" dirty="0"/>
              <a:t>까지 제곱의 합을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함수를 작성했습니다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일부 코드가 잘못되어 코드가 바르게 동작하지 않습니다</a:t>
            </a:r>
            <a:r>
              <a:rPr lang="en-US" altLang="ko-KR" dirty="0"/>
              <a:t>. </a:t>
            </a:r>
            <a:r>
              <a:rPr lang="ko-KR" altLang="en-US" dirty="0"/>
              <a:t>주어진 코드가 모든 입력을 바르게 처리하도록 코드를 수정해주세요</a:t>
            </a:r>
            <a:r>
              <a:rPr lang="en-US" altLang="ko-KR" dirty="0"/>
              <a:t>. </a:t>
            </a:r>
            <a:r>
              <a:rPr lang="ko-KR" altLang="en-US" dirty="0"/>
              <a:t>코드는 한 줄만 수정해야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자연수 </a:t>
            </a:r>
            <a:r>
              <a:rPr lang="en-US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주어집니다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k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k</a:t>
            </a:r>
            <a:r>
              <a:rPr lang="ko-KR" altLang="en-US" dirty="0"/>
              <a:t>까지 제곱의 합을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BA2F830-8D2C-FDB4-F275-D9B9574FB831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4D0612F-AE2D-EEDA-52F3-A42DC63612E9}"/>
              </a:ext>
            </a:extLst>
          </p:cNvPr>
          <p:cNvCxnSpPr>
            <a:cxnSpLocks/>
          </p:cNvCxnSpPr>
          <p:nvPr/>
        </p:nvCxnSpPr>
        <p:spPr>
          <a:xfrm>
            <a:off x="710682" y="315468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47713A4-925D-7F6F-16A5-C7512D3458A9}"/>
              </a:ext>
            </a:extLst>
          </p:cNvPr>
          <p:cNvCxnSpPr>
            <a:cxnSpLocks/>
          </p:cNvCxnSpPr>
          <p:nvPr/>
        </p:nvCxnSpPr>
        <p:spPr>
          <a:xfrm>
            <a:off x="719826" y="41483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83010FB-1F72-CC78-5A06-5C7C558B0EC5}"/>
              </a:ext>
            </a:extLst>
          </p:cNvPr>
          <p:cNvCxnSpPr>
            <a:cxnSpLocks/>
          </p:cNvCxnSpPr>
          <p:nvPr/>
        </p:nvCxnSpPr>
        <p:spPr>
          <a:xfrm>
            <a:off x="710682" y="48990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6904BE2-ADED-EA96-EE22-B63F1A6642E1}"/>
              </a:ext>
            </a:extLst>
          </p:cNvPr>
          <p:cNvCxnSpPr>
            <a:cxnSpLocks/>
          </p:cNvCxnSpPr>
          <p:nvPr/>
        </p:nvCxnSpPr>
        <p:spPr>
          <a:xfrm>
            <a:off x="710682" y="569760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89F129-9DA0-EF65-621D-39B10DF5DCCE}"/>
              </a:ext>
            </a:extLst>
          </p:cNvPr>
          <p:cNvSpPr txBox="1"/>
          <p:nvPr/>
        </p:nvSpPr>
        <p:spPr>
          <a:xfrm>
            <a:off x="1044702" y="1826133"/>
            <a:ext cx="32781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14</a:t>
            </a:r>
            <a:endParaRPr lang="ko-KR" altLang="en-US" sz="11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A24EF19-F8AB-CAC4-55E8-8FE5A04AE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310852"/>
              </p:ext>
            </p:extLst>
          </p:nvPr>
        </p:nvGraphicFramePr>
        <p:xfrm>
          <a:off x="768096" y="5406516"/>
          <a:ext cx="4617720" cy="864108"/>
        </p:xfrm>
        <a:graphic>
          <a:graphicData uri="http://schemas.openxmlformats.org/drawingml/2006/table">
            <a:tbl>
              <a:tblPr/>
              <a:tblGrid>
                <a:gridCol w="2308860">
                  <a:extLst>
                    <a:ext uri="{9D8B030D-6E8A-4147-A177-3AD203B41FA5}">
                      <a16:colId xmlns:a16="http://schemas.microsoft.com/office/drawing/2014/main" val="1793229093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2206306159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+mn-ea"/>
                          <a:ea typeface="+mn-ea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46857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2252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5417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9817D65-B8EE-F60E-17EF-68D37527CDA7}"/>
              </a:ext>
            </a:extLst>
          </p:cNvPr>
          <p:cNvSpPr txBox="1"/>
          <p:nvPr/>
        </p:nvSpPr>
        <p:spPr>
          <a:xfrm>
            <a:off x="1282446" y="6614311"/>
            <a:ext cx="4258818" cy="20928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(k)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k+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k * 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solution(n)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solution(n1)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71465D4-E26E-E4E2-161A-C4ADD97B40A0}"/>
              </a:ext>
            </a:extLst>
          </p:cNvPr>
          <p:cNvCxnSpPr>
            <a:cxnSpLocks/>
          </p:cNvCxnSpPr>
          <p:nvPr/>
        </p:nvCxnSpPr>
        <p:spPr>
          <a:xfrm>
            <a:off x="710682" y="644740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1360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4B7D2-FD73-5BE6-C2A7-5EDA8DEF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4539F6A-B1FE-6260-1F6C-854466A3CFF8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19]</a:t>
            </a:r>
            <a:r>
              <a:rPr lang="ko-KR" altLang="en-US" dirty="0"/>
              <a:t> 수업 시작 시간을 기준으로 학생들의 출결 상태를 판별하려고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학생이 수업에 들어온 시간에 따라 다음과 같이 구분합니다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수업 시작 후 </a:t>
            </a:r>
            <a:r>
              <a:rPr lang="en-US" altLang="ko-KR" dirty="0"/>
              <a:t>n</a:t>
            </a:r>
            <a:r>
              <a:rPr lang="ko-KR" altLang="en-US" dirty="0"/>
              <a:t>분 이내 </a:t>
            </a:r>
            <a:r>
              <a:rPr lang="en-US" altLang="ko-KR" dirty="0"/>
              <a:t>: </a:t>
            </a:r>
            <a:r>
              <a:rPr lang="ko-KR" altLang="en-US" dirty="0"/>
              <a:t>출석 </a:t>
            </a:r>
            <a:r>
              <a:rPr lang="en-US" altLang="ko-KR" dirty="0"/>
              <a:t>(0)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수업 시작 후 </a:t>
            </a:r>
            <a:r>
              <a:rPr lang="en-US" altLang="ko-KR" dirty="0"/>
              <a:t>n</a:t>
            </a:r>
            <a:r>
              <a:rPr lang="ko-KR" altLang="en-US" dirty="0"/>
              <a:t>분 초과 </a:t>
            </a:r>
            <a:r>
              <a:rPr lang="en-US" altLang="ko-KR" dirty="0"/>
              <a:t>~ m</a:t>
            </a:r>
            <a:r>
              <a:rPr lang="ko-KR" altLang="en-US" dirty="0"/>
              <a:t>분 이내 </a:t>
            </a:r>
            <a:r>
              <a:rPr lang="en-US" altLang="ko-KR" dirty="0"/>
              <a:t>: </a:t>
            </a:r>
            <a:r>
              <a:rPr lang="ko-KR" altLang="en-US" dirty="0"/>
              <a:t>지각 </a:t>
            </a:r>
            <a:r>
              <a:rPr lang="en-US" altLang="ko-KR" dirty="0"/>
              <a:t>(1)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수업 시작 후 </a:t>
            </a:r>
            <a:r>
              <a:rPr lang="en-US" altLang="ko-KR" dirty="0"/>
              <a:t>m</a:t>
            </a:r>
            <a:r>
              <a:rPr lang="ko-KR" altLang="en-US" dirty="0"/>
              <a:t>분 초과</a:t>
            </a:r>
            <a:r>
              <a:rPr lang="en-US" altLang="ko-KR" dirty="0"/>
              <a:t>: </a:t>
            </a:r>
            <a:r>
              <a:rPr lang="ko-KR" altLang="en-US" dirty="0"/>
              <a:t>결석 </a:t>
            </a:r>
            <a:r>
              <a:rPr lang="en-US" altLang="ko-KR" dirty="0"/>
              <a:t>(2)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수업 시작 시간이 </a:t>
            </a:r>
            <a:r>
              <a:rPr lang="en-US" altLang="ko-KR" dirty="0"/>
              <a:t>"09:00"</a:t>
            </a:r>
            <a:r>
              <a:rPr lang="ko-KR" altLang="en-US" dirty="0"/>
              <a:t>이고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n = 10, m = 30</a:t>
            </a:r>
            <a:r>
              <a:rPr lang="ko-KR" altLang="en-US" dirty="0"/>
              <a:t>일 경우</a:t>
            </a:r>
            <a:r>
              <a:rPr lang="en-US" altLang="ko-KR" dirty="0"/>
              <a:t>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"09:10"</a:t>
            </a:r>
            <a:r>
              <a:rPr lang="ko-KR" altLang="en-US" dirty="0"/>
              <a:t>까지 → 출석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"09:11" ~ "09:30" → </a:t>
            </a:r>
            <a:r>
              <a:rPr lang="ko-KR" altLang="en-US" dirty="0"/>
              <a:t>지각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"09:31" </a:t>
            </a:r>
            <a:r>
              <a:rPr lang="ko-KR" altLang="en-US" dirty="0"/>
              <a:t>이후 → 결석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학생들의 입실 시간이 담긴 배열이 주어질 때</a:t>
            </a:r>
            <a:r>
              <a:rPr lang="en-US" altLang="ko-KR" dirty="0"/>
              <a:t>, </a:t>
            </a:r>
            <a:r>
              <a:rPr lang="ko-KR" altLang="en-US" dirty="0"/>
              <a:t>각 학생의 출결 상태를 판별하여 리스트로 반환하는 함수를 작성해보세요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코드가 올바르게 동작할 수 있도록 빈칸을 채워 전체 코드를 완성해 주세요</a:t>
            </a:r>
            <a:r>
              <a:rPr lang="en-US" altLang="ko-KR" dirty="0"/>
              <a:t>. </a:t>
            </a:r>
            <a:r>
              <a:rPr lang="ko-KR" altLang="en-US" dirty="0"/>
              <a:t>코드가 올바르게 동작할 수 있도록 한 줄을 수정하여 전체 코드를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start: </a:t>
            </a:r>
            <a:r>
              <a:rPr lang="ko-KR" altLang="en-US" dirty="0"/>
              <a:t>수업 시작 시각 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, "HH:MM" </a:t>
            </a:r>
            <a:r>
              <a:rPr lang="ko-KR" altLang="en-US" dirty="0"/>
              <a:t>형식</a:t>
            </a:r>
            <a:r>
              <a:rPr lang="en-US" altLang="ko-KR" dirty="0"/>
              <a:t>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attendances: </a:t>
            </a:r>
            <a:r>
              <a:rPr lang="ko-KR" altLang="en-US" dirty="0"/>
              <a:t>학생들의 입실 시각 배열</a:t>
            </a:r>
            <a:r>
              <a:rPr lang="en-US" altLang="ko-KR" dirty="0"/>
              <a:t>[1 </a:t>
            </a:r>
            <a:r>
              <a:rPr lang="ko-KR" altLang="en-US" dirty="0"/>
              <a:t>이상 </a:t>
            </a:r>
            <a:r>
              <a:rPr lang="en-US" altLang="ko-KR" dirty="0"/>
              <a:t>10 </a:t>
            </a:r>
            <a:r>
              <a:rPr lang="ko-KR" altLang="en-US" dirty="0"/>
              <a:t>이하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n: </a:t>
            </a:r>
            <a:r>
              <a:rPr lang="ko-KR" altLang="en-US" dirty="0"/>
              <a:t>출석 기준 시간 </a:t>
            </a:r>
            <a:r>
              <a:rPr lang="en-US" altLang="ko-KR" dirty="0"/>
              <a:t>(</a:t>
            </a:r>
            <a:r>
              <a:rPr lang="ko-KR" altLang="en-US" dirty="0"/>
              <a:t>분</a:t>
            </a:r>
            <a:r>
              <a:rPr lang="en-US" altLang="ko-KR" dirty="0"/>
              <a:t>)[0 </a:t>
            </a:r>
            <a:r>
              <a:rPr lang="ko-KR" altLang="en-US" dirty="0"/>
              <a:t>이상 </a:t>
            </a:r>
            <a:r>
              <a:rPr lang="en-US" altLang="ko-KR" dirty="0"/>
              <a:t>30 </a:t>
            </a:r>
            <a:r>
              <a:rPr lang="ko-KR" altLang="en-US" dirty="0"/>
              <a:t>이하의 정수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m: </a:t>
            </a:r>
            <a:r>
              <a:rPr lang="ko-KR" altLang="en-US" dirty="0"/>
              <a:t>지각 기준 시간 </a:t>
            </a:r>
            <a:r>
              <a:rPr lang="en-US" altLang="ko-KR" dirty="0"/>
              <a:t>(</a:t>
            </a:r>
            <a:r>
              <a:rPr lang="ko-KR" altLang="en-US" dirty="0"/>
              <a:t>분</a:t>
            </a:r>
            <a:r>
              <a:rPr lang="en-US" altLang="ko-KR" dirty="0"/>
              <a:t>)[n</a:t>
            </a:r>
            <a:r>
              <a:rPr lang="ko-KR" altLang="en-US" dirty="0"/>
              <a:t>보다 크고 </a:t>
            </a:r>
            <a:r>
              <a:rPr lang="en-US" altLang="ko-KR" dirty="0"/>
              <a:t>60 </a:t>
            </a:r>
            <a:r>
              <a:rPr lang="ko-KR" altLang="en-US" dirty="0"/>
              <a:t>이하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각 학생의 출결 상태를 다음과 같이 리스트로 반환합니다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출석 → </a:t>
            </a:r>
            <a:r>
              <a:rPr lang="en-US" altLang="ko-KR" dirty="0"/>
              <a:t>0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지각 → </a:t>
            </a:r>
            <a:r>
              <a:rPr lang="en-US" altLang="ko-KR" dirty="0"/>
              <a:t>1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결석 → </a:t>
            </a:r>
            <a:r>
              <a:rPr lang="en-US" altLang="ko-KR" dirty="0"/>
              <a:t>2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1B3A4AA-47E6-C958-2A0B-52851AF60BCB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58A5FF-52D6-9E19-DF2A-6EA73FAC7CAA}"/>
              </a:ext>
            </a:extLst>
          </p:cNvPr>
          <p:cNvCxnSpPr>
            <a:cxnSpLocks/>
          </p:cNvCxnSpPr>
          <p:nvPr/>
        </p:nvCxnSpPr>
        <p:spPr>
          <a:xfrm>
            <a:off x="1055206" y="468534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5AC382C-2E63-8511-A538-B26BE59FDE0D}"/>
              </a:ext>
            </a:extLst>
          </p:cNvPr>
          <p:cNvCxnSpPr>
            <a:cxnSpLocks/>
          </p:cNvCxnSpPr>
          <p:nvPr/>
        </p:nvCxnSpPr>
        <p:spPr>
          <a:xfrm>
            <a:off x="1055206" y="620019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4562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299AF-8869-6F76-CC74-EACA1CE4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4636397-5ED4-9531-90EE-2FA132B720F6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44B4C6A-D015-D840-D709-C930FA1CECC8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D29622-7A67-06E4-5AB7-49532593B460}"/>
              </a:ext>
            </a:extLst>
          </p:cNvPr>
          <p:cNvCxnSpPr>
            <a:cxnSpLocks/>
          </p:cNvCxnSpPr>
          <p:nvPr/>
        </p:nvCxnSpPr>
        <p:spPr>
          <a:xfrm>
            <a:off x="710682" y="194856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CBA6C6-E468-29D0-4C76-A2CB1675C319}"/>
              </a:ext>
            </a:extLst>
          </p:cNvPr>
          <p:cNvSpPr txBox="1"/>
          <p:nvPr/>
        </p:nvSpPr>
        <p:spPr>
          <a:xfrm>
            <a:off x="1282446" y="3203599"/>
            <a:ext cx="4258818" cy="532453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hhmm_to_int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hhmm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hh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mm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hhmm.split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hh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int(mm)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(start, attendances, n, m)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start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hhmm_to_int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(start)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attendance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attendances: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attendance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hhmm_to_int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(attendance)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attendance &lt;= start + n: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attendance &lt;= start + m: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"09:00"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attendances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"09:10"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"09:30"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"09:31"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solution(start, attendances, n, m)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start1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"13:00"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attendances1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"13:10"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"13:20"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"13:30"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"14:00"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solution(start1, attendances1, n1, m1)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E989530-EC5E-C20F-074A-661A522DE563}"/>
              </a:ext>
            </a:extLst>
          </p:cNvPr>
          <p:cNvCxnSpPr>
            <a:cxnSpLocks/>
          </p:cNvCxnSpPr>
          <p:nvPr/>
        </p:nvCxnSpPr>
        <p:spPr>
          <a:xfrm>
            <a:off x="710682" y="29635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20F1FC-65E6-D127-0211-D89543641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247847"/>
              </p:ext>
            </p:extLst>
          </p:nvPr>
        </p:nvGraphicFramePr>
        <p:xfrm>
          <a:off x="768097" y="1577085"/>
          <a:ext cx="4700015" cy="1120395"/>
        </p:xfrm>
        <a:graphic>
          <a:graphicData uri="http://schemas.openxmlformats.org/drawingml/2006/table">
            <a:tbl>
              <a:tblPr/>
              <a:tblGrid>
                <a:gridCol w="685799">
                  <a:extLst>
                    <a:ext uri="{9D8B030D-6E8A-4147-A177-3AD203B41FA5}">
                      <a16:colId xmlns:a16="http://schemas.microsoft.com/office/drawing/2014/main" val="3696080560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93297428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510192420"/>
                    </a:ext>
                  </a:extLst>
                </a:gridCol>
                <a:gridCol w="660197">
                  <a:extLst>
                    <a:ext uri="{9D8B030D-6E8A-4147-A177-3AD203B41FA5}">
                      <a16:colId xmlns:a16="http://schemas.microsoft.com/office/drawing/2014/main" val="1736678341"/>
                    </a:ext>
                  </a:extLst>
                </a:gridCol>
                <a:gridCol w="940003">
                  <a:extLst>
                    <a:ext uri="{9D8B030D-6E8A-4147-A177-3AD203B41FA5}">
                      <a16:colId xmlns:a16="http://schemas.microsoft.com/office/drawing/2014/main" val="209794679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ea typeface="+mn-ea"/>
                        </a:rPr>
                        <a:t>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ea typeface="+mn-ea"/>
                        </a:rPr>
                        <a:t>attendances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ea typeface="+mn-ea"/>
                        </a:rPr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24640"/>
                  </a:ext>
                </a:extLst>
              </a:tr>
              <a:tr h="430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"09:00"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["09:10", "09:30", "09:31"]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[0, 1, 2]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2594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"13:00"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["13:10", "13:20", "13:30", "14:00"]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[0, 0, 1, 2]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65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7532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03E5-60EE-D65F-B2EE-756692F9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A838307-3C9A-FEC7-ABAE-9DDADADD49B3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20]</a:t>
            </a:r>
            <a:r>
              <a:rPr lang="ko-KR" altLang="en-US" dirty="0"/>
              <a:t> 비가 내린 날과 우산을 가지고 다닌 날이 기록되어 있습니다</a:t>
            </a:r>
            <a:r>
              <a:rPr lang="en-US" altLang="ko-KR" dirty="0"/>
              <a:t>. </a:t>
            </a:r>
            <a:r>
              <a:rPr lang="ko-KR" altLang="en-US" dirty="0"/>
              <a:t>이 중에서 우산을 가져가지 않았는데 비가 내린 날의 횟수를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우산을 가지고 다닌 날짜가 </a:t>
            </a:r>
            <a:r>
              <a:rPr lang="en-US" altLang="ko-KR" dirty="0"/>
              <a:t>["2018/06/01", "2017/03/04", "2019/04/28"]</a:t>
            </a:r>
            <a:r>
              <a:rPr lang="ko-KR" altLang="en-US" dirty="0"/>
              <a:t>이고 비가 내린 날짜가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수업 시작 시간이 </a:t>
            </a:r>
            <a:r>
              <a:rPr lang="en-US" altLang="ko-KR" dirty="0"/>
              <a:t>"09:00"</a:t>
            </a:r>
            <a:r>
              <a:rPr lang="ko-KR" altLang="en-US" dirty="0"/>
              <a:t>이고</a:t>
            </a:r>
            <a:r>
              <a:rPr lang="en-US" altLang="ko-KR" dirty="0"/>
              <a:t>, ["2017/03/04", "2019/04/27"]</a:t>
            </a:r>
            <a:r>
              <a:rPr lang="ko-KR" altLang="en-US" dirty="0"/>
              <a:t>일 경우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"2019/04/27"</a:t>
            </a:r>
            <a:r>
              <a:rPr lang="ko-KR" altLang="en-US" dirty="0"/>
              <a:t>은 우산이 없는 상태에서 비가 온 날입니다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따라서 결과는 </a:t>
            </a:r>
            <a:r>
              <a:rPr lang="en-US" altLang="ko-KR" dirty="0"/>
              <a:t>1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우산을 가지고 다닌 날짜 목록 </a:t>
            </a:r>
            <a:r>
              <a:rPr lang="en-US" altLang="ko-KR" dirty="0"/>
              <a:t>umbrellas</a:t>
            </a:r>
            <a:r>
              <a:rPr lang="ko-KR" altLang="en-US" dirty="0"/>
              <a:t>와 비가 내린 날짜 목록 </a:t>
            </a:r>
            <a:r>
              <a:rPr lang="en-US" altLang="ko-KR" dirty="0"/>
              <a:t>rains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우산 없이 비를 맞은 날의 개수를 구하는 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umbrellas: </a:t>
            </a:r>
            <a:r>
              <a:rPr lang="ko-KR" altLang="en-US" dirty="0"/>
              <a:t>우산을 가지고 다닌 날짜 리스트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rains: </a:t>
            </a:r>
            <a:r>
              <a:rPr lang="ko-KR" altLang="en-US" dirty="0"/>
              <a:t>비가 내린 날짜 리스트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배열의 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날짜는 </a:t>
            </a:r>
            <a:r>
              <a:rPr lang="en-US" altLang="ko-KR" dirty="0"/>
              <a:t>"</a:t>
            </a:r>
            <a:r>
              <a:rPr lang="en-US" altLang="ko-KR" dirty="0" err="1"/>
              <a:t>yyyy</a:t>
            </a:r>
            <a:r>
              <a:rPr lang="en-US" altLang="ko-KR" dirty="0"/>
              <a:t>/mm/dd" </a:t>
            </a:r>
            <a:r>
              <a:rPr lang="ko-KR" altLang="en-US" dirty="0"/>
              <a:t>형식의 문자열입니다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우산이 없는 상태에서 비가 온 날짜의 개수를 반환합니다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4A15BF-8765-BC5E-AA54-4A979E1D3AC5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43189A-D15B-D91E-41FF-3FB653F23E33}"/>
              </a:ext>
            </a:extLst>
          </p:cNvPr>
          <p:cNvCxnSpPr>
            <a:cxnSpLocks/>
          </p:cNvCxnSpPr>
          <p:nvPr/>
        </p:nvCxnSpPr>
        <p:spPr>
          <a:xfrm>
            <a:off x="1055206" y="481335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ADD52F2-D302-6113-AA3E-C97D42B883F4}"/>
              </a:ext>
            </a:extLst>
          </p:cNvPr>
          <p:cNvCxnSpPr>
            <a:cxnSpLocks/>
          </p:cNvCxnSpPr>
          <p:nvPr/>
        </p:nvCxnSpPr>
        <p:spPr>
          <a:xfrm>
            <a:off x="1055206" y="556926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9431929-E716-3C70-94B7-62B8D9400D0F}"/>
              </a:ext>
            </a:extLst>
          </p:cNvPr>
          <p:cNvCxnSpPr>
            <a:cxnSpLocks/>
          </p:cNvCxnSpPr>
          <p:nvPr/>
        </p:nvCxnSpPr>
        <p:spPr>
          <a:xfrm>
            <a:off x="1055206" y="328326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15C8187-DC04-A930-4F6C-5C3257318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882234"/>
              </p:ext>
            </p:extLst>
          </p:nvPr>
        </p:nvGraphicFramePr>
        <p:xfrm>
          <a:off x="1055206" y="5891275"/>
          <a:ext cx="4938366" cy="1039875"/>
        </p:xfrm>
        <a:graphic>
          <a:graphicData uri="http://schemas.openxmlformats.org/drawingml/2006/table">
            <a:tbl>
              <a:tblPr/>
              <a:tblGrid>
                <a:gridCol w="2529242">
                  <a:extLst>
                    <a:ext uri="{9D8B030D-6E8A-4147-A177-3AD203B41FA5}">
                      <a16:colId xmlns:a16="http://schemas.microsoft.com/office/drawing/2014/main" val="942505273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1113929620"/>
                    </a:ext>
                  </a:extLst>
                </a:gridCol>
                <a:gridCol w="644332">
                  <a:extLst>
                    <a:ext uri="{9D8B030D-6E8A-4147-A177-3AD203B41FA5}">
                      <a16:colId xmlns:a16="http://schemas.microsoft.com/office/drawing/2014/main" val="429512931"/>
                    </a:ext>
                  </a:extLst>
                </a:gridCol>
              </a:tblGrid>
              <a:tr h="286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umbrellas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rains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089716"/>
                  </a:ext>
                </a:extLst>
              </a:tr>
              <a:tr h="286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["2018/06/01", "2017/03/04", "2019/04/28"]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["2017/03/04", "2019/04/27"]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812485"/>
                  </a:ext>
                </a:extLst>
              </a:tr>
              <a:tr h="466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["2022/01/01", "2023/02/02", "2024/03/03", "2025/05/05"]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["2023/02/02", "2024/03/03"]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229632"/>
                  </a:ext>
                </a:extLst>
              </a:tr>
            </a:tbl>
          </a:graphicData>
        </a:graphic>
      </p:graphicFrame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6EF5DBD-72B3-0DF1-92B2-2FD9767103F9}"/>
              </a:ext>
            </a:extLst>
          </p:cNvPr>
          <p:cNvCxnSpPr>
            <a:cxnSpLocks/>
          </p:cNvCxnSpPr>
          <p:nvPr/>
        </p:nvCxnSpPr>
        <p:spPr>
          <a:xfrm>
            <a:off x="1055206" y="618800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2761CC0-86FC-3155-18D0-B1D048E6EF5B}"/>
              </a:ext>
            </a:extLst>
          </p:cNvPr>
          <p:cNvCxnSpPr>
            <a:cxnSpLocks/>
          </p:cNvCxnSpPr>
          <p:nvPr/>
        </p:nvCxnSpPr>
        <p:spPr>
          <a:xfrm>
            <a:off x="1055206" y="705363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243C1D-CBCB-16E3-2FD4-115D8BE34E1B}"/>
              </a:ext>
            </a:extLst>
          </p:cNvPr>
          <p:cNvSpPr txBox="1"/>
          <p:nvPr/>
        </p:nvSpPr>
        <p:spPr>
          <a:xfrm>
            <a:off x="1625599" y="7270404"/>
            <a:ext cx="4032123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(umbrellas, rains)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작성해보세요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</a:p>
          <a:p>
            <a:b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umbrellas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"2018/06/01"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"2017/03/04"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"2019/04/28"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rains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"2017/03/04"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"2019/04/27"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solution(</a:t>
            </a: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umbrellas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rains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39172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AAF2-9867-7063-FEB9-ED9648D7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C2968BC-5E50-0265-8A76-25A957DD2F59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74EED-F19E-0C26-4E70-F8D8743D788F}"/>
              </a:ext>
            </a:extLst>
          </p:cNvPr>
          <p:cNvSpPr txBox="1"/>
          <p:nvPr/>
        </p:nvSpPr>
        <p:spPr>
          <a:xfrm>
            <a:off x="1282446" y="1283359"/>
            <a:ext cx="4258818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umbrellas1 = [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"2022/01/01"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"2023/02/02"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"2024/03/03"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"2025/05/05"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rains1 = [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"2023/02/02"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"2024/03/03"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solution(umbrellas1, rains1)</a:t>
            </a:r>
            <a:b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428517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E779-2EBA-8486-5E40-1A830FCFF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ED1DF60-005D-95C7-8A40-8468F79A054E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21]</a:t>
            </a:r>
            <a:r>
              <a:rPr lang="ko-KR" altLang="en-US" dirty="0"/>
              <a:t> 문자열이 주어졌을 때</a:t>
            </a:r>
            <a:r>
              <a:rPr lang="en-US" altLang="ko-KR" dirty="0"/>
              <a:t>, </a:t>
            </a:r>
            <a:r>
              <a:rPr lang="ko-KR" altLang="en-US" dirty="0"/>
              <a:t>문자열에 포함된 대문자의 개수를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문자열 </a:t>
            </a:r>
            <a:r>
              <a:rPr lang="en-US" altLang="ko-KR" dirty="0"/>
              <a:t>"</a:t>
            </a:r>
            <a:r>
              <a:rPr lang="en-US" altLang="ko-KR" dirty="0" err="1"/>
              <a:t>AbSoLuTE</a:t>
            </a:r>
            <a:r>
              <a:rPr lang="en-US" altLang="ko-KR" dirty="0"/>
              <a:t>"</a:t>
            </a:r>
            <a:r>
              <a:rPr lang="ko-KR" altLang="en-US" dirty="0"/>
              <a:t>가 주어지면</a:t>
            </a:r>
            <a:r>
              <a:rPr lang="en-US" altLang="ko-KR" dirty="0"/>
              <a:t>, </a:t>
            </a:r>
            <a:r>
              <a:rPr lang="ko-KR" altLang="en-US" dirty="0"/>
              <a:t>대문자 </a:t>
            </a:r>
            <a:r>
              <a:rPr lang="en-US" altLang="ko-KR" dirty="0"/>
              <a:t>'A', 'S', 'T', 'E'</a:t>
            </a:r>
            <a:r>
              <a:rPr lang="ko-KR" altLang="en-US" dirty="0"/>
              <a:t>가 포함되어 있으므로 총 </a:t>
            </a:r>
            <a:r>
              <a:rPr lang="en-US" altLang="ko-KR" dirty="0"/>
              <a:t>4</a:t>
            </a:r>
            <a:r>
              <a:rPr lang="ko-KR" altLang="en-US" dirty="0"/>
              <a:t>개입니다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문자열 </a:t>
            </a:r>
            <a:r>
              <a:rPr lang="en-US" altLang="ko-KR" dirty="0"/>
              <a:t>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문자열에 포함된 대문자의 개수를 반환하는 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s: </a:t>
            </a:r>
            <a:r>
              <a:rPr lang="ko-KR" altLang="en-US" dirty="0"/>
              <a:t>알파벳으로 이루어진 문자열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문자열의 길이는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50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문자열은 대문자와 소문자로만 구성됩니다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문자열에 포함된 대문자의 개수를 반환합니다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437719C-1782-0C12-4669-2999194A6A1C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AC81416-DC7D-63E7-105E-83059EFA71B1}"/>
              </a:ext>
            </a:extLst>
          </p:cNvPr>
          <p:cNvCxnSpPr>
            <a:cxnSpLocks/>
          </p:cNvCxnSpPr>
          <p:nvPr/>
        </p:nvCxnSpPr>
        <p:spPr>
          <a:xfrm>
            <a:off x="1055206" y="22073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3B8B0E2-188E-22D5-4722-153F31424089}"/>
              </a:ext>
            </a:extLst>
          </p:cNvPr>
          <p:cNvCxnSpPr>
            <a:cxnSpLocks/>
          </p:cNvCxnSpPr>
          <p:nvPr/>
        </p:nvCxnSpPr>
        <p:spPr>
          <a:xfrm>
            <a:off x="1055206" y="423423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A4C50C3-2C1C-C18C-71B9-CCB5BE19BF49}"/>
              </a:ext>
            </a:extLst>
          </p:cNvPr>
          <p:cNvCxnSpPr>
            <a:cxnSpLocks/>
          </p:cNvCxnSpPr>
          <p:nvPr/>
        </p:nvCxnSpPr>
        <p:spPr>
          <a:xfrm>
            <a:off x="1055206" y="348442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9B5E7D3-30D5-3C16-8966-52BC9413F673}"/>
              </a:ext>
            </a:extLst>
          </p:cNvPr>
          <p:cNvCxnSpPr>
            <a:cxnSpLocks/>
          </p:cNvCxnSpPr>
          <p:nvPr/>
        </p:nvCxnSpPr>
        <p:spPr>
          <a:xfrm>
            <a:off x="1055206" y="495356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3FEC8FF-62A8-A3E5-227F-FA3C18E647E3}"/>
              </a:ext>
            </a:extLst>
          </p:cNvPr>
          <p:cNvCxnSpPr>
            <a:cxnSpLocks/>
          </p:cNvCxnSpPr>
          <p:nvPr/>
        </p:nvCxnSpPr>
        <p:spPr>
          <a:xfrm>
            <a:off x="1055206" y="572775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50C2C38-C081-1011-B7D7-AAC2B8D8F765}"/>
              </a:ext>
            </a:extLst>
          </p:cNvPr>
          <p:cNvSpPr txBox="1"/>
          <p:nvPr/>
        </p:nvSpPr>
        <p:spPr>
          <a:xfrm>
            <a:off x="1666494" y="5992519"/>
            <a:ext cx="4258818" cy="20928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작성해보세요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s1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CoSPro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804397D-5FBD-38A3-BA25-C14541765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67747"/>
              </p:ext>
            </p:extLst>
          </p:nvPr>
        </p:nvGraphicFramePr>
        <p:xfrm>
          <a:off x="1081067" y="4667561"/>
          <a:ext cx="4579070" cy="864108"/>
        </p:xfrm>
        <a:graphic>
          <a:graphicData uri="http://schemas.openxmlformats.org/drawingml/2006/table">
            <a:tbl>
              <a:tblPr/>
              <a:tblGrid>
                <a:gridCol w="2289535">
                  <a:extLst>
                    <a:ext uri="{9D8B030D-6E8A-4147-A177-3AD203B41FA5}">
                      <a16:colId xmlns:a16="http://schemas.microsoft.com/office/drawing/2014/main" val="3401854202"/>
                    </a:ext>
                  </a:extLst>
                </a:gridCol>
                <a:gridCol w="2289535">
                  <a:extLst>
                    <a:ext uri="{9D8B030D-6E8A-4147-A177-3AD203B41FA5}">
                      <a16:colId xmlns:a16="http://schemas.microsoft.com/office/drawing/2014/main" val="2861680655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70669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"</a:t>
                      </a:r>
                      <a:r>
                        <a:rPr lang="en-US" sz="1100" dirty="0" err="1"/>
                        <a:t>AbSoLuTE</a:t>
                      </a:r>
                      <a:r>
                        <a:rPr lang="en-US" sz="1100" dirty="0"/>
                        <a:t>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16758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"</a:t>
                      </a:r>
                      <a:r>
                        <a:rPr lang="en-US" sz="1100" dirty="0" err="1"/>
                        <a:t>CoSPro</a:t>
                      </a:r>
                      <a:r>
                        <a:rPr lang="en-US" sz="1100" dirty="0"/>
                        <a:t>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791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3028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C9A44-4AE5-12D4-46DB-0EE85931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C2818BA-0288-B917-F898-9EDAE22B7A32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66737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22]</a:t>
            </a:r>
            <a:r>
              <a:rPr lang="ko-KR" altLang="en-US" dirty="0"/>
              <a:t> 격자 데이터를 행 단위로 처리하여 특정 규칙에 따라 값을 추출하려고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5 x 5 </a:t>
            </a:r>
            <a:r>
              <a:rPr lang="ko-KR" altLang="en-US" dirty="0"/>
              <a:t>크기의 </a:t>
            </a:r>
            <a:r>
              <a:rPr lang="en-US" altLang="ko-KR" dirty="0"/>
              <a:t>2</a:t>
            </a:r>
            <a:r>
              <a:rPr lang="ko-KR" altLang="en-US" dirty="0"/>
              <a:t>차원 배열이 주어집니다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이 배열을 위에서부터 한 행씩 처리하면서</a:t>
            </a:r>
            <a:r>
              <a:rPr lang="en-US" altLang="ko-KR" dirty="0"/>
              <a:t>,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홀수 번째 행 → 최댓값 선택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짝수 번째 행 → 최솟값 선택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하여 결과를 순서대로 저장하려고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 다음과 같은 배열이 주어질 경우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각 행에서 선택되는 값은 다음과 같습니다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번째 행 </a:t>
            </a:r>
            <a:r>
              <a:rPr lang="en-US" altLang="ko-KR" dirty="0"/>
              <a:t>:</a:t>
            </a:r>
            <a:r>
              <a:rPr lang="ko-KR" altLang="en-US" dirty="0"/>
              <a:t> 최댓값 → </a:t>
            </a:r>
            <a:r>
              <a:rPr lang="en-US" altLang="ko-KR" dirty="0"/>
              <a:t>29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번째 행 </a:t>
            </a:r>
            <a:r>
              <a:rPr lang="en-US" altLang="ko-KR" dirty="0"/>
              <a:t>:</a:t>
            </a:r>
            <a:r>
              <a:rPr lang="ko-KR" altLang="en-US" dirty="0"/>
              <a:t> 최솟값 → </a:t>
            </a:r>
            <a:r>
              <a:rPr lang="en-US" altLang="ko-KR" dirty="0"/>
              <a:t>10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번째 행 </a:t>
            </a:r>
            <a:r>
              <a:rPr lang="en-US" altLang="ko-KR" dirty="0"/>
              <a:t>:</a:t>
            </a:r>
            <a:r>
              <a:rPr lang="ko-KR" altLang="en-US" dirty="0"/>
              <a:t> 최댓값 → </a:t>
            </a:r>
            <a:r>
              <a:rPr lang="en-US" altLang="ko-KR" dirty="0"/>
              <a:t>45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4</a:t>
            </a:r>
            <a:r>
              <a:rPr lang="ko-KR" altLang="en-US" dirty="0"/>
              <a:t>번째 행 </a:t>
            </a:r>
            <a:r>
              <a:rPr lang="en-US" altLang="ko-KR" dirty="0"/>
              <a:t>:</a:t>
            </a:r>
            <a:r>
              <a:rPr lang="ko-KR" altLang="en-US" dirty="0"/>
              <a:t> 최솟값 → </a:t>
            </a:r>
            <a:r>
              <a:rPr lang="en-US" altLang="ko-KR" dirty="0"/>
              <a:t>9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5</a:t>
            </a:r>
            <a:r>
              <a:rPr lang="ko-KR" altLang="en-US" dirty="0"/>
              <a:t>번째 행 </a:t>
            </a:r>
            <a:r>
              <a:rPr lang="en-US" altLang="ko-KR" dirty="0"/>
              <a:t>:</a:t>
            </a:r>
            <a:r>
              <a:rPr lang="ko-KR" altLang="en-US" dirty="0"/>
              <a:t> 최댓값 → </a:t>
            </a:r>
            <a:r>
              <a:rPr lang="en-US" altLang="ko-KR" dirty="0"/>
              <a:t>40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따라서 결과는 </a:t>
            </a:r>
            <a:r>
              <a:rPr lang="en-US" altLang="ko-KR" dirty="0"/>
              <a:t>[29, 10, 45, 9, 40]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격자 배열 </a:t>
            </a:r>
            <a:r>
              <a:rPr lang="en-US" altLang="ko-KR" dirty="0"/>
              <a:t>grid</a:t>
            </a:r>
            <a:r>
              <a:rPr lang="ko-KR" altLang="en-US" dirty="0"/>
              <a:t>가 </a:t>
            </a:r>
            <a:r>
              <a:rPr lang="en-US" altLang="ko-KR" dirty="0"/>
              <a:t>solution </a:t>
            </a:r>
            <a:r>
              <a:rPr lang="ko-KR" altLang="en-US" dirty="0"/>
              <a:t>함수의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조건에 맞게 값을 선택하여 리스트로 반환하도록 </a:t>
            </a:r>
            <a:r>
              <a:rPr lang="en-US" altLang="ko-KR" dirty="0"/>
              <a:t>solution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코드가 올바르게 동작할 수 있도록 빈칸을 채워 전체 코드를 완성해주세요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grid</a:t>
            </a:r>
            <a:r>
              <a:rPr lang="ko-KR" altLang="en-US" dirty="0"/>
              <a:t>는 </a:t>
            </a:r>
            <a:r>
              <a:rPr lang="en-US" altLang="ko-KR" dirty="0"/>
              <a:t>5 x 5 </a:t>
            </a:r>
            <a:r>
              <a:rPr lang="ko-KR" altLang="en-US" dirty="0"/>
              <a:t>크기의 </a:t>
            </a:r>
            <a:r>
              <a:rPr lang="en-US" altLang="ko-KR" dirty="0"/>
              <a:t>2</a:t>
            </a:r>
            <a:r>
              <a:rPr lang="ko-KR" altLang="en-US" dirty="0"/>
              <a:t>차원 리스트입니다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grid</a:t>
            </a:r>
            <a:r>
              <a:rPr lang="ko-KR" altLang="en-US" dirty="0"/>
              <a:t>의 원소는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각 행에서 규칙에 따라 선택된 값을 순서대로 담은 리스트를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8A384A-E0BA-39BF-4FED-16CA3F26105E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7DB9AE-B167-56D0-35F2-C64AA6418706}"/>
              </a:ext>
            </a:extLst>
          </p:cNvPr>
          <p:cNvCxnSpPr>
            <a:cxnSpLocks/>
          </p:cNvCxnSpPr>
          <p:nvPr/>
        </p:nvCxnSpPr>
        <p:spPr>
          <a:xfrm>
            <a:off x="710682" y="695947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F6CEF8B-C8F2-6665-943F-D6D1F9131150}"/>
              </a:ext>
            </a:extLst>
          </p:cNvPr>
          <p:cNvSpPr txBox="1"/>
          <p:nvPr/>
        </p:nvSpPr>
        <p:spPr>
          <a:xfrm>
            <a:off x="781050" y="3127932"/>
            <a:ext cx="327812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29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49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11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EB134B9-4281-F16E-AEDD-24BC6ABB82BB}"/>
              </a:ext>
            </a:extLst>
          </p:cNvPr>
          <p:cNvCxnSpPr>
            <a:cxnSpLocks/>
          </p:cNvCxnSpPr>
          <p:nvPr/>
        </p:nvCxnSpPr>
        <p:spPr>
          <a:xfrm>
            <a:off x="710682" y="8026272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9319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1011-5801-8F5D-15D2-B7C53EEB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7894E83-F469-1C2C-ACF8-77460D215A45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36A0C-0777-D4D2-CA57-4B6F5F5998BE}"/>
              </a:ext>
            </a:extLst>
          </p:cNvPr>
          <p:cNvSpPr txBox="1"/>
          <p:nvPr/>
        </p:nvSpPr>
        <p:spPr>
          <a:xfrm>
            <a:off x="1666494" y="3084727"/>
            <a:ext cx="4258818" cy="486287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(grid)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grid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solution(grid)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grid1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solution(grid1)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3C48897D-E99C-B56E-1153-64568D65E8C9}"/>
              </a:ext>
            </a:extLst>
          </p:cNvPr>
          <p:cNvSpPr txBox="1">
            <a:spLocks/>
          </p:cNvSpPr>
          <p:nvPr/>
        </p:nvSpPr>
        <p:spPr>
          <a:xfrm>
            <a:off x="1081067" y="1237639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3B8888-94AF-93EA-686C-EBA6551FD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47194"/>
              </p:ext>
            </p:extLst>
          </p:nvPr>
        </p:nvGraphicFramePr>
        <p:xfrm>
          <a:off x="1173226" y="1532992"/>
          <a:ext cx="4752086" cy="1199388"/>
        </p:xfrm>
        <a:graphic>
          <a:graphicData uri="http://schemas.openxmlformats.org/drawingml/2006/table">
            <a:tbl>
              <a:tblPr/>
              <a:tblGrid>
                <a:gridCol w="3234182">
                  <a:extLst>
                    <a:ext uri="{9D8B030D-6E8A-4147-A177-3AD203B41FA5}">
                      <a16:colId xmlns:a16="http://schemas.microsoft.com/office/drawing/2014/main" val="420795946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1345099140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66333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[[20, 8, 29, 4, 3],[10, 26, 28, 49, 27],[45, 5, 19, 38, 25],[9, 31, 36, 11, 35],[12, 40, 24, 33, 6]]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[29, 10, 45, 9, 40]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98689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[[1,6,11,16,21],[2,7,12,17,22],[3,8,13,18,23],[4,9,14,19,24],[5,10,15,20,25]]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[21, 2, 23, 4, 25]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004754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D332EFE-5C37-05AE-411E-88E319336670}"/>
              </a:ext>
            </a:extLst>
          </p:cNvPr>
          <p:cNvCxnSpPr>
            <a:cxnSpLocks/>
          </p:cNvCxnSpPr>
          <p:nvPr/>
        </p:nvCxnSpPr>
        <p:spPr>
          <a:xfrm>
            <a:off x="1055206" y="28809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B1C6BCE-AD7E-36B6-F3E2-45B870413E65}"/>
              </a:ext>
            </a:extLst>
          </p:cNvPr>
          <p:cNvCxnSpPr>
            <a:cxnSpLocks/>
          </p:cNvCxnSpPr>
          <p:nvPr/>
        </p:nvCxnSpPr>
        <p:spPr>
          <a:xfrm>
            <a:off x="1055206" y="182936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8920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AAD4-630C-0595-0241-AE61F17B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5287FDF9-B179-9152-483A-3146207868EC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23]</a:t>
            </a:r>
            <a:r>
              <a:rPr lang="ko-KR" altLang="en-US" dirty="0"/>
              <a:t> 어떤 회사에서는 일정 기간 동안 판매되는 제품의 총 개수를 계산하려고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이 회사의 제품 판매량은 날씨에 따라 달라집니다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매우 추운 날 → 하루에 </a:t>
            </a:r>
            <a:r>
              <a:rPr lang="en-US" altLang="ko-KR" dirty="0"/>
              <a:t>2000</a:t>
            </a:r>
            <a:r>
              <a:rPr lang="ko-KR" altLang="en-US" dirty="0"/>
              <a:t>개 판매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 외의 날 → 하루에 </a:t>
            </a:r>
            <a:r>
              <a:rPr lang="en-US" altLang="ko-KR" dirty="0"/>
              <a:t>500</a:t>
            </a:r>
            <a:r>
              <a:rPr lang="ko-KR" altLang="en-US" dirty="0"/>
              <a:t>개 판매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다음 조건을 만족하는 날을 매우 추운 날이라고 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최저 기온이 </a:t>
            </a:r>
            <a:r>
              <a:rPr lang="en-US" altLang="ko-KR" dirty="0"/>
              <a:t>-15 </a:t>
            </a:r>
            <a:r>
              <a:rPr lang="ko-KR" altLang="en-US" dirty="0"/>
              <a:t>이하이고</a:t>
            </a:r>
            <a:r>
              <a:rPr lang="en-US" altLang="ko-KR" dirty="0"/>
              <a:t>, </a:t>
            </a:r>
            <a:r>
              <a:rPr lang="ko-KR" altLang="en-US" dirty="0"/>
              <a:t>최고 기온이 </a:t>
            </a:r>
            <a:r>
              <a:rPr lang="en-US" altLang="ko-KR" dirty="0"/>
              <a:t>-5 </a:t>
            </a:r>
            <a:r>
              <a:rPr lang="ko-KR" altLang="en-US" dirty="0"/>
              <a:t>이하인 경우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각 날짜의 기온 정보가 담긴 배열 </a:t>
            </a:r>
            <a:r>
              <a:rPr lang="en-US" altLang="ko-KR" dirty="0"/>
              <a:t>temperatures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전체 기간 동안 판매된 총 제품 수를 구하여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코드가 올바르게 동작할 수 있도록 빈칸을 채워 전체 코드를 완성해주세요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temperatures</a:t>
            </a:r>
            <a:r>
              <a:rPr lang="ko-KR" altLang="en-US" dirty="0"/>
              <a:t>는 각 날짜의 기온 정보를 담은 리스트입니다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temperatures</a:t>
            </a:r>
            <a:r>
              <a:rPr lang="ko-KR" altLang="en-US" dirty="0"/>
              <a:t>의 길이는 </a:t>
            </a:r>
            <a:r>
              <a:rPr lang="en-US" altLang="ko-KR" dirty="0"/>
              <a:t>5 </a:t>
            </a:r>
            <a:r>
              <a:rPr lang="ko-KR" altLang="en-US" dirty="0"/>
              <a:t>이상 </a:t>
            </a:r>
            <a:r>
              <a:rPr lang="en-US" altLang="ko-KR" dirty="0"/>
              <a:t>90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원소는 </a:t>
            </a:r>
            <a:r>
              <a:rPr lang="en-US" altLang="ko-KR" dirty="0"/>
              <a:t>[</a:t>
            </a:r>
            <a:r>
              <a:rPr lang="ko-KR" altLang="en-US" dirty="0"/>
              <a:t>최저 기온</a:t>
            </a:r>
            <a:r>
              <a:rPr lang="en-US" altLang="ko-KR" dirty="0"/>
              <a:t>, </a:t>
            </a:r>
            <a:r>
              <a:rPr lang="ko-KR" altLang="en-US" dirty="0"/>
              <a:t>최고 기온</a:t>
            </a:r>
            <a:r>
              <a:rPr lang="en-US" altLang="ko-KR" dirty="0"/>
              <a:t>] </a:t>
            </a:r>
            <a:r>
              <a:rPr lang="ko-KR" altLang="en-US" dirty="0"/>
              <a:t>형태입니다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최저 기온 ≤ 최고 기온 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전체 기간 동안 판매된 총 제품 수를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E604F16-7589-3FA1-4A85-8FD734373A4D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DF88605-C333-9949-791D-96C12EBA4397}"/>
              </a:ext>
            </a:extLst>
          </p:cNvPr>
          <p:cNvCxnSpPr>
            <a:cxnSpLocks/>
          </p:cNvCxnSpPr>
          <p:nvPr/>
        </p:nvCxnSpPr>
        <p:spPr>
          <a:xfrm>
            <a:off x="710682" y="36667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14076E9-62E5-00C9-3C0D-F53624DC9429}"/>
              </a:ext>
            </a:extLst>
          </p:cNvPr>
          <p:cNvCxnSpPr>
            <a:cxnSpLocks/>
          </p:cNvCxnSpPr>
          <p:nvPr/>
        </p:nvCxnSpPr>
        <p:spPr>
          <a:xfrm>
            <a:off x="710682" y="51733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90033D9-BF30-136E-3748-64C0D4A98F68}"/>
              </a:ext>
            </a:extLst>
          </p:cNvPr>
          <p:cNvCxnSpPr>
            <a:cxnSpLocks/>
          </p:cNvCxnSpPr>
          <p:nvPr/>
        </p:nvCxnSpPr>
        <p:spPr>
          <a:xfrm>
            <a:off x="710682" y="676744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C7FFEAC-7F79-E1B9-1990-4EB211A5C7CC}"/>
              </a:ext>
            </a:extLst>
          </p:cNvPr>
          <p:cNvCxnSpPr>
            <a:cxnSpLocks/>
          </p:cNvCxnSpPr>
          <p:nvPr/>
        </p:nvCxnSpPr>
        <p:spPr>
          <a:xfrm>
            <a:off x="710682" y="59353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9F22A75-EE7D-E3A0-2598-2E5AC3A0C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830412"/>
              </p:ext>
            </p:extLst>
          </p:nvPr>
        </p:nvGraphicFramePr>
        <p:xfrm>
          <a:off x="710682" y="6447536"/>
          <a:ext cx="4830582" cy="824992"/>
        </p:xfrm>
        <a:graphic>
          <a:graphicData uri="http://schemas.openxmlformats.org/drawingml/2006/table">
            <a:tbl>
              <a:tblPr/>
              <a:tblGrid>
                <a:gridCol w="4117350">
                  <a:extLst>
                    <a:ext uri="{9D8B030D-6E8A-4147-A177-3AD203B41FA5}">
                      <a16:colId xmlns:a16="http://schemas.microsoft.com/office/drawing/2014/main" val="221428458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54989121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+mn-ea"/>
                          <a:ea typeface="+mn-ea"/>
                        </a:rPr>
                        <a:t>temperatures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384851"/>
                  </a:ext>
                </a:extLst>
              </a:tr>
              <a:tr h="277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[[0, 5], [-15, -5], [-16, -3], [-20, -8], [-14, -6]]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5500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3074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[[-19, -7], [-15, 5], [-18, -8], [-15, -4], [-1, 2], [-20, 10], [-15, -7]]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771838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9D5C001-C463-333E-4398-5CCE4B79058A}"/>
              </a:ext>
            </a:extLst>
          </p:cNvPr>
          <p:cNvCxnSpPr>
            <a:cxnSpLocks/>
          </p:cNvCxnSpPr>
          <p:nvPr/>
        </p:nvCxnSpPr>
        <p:spPr>
          <a:xfrm>
            <a:off x="710682" y="7450200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0C200E-C8ED-1780-FAB9-BC2FEB3C1A7D}"/>
              </a:ext>
            </a:extLst>
          </p:cNvPr>
          <p:cNvSpPr txBox="1"/>
          <p:nvPr/>
        </p:nvSpPr>
        <p:spPr>
          <a:xfrm>
            <a:off x="1282446" y="7638439"/>
            <a:ext cx="4258818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(temperatures)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temperature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temperatures: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113048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7331-0C16-E048-E78A-2BDC67B9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E03D97-A256-441A-EB3D-7F1920B59009}"/>
              </a:ext>
            </a:extLst>
          </p:cNvPr>
          <p:cNvSpPr txBox="1"/>
          <p:nvPr/>
        </p:nvSpPr>
        <p:spPr>
          <a:xfrm>
            <a:off x="1666494" y="1239671"/>
            <a:ext cx="4258818" cy="255454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 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빈  칸 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temperatures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solution(temperatures)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temperatures1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solution(temperatures1)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A854F74-3820-B001-3549-2AFC0527F9E6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</p:spTree>
    <p:extLst>
      <p:ext uri="{BB962C8B-B14F-4D97-AF65-F5344CB8AC3E}">
        <p14:creationId xmlns:p14="http://schemas.microsoft.com/office/powerpoint/2010/main" val="28465071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7D35-5A7F-67A0-9D80-FEE5619A6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79EBEDD1-68B7-70EC-66D0-B9432B68CD26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68211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24]</a:t>
            </a:r>
            <a:r>
              <a:rPr lang="ko-KR" altLang="en-US" dirty="0"/>
              <a:t> 어떤 분석 프로그램에서는 여러 개의 정수 묶음을 검사한 뒤</a:t>
            </a:r>
            <a:r>
              <a:rPr lang="en-US" altLang="ko-KR" dirty="0"/>
              <a:t>, </a:t>
            </a:r>
            <a:r>
              <a:rPr lang="ko-KR" altLang="en-US" dirty="0"/>
              <a:t>각 묶음의 </a:t>
            </a:r>
            <a:r>
              <a:rPr lang="ko-KR" altLang="en-US" dirty="0" err="1"/>
              <a:t>특징값을</a:t>
            </a:r>
            <a:r>
              <a:rPr lang="ko-KR" altLang="en-US" dirty="0"/>
              <a:t> 구하려고 합니다</a:t>
            </a:r>
            <a:r>
              <a:rPr lang="en-US" altLang="ko-KR" dirty="0"/>
              <a:t>.</a:t>
            </a:r>
            <a:r>
              <a:rPr lang="ko-KR" altLang="en-US" dirty="0"/>
              <a:t> 이 프로그램은 주어진 데이터를 일정한 규칙에 따라 처리하여 최종 결과를 도출합니다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N x 5 </a:t>
            </a:r>
            <a:r>
              <a:rPr lang="ko-KR" altLang="en-US" dirty="0"/>
              <a:t>크기의 </a:t>
            </a:r>
            <a:r>
              <a:rPr lang="en-US" altLang="ko-KR" dirty="0"/>
              <a:t>2</a:t>
            </a:r>
            <a:r>
              <a:rPr lang="ko-KR" altLang="en-US" dirty="0"/>
              <a:t>차원 배열이 주어질 때</a:t>
            </a:r>
            <a:r>
              <a:rPr lang="en-US" altLang="ko-KR" dirty="0"/>
              <a:t>, </a:t>
            </a:r>
            <a:r>
              <a:rPr lang="ko-KR" altLang="en-US" dirty="0"/>
              <a:t>다음 순서에 따라 값을 계산합니다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행에 포함된 </a:t>
            </a:r>
            <a:r>
              <a:rPr lang="en-US" altLang="ko-KR" dirty="0"/>
              <a:t>5</a:t>
            </a:r>
            <a:r>
              <a:rPr lang="ko-KR" altLang="en-US" dirty="0"/>
              <a:t>개의 정수를 모두 더하여</a:t>
            </a:r>
            <a:r>
              <a:rPr lang="en-US" altLang="ko-KR" dirty="0"/>
              <a:t>, </a:t>
            </a:r>
            <a:r>
              <a:rPr lang="ko-KR" altLang="en-US" dirty="0"/>
              <a:t>각 행의 합으로 이루어진 새로운 배열을 생성합니다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단계에서 생성된 배열을 기준으로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- 0 </a:t>
            </a:r>
            <a:r>
              <a:rPr lang="ko-KR" altLang="en-US" dirty="0"/>
              <a:t>이상인 값들은 모두 더하고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- 0</a:t>
            </a:r>
            <a:r>
              <a:rPr lang="ko-KR" altLang="en-US" dirty="0"/>
              <a:t>보다 작은 값들도 모두 더합니다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0</a:t>
            </a:r>
            <a:r>
              <a:rPr lang="ko-KR" altLang="en-US" dirty="0"/>
              <a:t>은 양수에 포함된다고 가정합니다</a:t>
            </a:r>
            <a:r>
              <a:rPr lang="en-US" altLang="ko-KR" dirty="0"/>
              <a:t>.)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단계에서 구한 두 값의 차이를 절댓값으로 계산합니다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최종 결과를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정수가 들어 있는 </a:t>
            </a:r>
            <a:r>
              <a:rPr lang="en-US" altLang="ko-KR" dirty="0"/>
              <a:t>2</a:t>
            </a:r>
            <a:r>
              <a:rPr lang="ko-KR" altLang="en-US" dirty="0"/>
              <a:t>차원 배열 </a:t>
            </a:r>
            <a:r>
              <a:rPr lang="en-US" altLang="ko-KR" dirty="0"/>
              <a:t>arr2d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위 과정을 수행한 결과를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solution()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아래 프로그램 구조가 올바르게 동작할 수 있도록 빈칸을 알맞게 채워 넣으세요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arr2d</a:t>
            </a:r>
            <a:r>
              <a:rPr lang="ko-KR" altLang="en-US" dirty="0"/>
              <a:t>는 정수가 들어 있는 </a:t>
            </a:r>
            <a:r>
              <a:rPr lang="en-US" altLang="ko-KR" dirty="0"/>
              <a:t>2</a:t>
            </a:r>
            <a:r>
              <a:rPr lang="ko-KR" altLang="en-US" dirty="0"/>
              <a:t>차원 배열입니다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arr2d</a:t>
            </a:r>
            <a:r>
              <a:rPr lang="ko-KR" altLang="en-US" dirty="0"/>
              <a:t>는 </a:t>
            </a:r>
            <a:r>
              <a:rPr lang="en-US" altLang="ko-KR" dirty="0"/>
              <a:t>N x 5 </a:t>
            </a:r>
            <a:r>
              <a:rPr lang="ko-KR" altLang="en-US" dirty="0"/>
              <a:t>크기의 </a:t>
            </a:r>
            <a:r>
              <a:rPr lang="en-US" altLang="ko-KR" dirty="0"/>
              <a:t>2</a:t>
            </a:r>
            <a:r>
              <a:rPr lang="ko-KR" altLang="en-US" dirty="0"/>
              <a:t>차원 배열입니다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arr2d</a:t>
            </a:r>
            <a:r>
              <a:rPr lang="ko-KR" altLang="en-US" dirty="0"/>
              <a:t>의 각 원소는 </a:t>
            </a:r>
            <a:r>
              <a:rPr lang="en-US" altLang="ko-KR" dirty="0"/>
              <a:t>-100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arr2d</a:t>
            </a:r>
            <a:r>
              <a:rPr lang="ko-KR" altLang="en-US" dirty="0"/>
              <a:t>의 세로 길이 </a:t>
            </a:r>
            <a:r>
              <a:rPr lang="en-US" altLang="ko-KR" dirty="0"/>
              <a:t>N</a:t>
            </a:r>
            <a:r>
              <a:rPr lang="ko-KR" altLang="en-US" dirty="0"/>
              <a:t>은 </a:t>
            </a:r>
            <a:r>
              <a:rPr lang="en-US" altLang="ko-KR" dirty="0"/>
              <a:t>2 </a:t>
            </a:r>
            <a:r>
              <a:rPr lang="ko-KR" altLang="en-US" dirty="0"/>
              <a:t>이상 </a:t>
            </a:r>
            <a:r>
              <a:rPr lang="en-US" altLang="ko-KR" dirty="0"/>
              <a:t>10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주어진 규칙에 따라 계산한 최종 결과값을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예시 </a:t>
            </a:r>
            <a:r>
              <a:rPr lang="en-US" altLang="ko-KR" dirty="0"/>
              <a:t>1 : </a:t>
            </a:r>
            <a:r>
              <a:rPr lang="ko-KR" altLang="en-US" dirty="0"/>
              <a:t>각 행의 합을 구하면 다음과 같습니다</a:t>
            </a:r>
            <a:r>
              <a:rPr lang="en-US" altLang="ko-KR" dirty="0"/>
              <a:t>.[1, 2, 3, 4, 5] → 15, [-1, -2, -3, -4, -5] → -15, [3, 3, 3, -3, -3] → 3, [5, 5, -5, -5, -5] → -5 </a:t>
            </a:r>
            <a:r>
              <a:rPr lang="ko-KR" altLang="en-US" dirty="0"/>
              <a:t>따라서 </a:t>
            </a:r>
            <a:r>
              <a:rPr lang="en-US" altLang="ko-KR" dirty="0"/>
              <a:t>1</a:t>
            </a:r>
            <a:r>
              <a:rPr lang="ko-KR" altLang="en-US" dirty="0"/>
              <a:t>단계 결과는 다음과 </a:t>
            </a:r>
            <a:r>
              <a:rPr lang="ko-KR" altLang="en-US" dirty="0" err="1"/>
              <a:t>같습</a:t>
            </a: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B6997AF-C7F6-7AD6-4EBF-BB54F508B20F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DC2694D-C25B-D2A4-6CCB-2D2435A0D23B}"/>
              </a:ext>
            </a:extLst>
          </p:cNvPr>
          <p:cNvCxnSpPr>
            <a:cxnSpLocks/>
          </p:cNvCxnSpPr>
          <p:nvPr/>
        </p:nvCxnSpPr>
        <p:spPr>
          <a:xfrm>
            <a:off x="710682" y="44973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9F79C3D-42CE-B3ED-6483-9FD0D4D79DB7}"/>
              </a:ext>
            </a:extLst>
          </p:cNvPr>
          <p:cNvCxnSpPr>
            <a:cxnSpLocks/>
          </p:cNvCxnSpPr>
          <p:nvPr/>
        </p:nvCxnSpPr>
        <p:spPr>
          <a:xfrm>
            <a:off x="710682" y="59734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78F1C99-54BF-8E14-072E-0BB08C974B88}"/>
              </a:ext>
            </a:extLst>
          </p:cNvPr>
          <p:cNvCxnSpPr>
            <a:cxnSpLocks/>
          </p:cNvCxnSpPr>
          <p:nvPr/>
        </p:nvCxnSpPr>
        <p:spPr>
          <a:xfrm>
            <a:off x="710682" y="7567548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80122C5-F333-C5EC-80F0-6CB8FB7E91EA}"/>
              </a:ext>
            </a:extLst>
          </p:cNvPr>
          <p:cNvCxnSpPr>
            <a:cxnSpLocks/>
          </p:cNvCxnSpPr>
          <p:nvPr/>
        </p:nvCxnSpPr>
        <p:spPr>
          <a:xfrm>
            <a:off x="710682" y="673544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342933-82BB-DB70-4D4C-30339B0F1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952171"/>
              </p:ext>
            </p:extLst>
          </p:nvPr>
        </p:nvGraphicFramePr>
        <p:xfrm>
          <a:off x="654709" y="7279640"/>
          <a:ext cx="4830582" cy="775716"/>
        </p:xfrm>
        <a:graphic>
          <a:graphicData uri="http://schemas.openxmlformats.org/drawingml/2006/table">
            <a:tbl>
              <a:tblPr/>
              <a:tblGrid>
                <a:gridCol w="3909671">
                  <a:extLst>
                    <a:ext uri="{9D8B030D-6E8A-4147-A177-3AD203B41FA5}">
                      <a16:colId xmlns:a16="http://schemas.microsoft.com/office/drawing/2014/main" val="1645268736"/>
                    </a:ext>
                  </a:extLst>
                </a:gridCol>
                <a:gridCol w="920911">
                  <a:extLst>
                    <a:ext uri="{9D8B030D-6E8A-4147-A177-3AD203B41FA5}">
                      <a16:colId xmlns:a16="http://schemas.microsoft.com/office/drawing/2014/main" val="320920174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arr2d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298084"/>
                  </a:ext>
                </a:extLst>
              </a:tr>
              <a:tr h="2199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[[1, 2, 3, 4, 5], [-1, -2, -3, -4, -5], [3, 3, 3, -3, -3], [5, 5, -5, -5, -5]]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550811"/>
                  </a:ext>
                </a:extLst>
              </a:tr>
              <a:tr h="2047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[[1, -2, -3, 4, 5], [-7, -3, -5, -2, -15], [11, 7, 8, -11, -7]]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45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2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7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0657-7A90-8977-E107-A8645F57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54CE2B-2423-B9AD-466B-A81C94CF038F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FC35B292-2C6E-C335-ABD3-A9891A923C29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dirty="0" err="1"/>
              <a:t>니다</a:t>
            </a:r>
            <a:r>
              <a:rPr lang="en-US" altLang="ko-KR" dirty="0"/>
              <a:t>. [15, -15, 3, -5] </a:t>
            </a:r>
            <a:r>
              <a:rPr lang="ko-KR" altLang="en-US" dirty="0"/>
              <a:t>이 배열에서 </a:t>
            </a:r>
            <a:r>
              <a:rPr lang="en-US" altLang="ko-KR" dirty="0"/>
              <a:t>0 </a:t>
            </a:r>
            <a:r>
              <a:rPr lang="ko-KR" altLang="en-US" dirty="0"/>
              <a:t>이상인 값들의 합을 구하면 </a:t>
            </a:r>
            <a:r>
              <a:rPr lang="en-US" altLang="ko-KR" dirty="0"/>
              <a:t>15 + 3 = 18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또한 이 배열에서 </a:t>
            </a:r>
            <a:r>
              <a:rPr lang="en-US" altLang="ko-KR" dirty="0"/>
              <a:t>0</a:t>
            </a:r>
            <a:r>
              <a:rPr lang="ko-KR" altLang="en-US" dirty="0"/>
              <a:t>보다 작은 값들의 합은</a:t>
            </a:r>
            <a:r>
              <a:rPr lang="en-US" altLang="ko-KR" dirty="0"/>
              <a:t> -15 + -5 = -20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두 값의 차이의 절댓값은 </a:t>
            </a:r>
            <a:r>
              <a:rPr lang="en-US" altLang="ko-KR" dirty="0"/>
              <a:t>|18 - (-20)| = 38 </a:t>
            </a:r>
            <a:r>
              <a:rPr lang="ko-KR" altLang="en-US" dirty="0"/>
              <a:t>이므로 </a:t>
            </a:r>
            <a:r>
              <a:rPr lang="en-US" altLang="ko-KR" dirty="0"/>
              <a:t>38</a:t>
            </a:r>
            <a:r>
              <a:rPr lang="ko-KR" altLang="en-US" dirty="0"/>
              <a:t>을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15F581-E38B-0469-AE1E-EFACAD217714}"/>
              </a:ext>
            </a:extLst>
          </p:cNvPr>
          <p:cNvCxnSpPr>
            <a:cxnSpLocks/>
          </p:cNvCxnSpPr>
          <p:nvPr/>
        </p:nvCxnSpPr>
        <p:spPr>
          <a:xfrm>
            <a:off x="1055206" y="19787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5262D6-D41A-57CE-6EC6-D94ABCB0A412}"/>
              </a:ext>
            </a:extLst>
          </p:cNvPr>
          <p:cNvSpPr txBox="1"/>
          <p:nvPr/>
        </p:nvSpPr>
        <p:spPr>
          <a:xfrm>
            <a:off x="1666494" y="2233319"/>
            <a:ext cx="4258818" cy="640175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+= x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+= x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(( 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(arr2d)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(arr2d)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vnum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num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vnum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num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arr2d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solution(arr2d)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arr2d1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solution(arr2d1)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405059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91A95-6A94-AD03-B507-577CB836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AEE4ED9-7698-F0A4-F975-F3FC5D96E166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68211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25]</a:t>
            </a:r>
            <a:r>
              <a:rPr lang="ko-KR" altLang="en-US" dirty="0"/>
              <a:t> 어떤 기록 분석 시스템에서는 여러 참가자의 수행 시간을 비교하여 가장 빠른 참가자를 찾으려고 합니다</a:t>
            </a:r>
            <a:r>
              <a:rPr lang="en-US" altLang="ko-KR" dirty="0"/>
              <a:t>.</a:t>
            </a:r>
            <a:r>
              <a:rPr lang="ko-KR" altLang="en-US" dirty="0"/>
              <a:t> 각 참가자의 수행 시간은 출발 시각과 도착 시각을 이용하여 계산됩니다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참가자의 출발 시각과 도착 시각이 담긴 배열이 주어질 때</a:t>
            </a:r>
            <a:r>
              <a:rPr lang="en-US" altLang="ko-KR" dirty="0"/>
              <a:t>, </a:t>
            </a:r>
            <a:r>
              <a:rPr lang="ko-KR" altLang="en-US" dirty="0"/>
              <a:t>다음 순서에 따라 값을 계산합니다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참가자의 출발 시각과 도착 시각을 초</a:t>
            </a:r>
            <a:r>
              <a:rPr lang="en-US" altLang="ko-KR" dirty="0"/>
              <a:t>(second) </a:t>
            </a:r>
            <a:r>
              <a:rPr lang="ko-KR" altLang="en-US" dirty="0"/>
              <a:t>단위로 변환합니다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참가자의 수행 시간</a:t>
            </a:r>
            <a:r>
              <a:rPr lang="en-US" altLang="ko-KR" dirty="0"/>
              <a:t>(</a:t>
            </a:r>
            <a:r>
              <a:rPr lang="ko-KR" altLang="en-US" dirty="0"/>
              <a:t>도착 시각 </a:t>
            </a:r>
            <a:r>
              <a:rPr lang="en-US" altLang="ko-KR" dirty="0"/>
              <a:t>- </a:t>
            </a:r>
            <a:r>
              <a:rPr lang="ko-KR" altLang="en-US" dirty="0"/>
              <a:t>출발 시각</a:t>
            </a:r>
            <a:r>
              <a:rPr lang="en-US" altLang="ko-KR" dirty="0"/>
              <a:t>)</a:t>
            </a:r>
            <a:r>
              <a:rPr lang="ko-KR" altLang="en-US" dirty="0"/>
              <a:t>을 계산하여 배열로 저장합니다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수행 시간이 가장 짧은 참가자를 찾습니다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해당 참가자의 번호</a:t>
            </a:r>
            <a:r>
              <a:rPr lang="en-US" altLang="ko-KR" dirty="0"/>
              <a:t>(</a:t>
            </a:r>
            <a:r>
              <a:rPr lang="ko-KR" altLang="en-US" dirty="0"/>
              <a:t>인덱스 </a:t>
            </a:r>
            <a:r>
              <a:rPr lang="en-US" altLang="ko-KR" dirty="0"/>
              <a:t>+ 1)</a:t>
            </a:r>
            <a:r>
              <a:rPr lang="ko-KR" altLang="en-US" dirty="0"/>
              <a:t>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  - </a:t>
            </a:r>
            <a:r>
              <a:rPr lang="ko-KR" altLang="en-US" dirty="0"/>
              <a:t>수행 시간이 동일한 참가자가 여러 명일 경우</a:t>
            </a:r>
            <a:r>
              <a:rPr lang="en-US" altLang="ko-KR" dirty="0"/>
              <a:t>, </a:t>
            </a:r>
            <a:r>
              <a:rPr lang="ko-KR" altLang="en-US" dirty="0"/>
              <a:t>가장 앞에 있는 참가자를 선택합니다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참가자의 출발 시각과 도착 시각을 담은 </a:t>
            </a:r>
            <a:r>
              <a:rPr lang="en-US" altLang="ko-KR" dirty="0"/>
              <a:t>2</a:t>
            </a:r>
            <a:r>
              <a:rPr lang="ko-KR" altLang="en-US" dirty="0"/>
              <a:t>차원 배열 </a:t>
            </a:r>
            <a:r>
              <a:rPr lang="en-US" altLang="ko-KR" dirty="0"/>
              <a:t>times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</a:t>
            </a:r>
            <a:r>
              <a:rPr lang="ko-KR" altLang="en-US" dirty="0"/>
              <a:t>가장 짧은 시간 안에 작업을 수행한 참가자의 번호를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solution()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아래 프로그램 구조가 올바르게 동작할 수 있도록 빈칸을 알맞게 채워 넣으세요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times</a:t>
            </a:r>
            <a:r>
              <a:rPr lang="ko-KR" altLang="en-US" dirty="0"/>
              <a:t>는 참가자의 출발 시각과 도착 시각을 담은 </a:t>
            </a:r>
            <a:r>
              <a:rPr lang="en-US" altLang="ko-KR" dirty="0"/>
              <a:t>2</a:t>
            </a:r>
            <a:r>
              <a:rPr lang="ko-KR" altLang="en-US" dirty="0"/>
              <a:t>차원 배열입니다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times</a:t>
            </a:r>
            <a:r>
              <a:rPr lang="ko-KR" altLang="en-US" dirty="0"/>
              <a:t>의 길이는 </a:t>
            </a:r>
            <a:r>
              <a:rPr lang="en-US" altLang="ko-KR" dirty="0"/>
              <a:t>3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원소는 </a:t>
            </a:r>
            <a:r>
              <a:rPr lang="en-US" altLang="ko-KR" dirty="0"/>
              <a:t>[</a:t>
            </a:r>
            <a:r>
              <a:rPr lang="ko-KR" altLang="en-US" dirty="0"/>
              <a:t>출발 시각</a:t>
            </a:r>
            <a:r>
              <a:rPr lang="en-US" altLang="ko-KR" dirty="0"/>
              <a:t>, </a:t>
            </a:r>
            <a:r>
              <a:rPr lang="ko-KR" altLang="en-US" dirty="0"/>
              <a:t>도착 시각</a:t>
            </a:r>
            <a:r>
              <a:rPr lang="en-US" altLang="ko-KR" dirty="0"/>
              <a:t>] </a:t>
            </a:r>
            <a:r>
              <a:rPr lang="ko-KR" altLang="en-US" dirty="0"/>
              <a:t>형태입니다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시각은 </a:t>
            </a:r>
            <a:r>
              <a:rPr lang="en-US" altLang="ko-KR" dirty="0"/>
              <a:t>"HH:MM:SS" </a:t>
            </a:r>
            <a:r>
              <a:rPr lang="ko-KR" altLang="en-US" dirty="0"/>
              <a:t>형식의 문자열입니다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출발 시각은 항상 도착 시각보다 빠릅니다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가장 짧은 수행 시간을 가진 참가자의 번호</a:t>
            </a:r>
            <a:r>
              <a:rPr lang="en-US" altLang="ko-KR" dirty="0"/>
              <a:t>(1</a:t>
            </a:r>
            <a:r>
              <a:rPr lang="ko-KR" altLang="en-US" dirty="0"/>
              <a:t>부터 시작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80DDCC-8DA2-8DED-76F6-C53CFEB15688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C57FC4D-DF71-CD1C-B707-4CD1CAACCCAA}"/>
              </a:ext>
            </a:extLst>
          </p:cNvPr>
          <p:cNvCxnSpPr>
            <a:cxnSpLocks/>
          </p:cNvCxnSpPr>
          <p:nvPr/>
        </p:nvCxnSpPr>
        <p:spPr>
          <a:xfrm>
            <a:off x="710682" y="44973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8D9EF08-DE4E-9EF1-81D5-1B45E43E21EA}"/>
              </a:ext>
            </a:extLst>
          </p:cNvPr>
          <p:cNvCxnSpPr>
            <a:cxnSpLocks/>
          </p:cNvCxnSpPr>
          <p:nvPr/>
        </p:nvCxnSpPr>
        <p:spPr>
          <a:xfrm>
            <a:off x="710682" y="63068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94EB391-9B51-9EC5-D8D1-CFC7C49DA7AB}"/>
              </a:ext>
            </a:extLst>
          </p:cNvPr>
          <p:cNvCxnSpPr>
            <a:cxnSpLocks/>
          </p:cNvCxnSpPr>
          <p:nvPr/>
        </p:nvCxnSpPr>
        <p:spPr>
          <a:xfrm>
            <a:off x="710682" y="70688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0798547-8A09-AF6D-F940-C6F929B2E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561509"/>
              </p:ext>
            </p:extLst>
          </p:nvPr>
        </p:nvGraphicFramePr>
        <p:xfrm>
          <a:off x="710682" y="7482720"/>
          <a:ext cx="4830582" cy="1097280"/>
        </p:xfrm>
        <a:graphic>
          <a:graphicData uri="http://schemas.openxmlformats.org/drawingml/2006/table">
            <a:tbl>
              <a:tblPr/>
              <a:tblGrid>
                <a:gridCol w="4028552">
                  <a:extLst>
                    <a:ext uri="{9D8B030D-6E8A-4147-A177-3AD203B41FA5}">
                      <a16:colId xmlns:a16="http://schemas.microsoft.com/office/drawing/2014/main" val="798453834"/>
                    </a:ext>
                  </a:extLst>
                </a:gridCol>
                <a:gridCol w="802030">
                  <a:extLst>
                    <a:ext uri="{9D8B030D-6E8A-4147-A177-3AD203B41FA5}">
                      <a16:colId xmlns:a16="http://schemas.microsoft.com/office/drawing/2014/main" val="712269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06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[["22:10:05", "22:10:08"], ["22:10:28", "22:10:30"], ["23:10:10", "23:10:12"]]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126938"/>
                  </a:ext>
                </a:extLst>
              </a:tr>
              <a:tr h="178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[["10:10:05", "12:45:06"], ["12:25:10", "12:30:20"], ["13:55:55", "14:01:05"], ["20:21:16", "21:16:19"], ["23:40:21", "23:45:11"]]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089752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8348365-4A6F-8E70-E523-A4A6945AED8C}"/>
              </a:ext>
            </a:extLst>
          </p:cNvPr>
          <p:cNvCxnSpPr>
            <a:cxnSpLocks/>
          </p:cNvCxnSpPr>
          <p:nvPr/>
        </p:nvCxnSpPr>
        <p:spPr>
          <a:xfrm>
            <a:off x="710682" y="77292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839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198A-6B95-230C-3910-D1252D5F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B5DFF4C-F9EA-402D-D506-204E5987EA8A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FA18AB1D-8F5D-C7FA-9E8B-916BAACE5D45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예시 </a:t>
            </a:r>
            <a:r>
              <a:rPr lang="en-US" altLang="ko-KR" dirty="0"/>
              <a:t>1 : </a:t>
            </a:r>
            <a:r>
              <a:rPr lang="ko-KR" altLang="en-US" dirty="0"/>
              <a:t>각 참가자의 수행 시간은 다음과 같습니다</a:t>
            </a:r>
            <a:r>
              <a:rPr lang="en-US" altLang="ko-KR" dirty="0"/>
              <a:t>. 1</a:t>
            </a:r>
            <a:r>
              <a:rPr lang="ko-KR" altLang="en-US" dirty="0"/>
              <a:t>번</a:t>
            </a:r>
            <a:r>
              <a:rPr lang="en-US" altLang="ko-KR" dirty="0"/>
              <a:t>: 3</a:t>
            </a:r>
            <a:r>
              <a:rPr lang="ko-KR" altLang="en-US" dirty="0"/>
              <a:t>초</a:t>
            </a:r>
            <a:r>
              <a:rPr lang="en-US" altLang="ko-KR" dirty="0"/>
              <a:t>, 2</a:t>
            </a:r>
            <a:r>
              <a:rPr lang="ko-KR" altLang="en-US" dirty="0"/>
              <a:t>번</a:t>
            </a:r>
            <a:r>
              <a:rPr lang="en-US" altLang="ko-KR" dirty="0"/>
              <a:t>: 2</a:t>
            </a:r>
            <a:r>
              <a:rPr lang="ko-KR" altLang="en-US" dirty="0"/>
              <a:t>초</a:t>
            </a:r>
            <a:r>
              <a:rPr lang="en-US" altLang="ko-KR" dirty="0"/>
              <a:t>, 3</a:t>
            </a:r>
            <a:r>
              <a:rPr lang="ko-KR" altLang="en-US" dirty="0"/>
              <a:t>번</a:t>
            </a:r>
            <a:r>
              <a:rPr lang="en-US" altLang="ko-KR" dirty="0"/>
              <a:t>: 2</a:t>
            </a:r>
            <a:r>
              <a:rPr lang="ko-KR" altLang="en-US" dirty="0"/>
              <a:t>초로 가장 짧은 시간은 </a:t>
            </a:r>
            <a:r>
              <a:rPr lang="en-US" altLang="ko-KR" dirty="0"/>
              <a:t>2</a:t>
            </a:r>
            <a:r>
              <a:rPr lang="ko-KR" altLang="en-US" dirty="0"/>
              <a:t>초이며</a:t>
            </a:r>
            <a:r>
              <a:rPr lang="en-US" altLang="ko-KR" dirty="0"/>
              <a:t>, </a:t>
            </a:r>
            <a:r>
              <a:rPr lang="ko-KR" altLang="en-US" dirty="0"/>
              <a:t>해당 참가자는 </a:t>
            </a:r>
            <a:r>
              <a:rPr lang="en-US" altLang="ko-KR" dirty="0"/>
              <a:t>2</a:t>
            </a:r>
            <a:r>
              <a:rPr lang="ko-KR" altLang="en-US" dirty="0"/>
              <a:t>번과 </a:t>
            </a:r>
            <a:r>
              <a:rPr lang="en-US" altLang="ko-KR" dirty="0"/>
              <a:t>3</a:t>
            </a:r>
            <a:r>
              <a:rPr lang="ko-KR" altLang="en-US" dirty="0"/>
              <a:t>번입니다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EDF4E79-6AD2-4F77-D119-990C7AE83AA0}"/>
              </a:ext>
            </a:extLst>
          </p:cNvPr>
          <p:cNvCxnSpPr>
            <a:cxnSpLocks/>
          </p:cNvCxnSpPr>
          <p:nvPr/>
        </p:nvCxnSpPr>
        <p:spPr>
          <a:xfrm>
            <a:off x="1055206" y="1762816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D98989-0C72-96A0-7781-6D2EA8C25564}"/>
              </a:ext>
            </a:extLst>
          </p:cNvPr>
          <p:cNvSpPr txBox="1"/>
          <p:nvPr/>
        </p:nvSpPr>
        <p:spPr>
          <a:xfrm>
            <a:off x="1666494" y="2017419"/>
            <a:ext cx="4258818" cy="594008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start_time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end_time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hour = int(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 int(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minute = int(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 int(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second = int(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+ int(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hour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3600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minute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second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min_num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min(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a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enumerate(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min_num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a: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  </a:t>
            </a:r>
            <a:r>
              <a:rPr lang="ko-KR" altLang="en-US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빈  칸 </a:t>
            </a:r>
            <a:r>
              <a:rPr lang="en-US" altLang="ko-KR" sz="8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(times)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records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(times)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(records)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times = [[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"22:10:05"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"22:10:08"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"22:10:28"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"22:10:30"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"23:10:10"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"23:10:12"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solution(times)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times1 = [[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"10:10:05"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"12:45:06"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"12:25:10"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"12:30:20"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"13:55:55"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"14:01:05"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"20:21:16"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"21:16:19"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"23:40:21"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"23:45:11"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solution(times1)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823695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CCD4-60C6-8E7D-3EB7-711E60E0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4D98F60-B5FC-2D1A-8208-7DE1BC84187A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68211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26]</a:t>
            </a:r>
            <a:r>
              <a:rPr lang="ko-KR" altLang="en-US" dirty="0"/>
              <a:t> 어떤 탑승 관리 시스템에서는 무게 제한이 있는 장비에 몇 명까지 순서대로 탑승할 수 있는지 확인하려고 합니다</a:t>
            </a:r>
            <a:r>
              <a:rPr lang="en-US" altLang="ko-KR" dirty="0"/>
              <a:t>. </a:t>
            </a:r>
            <a:r>
              <a:rPr lang="ko-KR" altLang="en-US" dirty="0"/>
              <a:t>대기 중인 사람들은 줄을 선 순서대로 탑승하며</a:t>
            </a:r>
            <a:r>
              <a:rPr lang="en-US" altLang="ko-KR" dirty="0"/>
              <a:t>, </a:t>
            </a:r>
            <a:r>
              <a:rPr lang="ko-KR" altLang="en-US" dirty="0"/>
              <a:t>현재까지 탑승한 사람들의 몸무게 합은 항상 장비의 무게 제한을 넘지 않아야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무게 제한과 대기자들의 몸무게 정보가 주어질 때</a:t>
            </a:r>
            <a:r>
              <a:rPr lang="en-US" altLang="ko-KR" dirty="0"/>
              <a:t>, </a:t>
            </a:r>
            <a:r>
              <a:rPr lang="ko-KR" altLang="en-US" dirty="0"/>
              <a:t>다음 규칙에 따라 탑승 가능한 최대 인원을 구하려고 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사람들은 주어진 순서대로만 탑승할 수 있습니다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어떤 사람까지 탑승했을 때 몸무게 합이 제한을 초과하면</a:t>
            </a:r>
            <a:r>
              <a:rPr lang="en-US" altLang="ko-KR" dirty="0"/>
              <a:t>, </a:t>
            </a:r>
            <a:r>
              <a:rPr lang="ko-KR" altLang="en-US" dirty="0"/>
              <a:t>그 사람은 탑승할 수 없습니다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 시점까지 탑승에 성공한 사람 수를 구해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무게 제한이 </a:t>
            </a:r>
            <a:r>
              <a:rPr lang="en-US" altLang="ko-KR" dirty="0"/>
              <a:t>2000</a:t>
            </a:r>
            <a:r>
              <a:rPr lang="ko-KR" altLang="en-US" dirty="0"/>
              <a:t>이고 대기자들의 몸무게가 </a:t>
            </a:r>
            <a:r>
              <a:rPr lang="en-US" altLang="ko-KR" dirty="0"/>
              <a:t>[1000, 500, 600, 100]</a:t>
            </a:r>
            <a:r>
              <a:rPr lang="ko-KR" altLang="en-US" dirty="0"/>
              <a:t>이라면</a:t>
            </a:r>
            <a:r>
              <a:rPr lang="en-US" altLang="ko-KR" dirty="0"/>
              <a:t>,</a:t>
            </a:r>
            <a:r>
              <a:rPr lang="ko-KR" altLang="en-US" dirty="0"/>
              <a:t>첫 번째 사람과 두 번째 사람이 탑승한 뒤의 총합은 </a:t>
            </a:r>
            <a:r>
              <a:rPr lang="en-US" altLang="ko-KR" dirty="0"/>
              <a:t>1500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세 번째 사람까지 탑승하면 총합이 </a:t>
            </a:r>
            <a:r>
              <a:rPr lang="en-US" altLang="ko-KR" dirty="0"/>
              <a:t>2100</a:t>
            </a:r>
            <a:r>
              <a:rPr lang="ko-KR" altLang="en-US" dirty="0"/>
              <a:t>이 되어 제한을 초과하므로</a:t>
            </a:r>
            <a:r>
              <a:rPr lang="en-US" altLang="ko-KR" dirty="0"/>
              <a:t>, </a:t>
            </a:r>
            <a:r>
              <a:rPr lang="ko-KR" altLang="en-US" dirty="0"/>
              <a:t>탑승 가능한 최대 인원은 </a:t>
            </a:r>
            <a:r>
              <a:rPr lang="en-US" altLang="ko-KR" dirty="0"/>
              <a:t>2</a:t>
            </a:r>
            <a:r>
              <a:rPr lang="ko-KR" altLang="en-US" dirty="0"/>
              <a:t>명입니다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장비의 무게 제한 </a:t>
            </a:r>
            <a:r>
              <a:rPr lang="en-US" altLang="ko-KR" dirty="0"/>
              <a:t>limit</a:t>
            </a:r>
            <a:r>
              <a:rPr lang="ko-KR" altLang="en-US" dirty="0"/>
              <a:t>과 대기자의 몸무게를 순서대로 담은 배열 </a:t>
            </a:r>
            <a:r>
              <a:rPr lang="en-US" altLang="ko-KR" dirty="0"/>
              <a:t>weights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탑승 가능한 최대 인원을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solution() </a:t>
            </a:r>
            <a:r>
              <a:rPr lang="ko-KR" altLang="en-US" dirty="0"/>
              <a:t>함수를 작성했습니다</a:t>
            </a:r>
            <a:r>
              <a:rPr lang="en-US" altLang="ko-KR" dirty="0"/>
              <a:t>. </a:t>
            </a:r>
            <a:r>
              <a:rPr lang="ko-KR" altLang="en-US" dirty="0"/>
              <a:t>하지만 코드의 한 부분이 잘못되어 있어 일부 입력에서 올바르게 동작하지 않습니다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주어진 코드에서 한 줄만 수정하여 모든 입력에 대해 올바르게 동작하도록 완성하세요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limit</a:t>
            </a:r>
            <a:r>
              <a:rPr lang="ko-KR" altLang="en-US" dirty="0"/>
              <a:t>은 장비의 무게 제한을 나타내는 자연수입니다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weights</a:t>
            </a:r>
            <a:r>
              <a:rPr lang="ko-KR" altLang="en-US" dirty="0"/>
              <a:t>는 대기자의 몸무게가 순서대로 담긴 배열입니다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limit</a:t>
            </a:r>
            <a:r>
              <a:rPr lang="ko-KR" altLang="en-US" dirty="0"/>
              <a:t>은 </a:t>
            </a:r>
            <a:r>
              <a:rPr lang="en-US" altLang="ko-KR" dirty="0"/>
              <a:t>2,000 </a:t>
            </a:r>
            <a:r>
              <a:rPr lang="ko-KR" altLang="en-US" dirty="0"/>
              <a:t>이상 </a:t>
            </a:r>
            <a:r>
              <a:rPr lang="en-US" altLang="ko-KR" dirty="0"/>
              <a:t>20,000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weights</a:t>
            </a:r>
            <a:r>
              <a:rPr lang="ko-KR" altLang="en-US" dirty="0"/>
              <a:t>의 길이는 </a:t>
            </a:r>
            <a:r>
              <a:rPr lang="en-US" altLang="ko-KR" dirty="0"/>
              <a:t>3 </a:t>
            </a:r>
            <a:r>
              <a:rPr lang="ko-KR" altLang="en-US" dirty="0"/>
              <a:t>이상 </a:t>
            </a:r>
            <a:r>
              <a:rPr lang="en-US" altLang="ko-KR" dirty="0"/>
              <a:t>1,000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weights</a:t>
            </a:r>
            <a:r>
              <a:rPr lang="ko-KR" altLang="en-US" dirty="0"/>
              <a:t>의 각 원소는 </a:t>
            </a:r>
            <a:r>
              <a:rPr lang="en-US" altLang="ko-KR" dirty="0"/>
              <a:t>10 </a:t>
            </a:r>
            <a:r>
              <a:rPr lang="ko-KR" altLang="en-US" dirty="0"/>
              <a:t>이상 </a:t>
            </a:r>
            <a:r>
              <a:rPr lang="en-US" altLang="ko-KR" dirty="0"/>
              <a:t>3,000 </a:t>
            </a:r>
            <a:r>
              <a:rPr lang="ko-KR" altLang="en-US" dirty="0"/>
              <a:t>이하의 자연수입니다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무게 제한을 넘지 않으면서 순서대로 탑승할 수 있는 최대 인원을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42FC1FD-5BF9-792F-1937-329CE4B1F5AF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2AE38E3-30FF-288E-FB9F-8B092AC2D22D}"/>
              </a:ext>
            </a:extLst>
          </p:cNvPr>
          <p:cNvCxnSpPr>
            <a:cxnSpLocks/>
          </p:cNvCxnSpPr>
          <p:nvPr/>
        </p:nvCxnSpPr>
        <p:spPr>
          <a:xfrm>
            <a:off x="710682" y="503072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D973B80-5583-BB7B-706F-7ED99070E68B}"/>
              </a:ext>
            </a:extLst>
          </p:cNvPr>
          <p:cNvCxnSpPr>
            <a:cxnSpLocks/>
          </p:cNvCxnSpPr>
          <p:nvPr/>
        </p:nvCxnSpPr>
        <p:spPr>
          <a:xfrm>
            <a:off x="710682" y="682116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940014A-0852-1E05-A6D5-AC687A988E99}"/>
              </a:ext>
            </a:extLst>
          </p:cNvPr>
          <p:cNvCxnSpPr>
            <a:cxnSpLocks/>
          </p:cNvCxnSpPr>
          <p:nvPr/>
        </p:nvCxnSpPr>
        <p:spPr>
          <a:xfrm>
            <a:off x="710682" y="758316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A7A3DBE-2225-FC61-7E39-FC09F8EB5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258108"/>
              </p:ext>
            </p:extLst>
          </p:nvPr>
        </p:nvGraphicFramePr>
        <p:xfrm>
          <a:off x="1266825" y="7880094"/>
          <a:ext cx="4207764" cy="762000"/>
        </p:xfrm>
        <a:graphic>
          <a:graphicData uri="http://schemas.openxmlformats.org/drawingml/2006/table">
            <a:tbl>
              <a:tblPr/>
              <a:tblGrid>
                <a:gridCol w="619125">
                  <a:extLst>
                    <a:ext uri="{9D8B030D-6E8A-4147-A177-3AD203B41FA5}">
                      <a16:colId xmlns:a16="http://schemas.microsoft.com/office/drawing/2014/main" val="572045343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748245632"/>
                    </a:ext>
                  </a:extLst>
                </a:gridCol>
                <a:gridCol w="664464">
                  <a:extLst>
                    <a:ext uri="{9D8B030D-6E8A-4147-A177-3AD203B41FA5}">
                      <a16:colId xmlns:a16="http://schemas.microsoft.com/office/drawing/2014/main" val="1758373640"/>
                    </a:ext>
                  </a:extLst>
                </a:gridCol>
              </a:tblGrid>
              <a:tr h="1345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weights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285001"/>
                  </a:ext>
                </a:extLst>
              </a:tr>
              <a:tr h="1345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2000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[1000, 500, 600, 100]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08213"/>
                  </a:ext>
                </a:extLst>
              </a:tr>
              <a:tr h="1345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4550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[1500, 500, 1600, 400, 190, 230, 1750, 350]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807556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A245B6B-84E8-DFDF-B055-F0C15BA87C8E}"/>
              </a:ext>
            </a:extLst>
          </p:cNvPr>
          <p:cNvCxnSpPr>
            <a:cxnSpLocks/>
          </p:cNvCxnSpPr>
          <p:nvPr/>
        </p:nvCxnSpPr>
        <p:spPr>
          <a:xfrm>
            <a:off x="1267231" y="8116569"/>
            <a:ext cx="41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705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C08E-E474-8777-9F42-4AD121DD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E3016D9-B59A-036F-5B0E-E2160A5E8063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46A92511-2ACC-1B52-C65C-1A1F039973EA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1ECA02-7ADD-2B84-CA6A-8758D8FB2BE0}"/>
              </a:ext>
            </a:extLst>
          </p:cNvPr>
          <p:cNvSpPr txBox="1"/>
          <p:nvPr/>
        </p:nvSpPr>
        <p:spPr>
          <a:xfrm>
            <a:off x="1666494" y="1245894"/>
            <a:ext cx="4258818" cy="30162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(limit, weights)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weight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weights: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total &gt; limit: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total += weight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limit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weights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solution(limit, weights)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limit1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4550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weights1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1500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1600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1750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solution(limit1, weights1)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647753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0C1B-E76F-227C-DDF2-C01F9FEA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40FCCC5-855B-4F54-8902-159263BBCD54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68211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27]</a:t>
            </a:r>
            <a:r>
              <a:rPr lang="ko-KR" altLang="en-US" dirty="0"/>
              <a:t> 어떤 식단 관리 시스템에서는 여러 종류의 메뉴를 이용해 일정 기간 동안 식사를 구성하려고 합니다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같은 메뉴를 연속으로 선택하는 것은 허용되지 않습니다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메뉴의 종류 수와 식사를 진행할 날짜 수가 주어질 때</a:t>
            </a:r>
            <a:r>
              <a:rPr lang="en-US" altLang="ko-KR" dirty="0"/>
              <a:t>, </a:t>
            </a:r>
            <a:r>
              <a:rPr lang="ko-KR" altLang="en-US" dirty="0"/>
              <a:t>다음 조건을 만족하는 전체 경우의 수를 구하려고 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첫 번째 날에는 모든 메뉴 중 하나를 선택할 수 있습니다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번째 날부터는 바로 전날 선택한 메뉴를 제외한 나머지 메뉴 중 하나를 선택해야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이 조건을 만족하며 </a:t>
            </a:r>
            <a:r>
              <a:rPr lang="en-US" altLang="ko-KR" dirty="0"/>
              <a:t>days</a:t>
            </a:r>
            <a:r>
              <a:rPr lang="ko-KR" altLang="en-US" dirty="0"/>
              <a:t>일 동안 메뉴를 선택하는 모든 가능한 경우의 수를 구해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음식의 종류 수 </a:t>
            </a:r>
            <a:r>
              <a:rPr lang="en-US" altLang="ko-KR" dirty="0"/>
              <a:t>foods</a:t>
            </a:r>
            <a:r>
              <a:rPr lang="ko-KR" altLang="en-US" dirty="0"/>
              <a:t>와 날짜 수 </a:t>
            </a:r>
            <a:r>
              <a:rPr lang="en-US" altLang="ko-KR" dirty="0"/>
              <a:t>days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조건을 만족하는 선택 방법의 수를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solution() </a:t>
            </a:r>
            <a:r>
              <a:rPr lang="ko-KR" altLang="en-US" dirty="0"/>
              <a:t>함수를 작성했습니다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하지만 현재 코드에는 오류가 있어 일부 입력에서 올바르게 동작하지 않습니다</a:t>
            </a:r>
            <a:r>
              <a:rPr lang="en-US" altLang="ko-KR" dirty="0"/>
              <a:t>. </a:t>
            </a:r>
            <a:r>
              <a:rPr lang="ko-KR" altLang="en-US" dirty="0"/>
              <a:t>주어진 코드에서 한 줄만 수정하여 모든 입력에서 올바르게 동작하도록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foods</a:t>
            </a:r>
            <a:r>
              <a:rPr lang="ko-KR" altLang="en-US" dirty="0"/>
              <a:t>는 선택 가능한 메뉴의 개수를 의미합니다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days</a:t>
            </a:r>
            <a:r>
              <a:rPr lang="ko-KR" altLang="en-US" dirty="0"/>
              <a:t>는 식사를 진행할 총 날짜 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foods</a:t>
            </a:r>
            <a:r>
              <a:rPr lang="ko-KR" altLang="en-US" dirty="0"/>
              <a:t>는 </a:t>
            </a:r>
            <a:r>
              <a:rPr lang="en-US" altLang="ko-KR" dirty="0"/>
              <a:t>2 </a:t>
            </a:r>
            <a:r>
              <a:rPr lang="ko-KR" altLang="en-US" dirty="0"/>
              <a:t>이상 </a:t>
            </a:r>
            <a:r>
              <a:rPr lang="en-US" altLang="ko-KR" dirty="0"/>
              <a:t>10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days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19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주어진 조건을 만족하는 메뉴 선택 방법의 총 개수를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114300" lvl="1">
              <a:lnSpc>
                <a:spcPct val="100000"/>
              </a:lnSpc>
            </a:pPr>
            <a:endParaRPr lang="en-US" altLang="ko-KR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BE5C194-B011-E844-A5A6-A9444D58A4D7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7649B03-6E51-794D-E34F-3F5549A9426D}"/>
              </a:ext>
            </a:extLst>
          </p:cNvPr>
          <p:cNvCxnSpPr>
            <a:cxnSpLocks/>
          </p:cNvCxnSpPr>
          <p:nvPr/>
        </p:nvCxnSpPr>
        <p:spPr>
          <a:xfrm>
            <a:off x="710682" y="418299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517337C-D3AD-11B1-2485-B478DFAFC51C}"/>
              </a:ext>
            </a:extLst>
          </p:cNvPr>
          <p:cNvCxnSpPr>
            <a:cxnSpLocks/>
          </p:cNvCxnSpPr>
          <p:nvPr/>
        </p:nvCxnSpPr>
        <p:spPr>
          <a:xfrm>
            <a:off x="710682" y="568769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B91FC39-B43F-2DF7-567E-EEE216CE2351}"/>
              </a:ext>
            </a:extLst>
          </p:cNvPr>
          <p:cNvCxnSpPr>
            <a:cxnSpLocks/>
          </p:cNvCxnSpPr>
          <p:nvPr/>
        </p:nvCxnSpPr>
        <p:spPr>
          <a:xfrm>
            <a:off x="710682" y="644969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0488044-328C-26FE-8E35-3E209A68122C}"/>
              </a:ext>
            </a:extLst>
          </p:cNvPr>
          <p:cNvCxnSpPr>
            <a:cxnSpLocks/>
          </p:cNvCxnSpPr>
          <p:nvPr/>
        </p:nvCxnSpPr>
        <p:spPr>
          <a:xfrm>
            <a:off x="1081834" y="7097394"/>
            <a:ext cx="41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BEE6F02-83D3-24D1-1151-D6D2AE44D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66665"/>
              </p:ext>
            </p:extLst>
          </p:nvPr>
        </p:nvGraphicFramePr>
        <p:xfrm>
          <a:off x="1231429" y="6859525"/>
          <a:ext cx="3789087" cy="762000"/>
        </p:xfrm>
        <a:graphic>
          <a:graphicData uri="http://schemas.openxmlformats.org/drawingml/2006/table">
            <a:tbl>
              <a:tblPr/>
              <a:tblGrid>
                <a:gridCol w="1263029">
                  <a:extLst>
                    <a:ext uri="{9D8B030D-6E8A-4147-A177-3AD203B41FA5}">
                      <a16:colId xmlns:a16="http://schemas.microsoft.com/office/drawing/2014/main" val="1720849157"/>
                    </a:ext>
                  </a:extLst>
                </a:gridCol>
                <a:gridCol w="1263029">
                  <a:extLst>
                    <a:ext uri="{9D8B030D-6E8A-4147-A177-3AD203B41FA5}">
                      <a16:colId xmlns:a16="http://schemas.microsoft.com/office/drawing/2014/main" val="26600137"/>
                    </a:ext>
                  </a:extLst>
                </a:gridCol>
                <a:gridCol w="1263029">
                  <a:extLst>
                    <a:ext uri="{9D8B030D-6E8A-4147-A177-3AD203B41FA5}">
                      <a16:colId xmlns:a16="http://schemas.microsoft.com/office/drawing/2014/main" val="1091526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+mn-ea"/>
                          <a:ea typeface="+mn-ea"/>
                        </a:rPr>
                        <a:t>foods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01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324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9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7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192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770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9953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8A0A-9FB4-0A2C-E679-C430C581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DC8D1A4-1B0B-7080-5651-765C404AF6F3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273ECAC2-D3E9-0C49-C6FB-BD6BDBC939DC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A470EC-CD57-005F-DF4C-91B295D21683}"/>
              </a:ext>
            </a:extLst>
          </p:cNvPr>
          <p:cNvSpPr txBox="1"/>
          <p:nvPr/>
        </p:nvSpPr>
        <p:spPr>
          <a:xfrm>
            <a:off x="1666494" y="1245894"/>
            <a:ext cx="4258818" cy="255454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(foods, days)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foods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days):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*= foods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foods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days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solution(foods, days)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foods1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days1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solution(foods1, days1)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816990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353A-1911-744D-B5A7-DE28B28C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FC82AE6-0294-E9B5-5805-74C03C353EE7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380485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28]</a:t>
            </a:r>
            <a:r>
              <a:rPr lang="ko-KR" altLang="en-US" dirty="0"/>
              <a:t> 어떤 시간 설정 장치에는 여러 개의 버튼이 있으며</a:t>
            </a:r>
            <a:r>
              <a:rPr lang="en-US" altLang="ko-KR" dirty="0"/>
              <a:t>, </a:t>
            </a:r>
            <a:r>
              <a:rPr lang="ko-KR" altLang="en-US" dirty="0"/>
              <a:t>각 버튼을 누를 때마다 정해진 시간만큼 작동 시간이 늘어납니다</a:t>
            </a:r>
            <a:r>
              <a:rPr lang="en-US" altLang="ko-KR" dirty="0"/>
              <a:t>. </a:t>
            </a:r>
            <a:r>
              <a:rPr lang="ko-KR" altLang="en-US" dirty="0"/>
              <a:t>이 장치를 원하는 시간만큼 작동시키기 위해 버튼을 최소 몇 번 눌러야 하는지 구하려고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시간 설정 장치에는 </a:t>
            </a:r>
            <a:r>
              <a:rPr lang="en-US" altLang="ko-KR" dirty="0"/>
              <a:t>5</a:t>
            </a:r>
            <a:r>
              <a:rPr lang="ko-KR" altLang="en-US" dirty="0"/>
              <a:t>개의 버튼이 있습니다</a:t>
            </a:r>
            <a:r>
              <a:rPr lang="en-US" altLang="ko-KR" dirty="0"/>
              <a:t>. </a:t>
            </a:r>
            <a:r>
              <a:rPr lang="ko-KR" altLang="en-US" dirty="0"/>
              <a:t>각 버튼을 한 번 누를 때마다 작동 시간이 다음과 같이 증가합니다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초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5</a:t>
            </a:r>
            <a:r>
              <a:rPr lang="ko-KR" altLang="en-US" dirty="0"/>
              <a:t>초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10</a:t>
            </a:r>
            <a:r>
              <a:rPr lang="ko-KR" altLang="en-US" dirty="0"/>
              <a:t>초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30</a:t>
            </a:r>
            <a:r>
              <a:rPr lang="ko-KR" altLang="en-US" dirty="0"/>
              <a:t>초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60</a:t>
            </a:r>
            <a:r>
              <a:rPr lang="ko-KR" altLang="en-US" dirty="0"/>
              <a:t>초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원하는 작동 시간이 </a:t>
            </a:r>
            <a:r>
              <a:rPr lang="en-US" altLang="ko-KR" dirty="0"/>
              <a:t>t</a:t>
            </a:r>
            <a:r>
              <a:rPr lang="ko-KR" altLang="en-US" dirty="0"/>
              <a:t>초로 주어질 때</a:t>
            </a:r>
            <a:r>
              <a:rPr lang="en-US" altLang="ko-KR" dirty="0"/>
              <a:t>, </a:t>
            </a:r>
            <a:r>
              <a:rPr lang="ko-KR" altLang="en-US" dirty="0"/>
              <a:t>버튼을 누르는 횟수의 합이 최소가 되도록 시간을 설정하려고 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78</a:t>
            </a:r>
            <a:r>
              <a:rPr lang="ko-KR" altLang="en-US" dirty="0"/>
              <a:t>초를 만들려면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60</a:t>
            </a:r>
            <a:r>
              <a:rPr lang="ko-KR" altLang="en-US" dirty="0"/>
              <a:t>초 버튼 </a:t>
            </a:r>
            <a:r>
              <a:rPr lang="en-US" altLang="ko-KR" dirty="0"/>
              <a:t>1</a:t>
            </a:r>
            <a:r>
              <a:rPr lang="ko-KR" altLang="en-US" dirty="0"/>
              <a:t>번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10</a:t>
            </a:r>
            <a:r>
              <a:rPr lang="ko-KR" altLang="en-US" dirty="0"/>
              <a:t>초 버튼 </a:t>
            </a:r>
            <a:r>
              <a:rPr lang="en-US" altLang="ko-KR" dirty="0"/>
              <a:t>1</a:t>
            </a:r>
            <a:r>
              <a:rPr lang="ko-KR" altLang="en-US" dirty="0"/>
              <a:t>번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5</a:t>
            </a:r>
            <a:r>
              <a:rPr lang="ko-KR" altLang="en-US" dirty="0"/>
              <a:t>초 버튼 </a:t>
            </a:r>
            <a:r>
              <a:rPr lang="en-US" altLang="ko-KR" dirty="0"/>
              <a:t>1</a:t>
            </a:r>
            <a:r>
              <a:rPr lang="ko-KR" altLang="en-US" dirty="0"/>
              <a:t>번</a:t>
            </a:r>
            <a:endParaRPr lang="en-US" altLang="ko-KR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초 버튼 </a:t>
            </a:r>
            <a:r>
              <a:rPr lang="en-US" altLang="ko-KR" dirty="0"/>
              <a:t>3</a:t>
            </a:r>
            <a:r>
              <a:rPr lang="ko-KR" altLang="en-US" dirty="0"/>
              <a:t>번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을 누르면 되므로 총 </a:t>
            </a:r>
            <a:r>
              <a:rPr lang="en-US" altLang="ko-KR" dirty="0"/>
              <a:t>6</a:t>
            </a:r>
            <a:r>
              <a:rPr lang="ko-KR" altLang="en-US" dirty="0"/>
              <a:t>번입니다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원하는 시간 </a:t>
            </a:r>
            <a:r>
              <a:rPr lang="en-US" altLang="ko-KR" dirty="0"/>
              <a:t>t</a:t>
            </a:r>
            <a:r>
              <a:rPr lang="ko-KR" altLang="en-US" dirty="0"/>
              <a:t>가 주어질 때</a:t>
            </a:r>
            <a:r>
              <a:rPr lang="en-US" altLang="ko-KR" dirty="0"/>
              <a:t>, </a:t>
            </a:r>
            <a:r>
              <a:rPr lang="ko-KR" altLang="en-US" dirty="0"/>
              <a:t>최소 버튼 입력 횟수를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solution() </a:t>
            </a:r>
            <a:r>
              <a:rPr lang="ko-KR" altLang="en-US" dirty="0"/>
              <a:t>함수를 작성했습니다</a:t>
            </a:r>
            <a:r>
              <a:rPr lang="en-US" altLang="ko-KR" dirty="0"/>
              <a:t>. </a:t>
            </a:r>
            <a:r>
              <a:rPr lang="ko-KR" altLang="en-US" dirty="0"/>
              <a:t>하지만 현재 코드에는 오류가 있어 일부 입력에서 올바르게 동작하지 않습니다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주어진 코드에서 한 줄만 수정하여 모든 입력에서 올바르게 동작하도록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</a:t>
            </a:r>
            <a:r>
              <a:rPr lang="ko-KR" altLang="en-US" dirty="0"/>
              <a:t>는 설정하려는 전체 작동 시간입니다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이상 </a:t>
            </a:r>
            <a:r>
              <a:rPr lang="en-US" altLang="ko-KR" dirty="0"/>
              <a:t>100,000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시간을 정확히 </a:t>
            </a:r>
            <a:r>
              <a:rPr lang="en-US" altLang="ko-KR" dirty="0"/>
              <a:t>t</a:t>
            </a:r>
            <a:r>
              <a:rPr lang="ko-KR" altLang="en-US" dirty="0"/>
              <a:t>초로 맞추기 위해 필요한 버튼 입력의 최소 횟수를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E274AB0-0AE0-47BD-CA13-DCF297471A14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9448CCA-2228-C720-340F-14D3CDEB680F}"/>
              </a:ext>
            </a:extLst>
          </p:cNvPr>
          <p:cNvCxnSpPr>
            <a:cxnSpLocks/>
          </p:cNvCxnSpPr>
          <p:nvPr/>
        </p:nvCxnSpPr>
        <p:spPr>
          <a:xfrm>
            <a:off x="710682" y="630707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A252651-7EE5-C1DA-ABDF-117223632F35}"/>
              </a:ext>
            </a:extLst>
          </p:cNvPr>
          <p:cNvCxnSpPr>
            <a:cxnSpLocks/>
          </p:cNvCxnSpPr>
          <p:nvPr/>
        </p:nvCxnSpPr>
        <p:spPr>
          <a:xfrm>
            <a:off x="710682" y="732599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5656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7AB2-7AE0-B2B5-BCF5-71E9B9B6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12F43AC-DBF1-B02F-8DF8-E29940867E9C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01E8D1AF-7FBA-F6BA-B432-9E022CC0AFE8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50EEA1-0CAC-AE31-D981-271403FC3463}"/>
              </a:ext>
            </a:extLst>
          </p:cNvPr>
          <p:cNvSpPr txBox="1"/>
          <p:nvPr/>
        </p:nvSpPr>
        <p:spPr>
          <a:xfrm>
            <a:off x="1666494" y="2569869"/>
            <a:ext cx="4258818" cy="255454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button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button: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t //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 //=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78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t1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B6B040F-70CF-146F-5892-0BEC5D9DB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42409"/>
              </p:ext>
            </p:extLst>
          </p:nvPr>
        </p:nvGraphicFramePr>
        <p:xfrm>
          <a:off x="1666494" y="1305705"/>
          <a:ext cx="3953256" cy="762000"/>
        </p:xfrm>
        <a:graphic>
          <a:graphicData uri="http://schemas.openxmlformats.org/drawingml/2006/table">
            <a:tbl>
              <a:tblPr/>
              <a:tblGrid>
                <a:gridCol w="1976628">
                  <a:extLst>
                    <a:ext uri="{9D8B030D-6E8A-4147-A177-3AD203B41FA5}">
                      <a16:colId xmlns:a16="http://schemas.microsoft.com/office/drawing/2014/main" val="3363521688"/>
                    </a:ext>
                  </a:extLst>
                </a:gridCol>
                <a:gridCol w="1976628">
                  <a:extLst>
                    <a:ext uri="{9D8B030D-6E8A-4147-A177-3AD203B41FA5}">
                      <a16:colId xmlns:a16="http://schemas.microsoft.com/office/drawing/2014/main" val="4241401487"/>
                    </a:ext>
                  </a:extLst>
                </a:gridCol>
              </a:tblGrid>
              <a:tr h="234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463030"/>
                  </a:ext>
                </a:extLst>
              </a:tr>
              <a:tr h="234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78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391930"/>
                  </a:ext>
                </a:extLst>
              </a:tr>
              <a:tr h="234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63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728902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70BFB3-CF08-33AB-3360-B5F4C3952B21}"/>
              </a:ext>
            </a:extLst>
          </p:cNvPr>
          <p:cNvCxnSpPr>
            <a:cxnSpLocks/>
          </p:cNvCxnSpPr>
          <p:nvPr/>
        </p:nvCxnSpPr>
        <p:spPr>
          <a:xfrm>
            <a:off x="1081067" y="22682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72D6B6A-5256-255D-D099-DA5EE100B8D6}"/>
              </a:ext>
            </a:extLst>
          </p:cNvPr>
          <p:cNvCxnSpPr>
            <a:cxnSpLocks/>
          </p:cNvCxnSpPr>
          <p:nvPr/>
        </p:nvCxnSpPr>
        <p:spPr>
          <a:xfrm>
            <a:off x="1590294" y="1553844"/>
            <a:ext cx="28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2912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D9EC-DF69-55A2-CD1C-3B99C67F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0346C1E-E658-1A39-E3D4-7CF67C6CF6AD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380485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29]</a:t>
            </a:r>
            <a:r>
              <a:rPr lang="ko-KR" altLang="en-US" dirty="0"/>
              <a:t> 어떤 평가 시스템에서는 여러 번의 시험 점수 중 가장 낮은 점수 하나를 제외한 뒤</a:t>
            </a:r>
            <a:r>
              <a:rPr lang="en-US" altLang="ko-KR" dirty="0"/>
              <a:t>, </a:t>
            </a:r>
            <a:r>
              <a:rPr lang="ko-KR" altLang="en-US" dirty="0"/>
              <a:t>나머지 점수의 평균으로 최종 점수를 계산하려고 합니다</a:t>
            </a:r>
            <a:r>
              <a:rPr lang="en-US" altLang="ko-KR" dirty="0"/>
              <a:t>. </a:t>
            </a:r>
            <a:r>
              <a:rPr lang="ko-KR" altLang="en-US" dirty="0"/>
              <a:t>이때 평균 계산 결과에 소수점이 생기면 소수점 이하는 버립니다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학생의 시험 점수들이 배열로 주어질 때</a:t>
            </a:r>
            <a:r>
              <a:rPr lang="en-US" altLang="ko-KR" dirty="0"/>
              <a:t>, </a:t>
            </a:r>
            <a:r>
              <a:rPr lang="ko-KR" altLang="en-US" dirty="0"/>
              <a:t>다음 규칙에 따라 최종 점수를 계산합니다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점수들 중 가장 낮은 점수 하나를 제외합니다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남은 점수들의 평균을 구합니다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평균에 소수점이 있을 경우 소수점 이하는 버립니다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최종 점수를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점수 배열이 </a:t>
            </a:r>
            <a:r>
              <a:rPr lang="en-US" altLang="ko-KR" dirty="0"/>
              <a:t>[100, 90, 80, 95, 70, 81]</a:t>
            </a:r>
            <a:r>
              <a:rPr lang="ko-KR" altLang="en-US" dirty="0"/>
              <a:t>이라면 가장 낮은 점수는 </a:t>
            </a:r>
            <a:r>
              <a:rPr lang="en-US" altLang="ko-KR" dirty="0"/>
              <a:t>70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이를 제외한 점수들의 평균은 </a:t>
            </a:r>
            <a:r>
              <a:rPr lang="en-US" altLang="ko-KR" dirty="0"/>
              <a:t>89.2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소수점 이하는 버리므로 최종 점수는 </a:t>
            </a:r>
            <a:r>
              <a:rPr lang="en-US" altLang="ko-KR" dirty="0"/>
              <a:t>89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시험 점수가 담긴 배열 </a:t>
            </a:r>
            <a:r>
              <a:rPr lang="en-US" altLang="ko-KR" dirty="0"/>
              <a:t>scores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위 규칙에 따라 계산한 최종 점수를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solution()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scores</a:t>
            </a:r>
            <a:r>
              <a:rPr lang="ko-KR" altLang="en-US" dirty="0"/>
              <a:t>는 시험 점수가 담긴 배열입니다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scores</a:t>
            </a:r>
            <a:r>
              <a:rPr lang="ko-KR" altLang="en-US" dirty="0"/>
              <a:t>의 길이는 </a:t>
            </a:r>
            <a:r>
              <a:rPr lang="en-US" altLang="ko-KR" dirty="0"/>
              <a:t>2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scores</a:t>
            </a:r>
            <a:r>
              <a:rPr lang="ko-KR" altLang="en-US" dirty="0"/>
              <a:t>의 각 원소는 </a:t>
            </a:r>
            <a:r>
              <a:rPr lang="en-US" altLang="ko-KR" dirty="0"/>
              <a:t>0 </a:t>
            </a:r>
            <a:r>
              <a:rPr lang="ko-KR" altLang="en-US" dirty="0"/>
              <a:t>이상 </a:t>
            </a:r>
            <a:r>
              <a:rPr lang="en-US" altLang="ko-KR" dirty="0"/>
              <a:t>100 </a:t>
            </a:r>
            <a:r>
              <a:rPr lang="ko-KR" altLang="en-US" dirty="0"/>
              <a:t>이하의 정수입니다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가장 낮은 점수 하나를 제외한 나머지 점수의 평균에서 소수점 이하는 버린 값을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65C4D4-8EC8-7052-C0ED-FBF69FC57D6A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3D0205-6019-86C9-773A-1D94B4B64233}"/>
              </a:ext>
            </a:extLst>
          </p:cNvPr>
          <p:cNvCxnSpPr>
            <a:cxnSpLocks/>
          </p:cNvCxnSpPr>
          <p:nvPr/>
        </p:nvCxnSpPr>
        <p:spPr>
          <a:xfrm>
            <a:off x="710682" y="412584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F613521-5F00-972E-3D2D-B44D1A964172}"/>
              </a:ext>
            </a:extLst>
          </p:cNvPr>
          <p:cNvCxnSpPr>
            <a:cxnSpLocks/>
          </p:cNvCxnSpPr>
          <p:nvPr/>
        </p:nvCxnSpPr>
        <p:spPr>
          <a:xfrm>
            <a:off x="710682" y="53924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158E709-26A8-9E6A-7B69-68C17D14DF4B}"/>
              </a:ext>
            </a:extLst>
          </p:cNvPr>
          <p:cNvCxnSpPr>
            <a:cxnSpLocks/>
          </p:cNvCxnSpPr>
          <p:nvPr/>
        </p:nvCxnSpPr>
        <p:spPr>
          <a:xfrm>
            <a:off x="710682" y="629729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E3DA56-F02A-B615-94D0-403B87F6C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656972"/>
              </p:ext>
            </p:extLst>
          </p:nvPr>
        </p:nvGraphicFramePr>
        <p:xfrm>
          <a:off x="1203437" y="6500757"/>
          <a:ext cx="3845072" cy="762000"/>
        </p:xfrm>
        <a:graphic>
          <a:graphicData uri="http://schemas.openxmlformats.org/drawingml/2006/table">
            <a:tbl>
              <a:tblPr/>
              <a:tblGrid>
                <a:gridCol w="2549413">
                  <a:extLst>
                    <a:ext uri="{9D8B030D-6E8A-4147-A177-3AD203B41FA5}">
                      <a16:colId xmlns:a16="http://schemas.microsoft.com/office/drawing/2014/main" val="438703055"/>
                    </a:ext>
                  </a:extLst>
                </a:gridCol>
                <a:gridCol w="1295659">
                  <a:extLst>
                    <a:ext uri="{9D8B030D-6E8A-4147-A177-3AD203B41FA5}">
                      <a16:colId xmlns:a16="http://schemas.microsoft.com/office/drawing/2014/main" val="757922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974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[100, 90, 80, 95, 70, 81]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89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44552"/>
                  </a:ext>
                </a:extLst>
              </a:tr>
              <a:tr h="1719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[10, 87, 70, 48, 76, 52, 66]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66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323453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FB50AF0-3376-D6A2-5D59-69D1EECB026D}"/>
              </a:ext>
            </a:extLst>
          </p:cNvPr>
          <p:cNvCxnSpPr>
            <a:cxnSpLocks/>
          </p:cNvCxnSpPr>
          <p:nvPr/>
        </p:nvCxnSpPr>
        <p:spPr>
          <a:xfrm>
            <a:off x="1203437" y="6725919"/>
            <a:ext cx="316853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CFE97A1-3F05-47EF-AC9A-94DB1936FBE6}"/>
              </a:ext>
            </a:extLst>
          </p:cNvPr>
          <p:cNvSpPr txBox="1"/>
          <p:nvPr/>
        </p:nvSpPr>
        <p:spPr>
          <a:xfrm>
            <a:off x="1253871" y="7818144"/>
            <a:ext cx="4258818" cy="70788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AF760ED-AAC9-877D-6554-5DC639212523}"/>
              </a:ext>
            </a:extLst>
          </p:cNvPr>
          <p:cNvCxnSpPr>
            <a:cxnSpLocks/>
          </p:cNvCxnSpPr>
          <p:nvPr/>
        </p:nvCxnSpPr>
        <p:spPr>
          <a:xfrm>
            <a:off x="710682" y="75260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4084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FB6C-0AFC-EEEC-8EC7-A3F6A5A4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5867EB-0941-96FA-4B24-E801CFF854F9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FA5299D8-B19F-DAC3-E207-40AD42F4CB5B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A1E748-7FB3-D691-AA36-435C66FC00A6}"/>
              </a:ext>
            </a:extLst>
          </p:cNvPr>
          <p:cNvSpPr txBox="1"/>
          <p:nvPr/>
        </p:nvSpPr>
        <p:spPr>
          <a:xfrm>
            <a:off x="1666494" y="1303044"/>
            <a:ext cx="4258818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solution(scores)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scores1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solution(scores1)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876660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0A55-CC0A-FCF2-C812-5CD7E48D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F8544D8-CF71-8410-F789-7B9FCA13B97A}"/>
              </a:ext>
            </a:extLst>
          </p:cNvPr>
          <p:cNvSpPr txBox="1">
            <a:spLocks/>
          </p:cNvSpPr>
          <p:nvPr/>
        </p:nvSpPr>
        <p:spPr>
          <a:xfrm>
            <a:off x="654709" y="1220590"/>
            <a:ext cx="4994251" cy="7380485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문제 </a:t>
            </a:r>
            <a:r>
              <a:rPr lang="en-US" altLang="ko-KR" dirty="0"/>
              <a:t>30]</a:t>
            </a:r>
            <a:r>
              <a:rPr lang="ko-KR" altLang="en-US" dirty="0"/>
              <a:t> 어떤 프로젝트 운영 시스템에서는 특정 역할을 모두 갖춘 팀을 최대 몇 개 만들 수 있는지 계산하려고 합니다</a:t>
            </a:r>
            <a:r>
              <a:rPr lang="en-US" altLang="ko-KR" dirty="0"/>
              <a:t>. </a:t>
            </a:r>
            <a:r>
              <a:rPr lang="ko-KR" altLang="en-US" dirty="0"/>
              <a:t>하나의 완성된 팀을 만들기 위해서는 </a:t>
            </a:r>
            <a:r>
              <a:rPr lang="en-US" altLang="ko-KR" dirty="0"/>
              <a:t>"a", "b", "c", "d", "e" </a:t>
            </a:r>
            <a:r>
              <a:rPr lang="ko-KR" altLang="en-US" dirty="0"/>
              <a:t>역할의 사람이 각각 </a:t>
            </a:r>
            <a:r>
              <a:rPr lang="en-US" altLang="ko-KR" dirty="0"/>
              <a:t>1</a:t>
            </a:r>
            <a:r>
              <a:rPr lang="ko-KR" altLang="en-US" dirty="0"/>
              <a:t>명씩 반드시 필요합니다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학생들의 역할 정보가 배열로 주어질 때</a:t>
            </a:r>
            <a:r>
              <a:rPr lang="en-US" altLang="ko-KR" dirty="0"/>
              <a:t>, </a:t>
            </a:r>
            <a:r>
              <a:rPr lang="ko-KR" altLang="en-US" dirty="0"/>
              <a:t>다음 조건을 만족하는 팀을 최대 몇 개 만들 수 있는지 구하려고 합니다</a:t>
            </a:r>
            <a:r>
              <a:rPr lang="en-US" altLang="ko-KR" dirty="0"/>
              <a:t>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한 팀은 정확히 </a:t>
            </a:r>
            <a:r>
              <a:rPr lang="en-US" altLang="ko-KR" dirty="0"/>
              <a:t>5</a:t>
            </a:r>
            <a:r>
              <a:rPr lang="ko-KR" altLang="en-US" dirty="0"/>
              <a:t>명으로 구성됩니다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팀에는 </a:t>
            </a:r>
            <a:r>
              <a:rPr lang="en-US" altLang="ko-KR" dirty="0"/>
              <a:t>"a", "b", "c", "d", "e" </a:t>
            </a:r>
            <a:r>
              <a:rPr lang="ko-KR" altLang="en-US" dirty="0"/>
              <a:t>역할이 각각 </a:t>
            </a:r>
            <a:r>
              <a:rPr lang="en-US" altLang="ko-KR" dirty="0"/>
              <a:t>1</a:t>
            </a:r>
            <a:r>
              <a:rPr lang="ko-KR" altLang="en-US" dirty="0"/>
              <a:t>명씩 포함되어야 합니다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한 학생은 한 팀에만 속할 수 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, ["a", "b", "e", "d", "b"]</a:t>
            </a:r>
            <a:r>
              <a:rPr lang="ko-KR" altLang="en-US" dirty="0"/>
              <a:t>가 주어지면 </a:t>
            </a:r>
            <a:r>
              <a:rPr lang="en-US" altLang="ko-KR" dirty="0"/>
              <a:t>"c" </a:t>
            </a:r>
            <a:r>
              <a:rPr lang="ko-KR" altLang="en-US" dirty="0"/>
              <a:t>역할이 없으므로 완성된 팀을 만들 수 없습니다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/>
              <a:t>["a", "d", "b", "e", "c"]</a:t>
            </a:r>
            <a:r>
              <a:rPr lang="ko-KR" altLang="en-US" dirty="0"/>
              <a:t>가 주어지면 필요한 역할이 모두 있으므로 </a:t>
            </a:r>
            <a:r>
              <a:rPr lang="en-US" altLang="ko-KR" dirty="0"/>
              <a:t>1</a:t>
            </a:r>
            <a:r>
              <a:rPr lang="ko-KR" altLang="en-US" dirty="0"/>
              <a:t>팀을 만들 수 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학생들의 역할을 나타내는 배열 </a:t>
            </a:r>
            <a:r>
              <a:rPr lang="en-US" altLang="ko-KR" dirty="0"/>
              <a:t>best</a:t>
            </a:r>
            <a:r>
              <a:rPr lang="ko-KR" altLang="en-US" dirty="0"/>
              <a:t>가 매개변수로 주어질 때</a:t>
            </a:r>
            <a:r>
              <a:rPr lang="en-US" altLang="ko-KR" dirty="0"/>
              <a:t>, </a:t>
            </a:r>
            <a:r>
              <a:rPr lang="ko-KR" altLang="en-US" dirty="0"/>
              <a:t>조건을 만족하는 팀을 최대 몇 개 만들 수 있는지 </a:t>
            </a:r>
            <a:r>
              <a:rPr lang="en-US" altLang="ko-KR" dirty="0"/>
              <a:t>return </a:t>
            </a:r>
            <a:r>
              <a:rPr lang="ko-KR" altLang="en-US" dirty="0"/>
              <a:t>하도록 </a:t>
            </a:r>
            <a:r>
              <a:rPr lang="en-US" altLang="ko-KR" dirty="0"/>
              <a:t>solution() </a:t>
            </a:r>
            <a:r>
              <a:rPr lang="ko-KR" altLang="en-US" dirty="0"/>
              <a:t>함수를 작성해보세요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매개변수 설명</a:t>
            </a:r>
            <a:r>
              <a:rPr lang="en-US" altLang="ko-KR" dirty="0"/>
              <a:t>]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best</a:t>
            </a:r>
            <a:r>
              <a:rPr lang="ko-KR" altLang="en-US" dirty="0"/>
              <a:t>는 학생들의 역할이 순서대로 담긴 배열입니다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best</a:t>
            </a:r>
            <a:r>
              <a:rPr lang="ko-KR" altLang="en-US" dirty="0"/>
              <a:t>의 각 원소는 </a:t>
            </a:r>
            <a:r>
              <a:rPr lang="en-US" altLang="ko-KR" dirty="0"/>
              <a:t>"a", "b", "c", "d", "e"</a:t>
            </a:r>
            <a:r>
              <a:rPr lang="ko-KR" altLang="en-US" dirty="0"/>
              <a:t> 중 하나입니다</a:t>
            </a:r>
            <a:r>
              <a:rPr lang="en-US" altLang="ko-KR" dirty="0"/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best</a:t>
            </a:r>
            <a:r>
              <a:rPr lang="ko-KR" altLang="en-US" dirty="0"/>
              <a:t>의 길이는 </a:t>
            </a:r>
            <a:r>
              <a:rPr lang="en-US" altLang="ko-KR" dirty="0"/>
              <a:t>5 </a:t>
            </a:r>
            <a:r>
              <a:rPr lang="ko-KR" altLang="en-US" dirty="0"/>
              <a:t>이상 </a:t>
            </a:r>
            <a:r>
              <a:rPr lang="en-US" altLang="ko-KR" dirty="0"/>
              <a:t>1,000,000 </a:t>
            </a:r>
            <a:r>
              <a:rPr lang="ko-KR" altLang="en-US" dirty="0"/>
              <a:t>이하입니다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en-US" altLang="ko-KR" b="1" dirty="0"/>
              <a:t>return </a:t>
            </a:r>
            <a:r>
              <a:rPr lang="ko-KR" altLang="en-US" b="1" dirty="0"/>
              <a:t>값 설명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조건을 만족하는 팀을 최대 몇 개 만들 수 있는지 </a:t>
            </a:r>
            <a:r>
              <a:rPr lang="en-US" altLang="ko-KR" dirty="0"/>
              <a:t>return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b="1" dirty="0"/>
              <a:t>예시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17F9A1-2483-30FB-B0C5-ADDC10CED64A}"/>
              </a:ext>
            </a:extLst>
          </p:cNvPr>
          <p:cNvSpPr txBox="1">
            <a:spLocks/>
          </p:cNvSpPr>
          <p:nvPr/>
        </p:nvSpPr>
        <p:spPr>
          <a:xfrm>
            <a:off x="710682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4A2B9DF-4230-35E8-2B69-F4A95F636A69}"/>
              </a:ext>
            </a:extLst>
          </p:cNvPr>
          <p:cNvCxnSpPr>
            <a:cxnSpLocks/>
          </p:cNvCxnSpPr>
          <p:nvPr/>
        </p:nvCxnSpPr>
        <p:spPr>
          <a:xfrm>
            <a:off x="710682" y="401154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F9ABB05-6C49-B82B-1B77-5DC989FEA0CF}"/>
              </a:ext>
            </a:extLst>
          </p:cNvPr>
          <p:cNvCxnSpPr>
            <a:cxnSpLocks/>
          </p:cNvCxnSpPr>
          <p:nvPr/>
        </p:nvCxnSpPr>
        <p:spPr>
          <a:xfrm>
            <a:off x="710682" y="52781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982477C-794F-5D95-37A0-BE6722BEEE6C}"/>
              </a:ext>
            </a:extLst>
          </p:cNvPr>
          <p:cNvCxnSpPr>
            <a:cxnSpLocks/>
          </p:cNvCxnSpPr>
          <p:nvPr/>
        </p:nvCxnSpPr>
        <p:spPr>
          <a:xfrm>
            <a:off x="710682" y="6040119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C9EBC3-55FF-D472-84B5-6467DB13C60B}"/>
              </a:ext>
            </a:extLst>
          </p:cNvPr>
          <p:cNvSpPr txBox="1"/>
          <p:nvPr/>
        </p:nvSpPr>
        <p:spPr>
          <a:xfrm>
            <a:off x="1253871" y="7580019"/>
            <a:ext cx="4258818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(best)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여기에 코드를 작성해주세요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best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"e"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1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66F941-A92A-EAF1-1A61-55CC68E0C5B9}"/>
              </a:ext>
            </a:extLst>
          </p:cNvPr>
          <p:cNvCxnSpPr>
            <a:cxnSpLocks/>
          </p:cNvCxnSpPr>
          <p:nvPr/>
        </p:nvCxnSpPr>
        <p:spPr>
          <a:xfrm>
            <a:off x="710682" y="7325994"/>
            <a:ext cx="48305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AC0F57F-D26E-4170-08AD-F980A9885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498715"/>
              </p:ext>
            </p:extLst>
          </p:nvPr>
        </p:nvGraphicFramePr>
        <p:xfrm>
          <a:off x="853557" y="6417309"/>
          <a:ext cx="4642326" cy="762000"/>
        </p:xfrm>
        <a:graphic>
          <a:graphicData uri="http://schemas.openxmlformats.org/drawingml/2006/table">
            <a:tbl>
              <a:tblPr/>
              <a:tblGrid>
                <a:gridCol w="3756501">
                  <a:extLst>
                    <a:ext uri="{9D8B030D-6E8A-4147-A177-3AD203B41FA5}">
                      <a16:colId xmlns:a16="http://schemas.microsoft.com/office/drawing/2014/main" val="416052682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77627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254301"/>
                  </a:ext>
                </a:extLst>
              </a:tr>
              <a:tr h="16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100" dirty="0">
                          <a:latin typeface="+mn-ea"/>
                          <a:ea typeface="+mn-ea"/>
                        </a:rPr>
                        <a:t>["e", "c", "b", "b", "a", "d", "a"]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32663"/>
                  </a:ext>
                </a:extLst>
              </a:tr>
              <a:tr h="2310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100" dirty="0">
                          <a:latin typeface="+mn-ea"/>
                          <a:ea typeface="+mn-ea"/>
                        </a:rPr>
                        <a:t>["e", "c", "b", "e", "c", "b", "b", "a", "d", "a", "b", "a", "d", "a"]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413570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AA6DBCE-E120-F888-B155-18270306FA91}"/>
              </a:ext>
            </a:extLst>
          </p:cNvPr>
          <p:cNvCxnSpPr>
            <a:cxnSpLocks/>
          </p:cNvCxnSpPr>
          <p:nvPr/>
        </p:nvCxnSpPr>
        <p:spPr>
          <a:xfrm>
            <a:off x="879418" y="6649719"/>
            <a:ext cx="442600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2454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82D4-25C0-D644-207A-9B1BF96C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046164A-AAAD-2606-51A4-CCCF768159F1}"/>
              </a:ext>
            </a:extLst>
          </p:cNvPr>
          <p:cNvSpPr txBox="1">
            <a:spLocks/>
          </p:cNvSpPr>
          <p:nvPr/>
        </p:nvSpPr>
        <p:spPr>
          <a:xfrm>
            <a:off x="1081067" y="796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84226159-9523-C0F3-E654-6F028FD69059}"/>
              </a:ext>
            </a:extLst>
          </p:cNvPr>
          <p:cNvSpPr txBox="1">
            <a:spLocks/>
          </p:cNvSpPr>
          <p:nvPr/>
        </p:nvSpPr>
        <p:spPr>
          <a:xfrm>
            <a:off x="1009677" y="1195970"/>
            <a:ext cx="5076798" cy="74705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C55C3E-5FB5-BEE6-3C82-30B3C66E0FAE}"/>
              </a:ext>
            </a:extLst>
          </p:cNvPr>
          <p:cNvSpPr txBox="1"/>
          <p:nvPr/>
        </p:nvSpPr>
        <p:spPr>
          <a:xfrm>
            <a:off x="1666494" y="1303044"/>
            <a:ext cx="4258818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solution(best)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best1 = ["e", "c", "b", "e", "c", "b", "b", "a", "d", "a", "b", "a", "d", "a"]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ret1 = solution(best1)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print(ret1)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48946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28A3-F9EB-6C73-F93F-9723F76E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3647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61A15-23EF-9AE3-1266-D967ABFD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A7904A-A30E-8066-645A-0AA2D75C734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629789" y="3986335"/>
            <a:ext cx="3107006" cy="492582"/>
          </a:xfrm>
        </p:spPr>
        <p:txBody>
          <a:bodyPr/>
          <a:lstStyle/>
          <a:p>
            <a:r>
              <a:rPr lang="ko-KR" altLang="en-US" sz="2000" dirty="0"/>
              <a:t>정답 코드</a:t>
            </a:r>
          </a:p>
        </p:txBody>
      </p:sp>
    </p:spTree>
    <p:extLst>
      <p:ext uri="{BB962C8B-B14F-4D97-AF65-F5344CB8AC3E}">
        <p14:creationId xmlns:p14="http://schemas.microsoft.com/office/powerpoint/2010/main" val="39215626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65B5-1996-765D-D7F6-A00BFEC96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C5C1970-3E84-14CC-AD56-25E43C8BC3BF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0381DC-EB35-0EDC-3F9A-D6FA9CC18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08" y="1327856"/>
            <a:ext cx="5052449" cy="4966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열의 리스트를 선언하고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아래의 출력 예와 같이 초기화한 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78E3974-9EF0-8962-BDD3-FD6A3356007B}"/>
              </a:ext>
            </a:extLst>
          </p:cNvPr>
          <p:cNvSpPr txBox="1">
            <a:spLocks/>
          </p:cNvSpPr>
          <p:nvPr/>
        </p:nvSpPr>
        <p:spPr>
          <a:xfrm>
            <a:off x="609207" y="381263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2] 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열의 리스트를 아래의 출력 예와 같이 초기화한 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1B98741-DE16-2C0C-304D-E3C69276BDF2}"/>
              </a:ext>
            </a:extLst>
          </p:cNvPr>
          <p:cNvSpPr txBox="1">
            <a:spLocks/>
          </p:cNvSpPr>
          <p:nvPr/>
        </p:nvSpPr>
        <p:spPr>
          <a:xfrm>
            <a:off x="609207" y="631937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3] 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열의 리스트를 선언하고 아래의 출력 예와 같이 초기화 한 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1FE4CA-CBED-8F5F-B836-1BDA58D7EAF9}"/>
              </a:ext>
            </a:extLst>
          </p:cNvPr>
          <p:cNvSpPr txBox="1"/>
          <p:nvPr/>
        </p:nvSpPr>
        <p:spPr>
          <a:xfrm>
            <a:off x="797060" y="1882315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   [3, 5, 4],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   [2, 6, 7],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   [8, 9, 1]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in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   for j in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      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end=" ")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2A95C-2E73-EDCB-EC5C-EB1598ED6783}"/>
              </a:ext>
            </a:extLst>
          </p:cNvPr>
          <p:cNvSpPr txBox="1"/>
          <p:nvPr/>
        </p:nvSpPr>
        <p:spPr>
          <a:xfrm>
            <a:off x="797061" y="4389053"/>
            <a:ext cx="4709150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F444AD-6E4C-37CB-C163-54FED9B1D4C4}"/>
              </a:ext>
            </a:extLst>
          </p:cNvPr>
          <p:cNvSpPr txBox="1"/>
          <p:nvPr/>
        </p:nvSpPr>
        <p:spPr>
          <a:xfrm>
            <a:off x="797060" y="6953510"/>
            <a:ext cx="4709149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array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'F'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(array)):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(array[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print(array[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</p:spTree>
    <p:extLst>
      <p:ext uri="{BB962C8B-B14F-4D97-AF65-F5344CB8AC3E}">
        <p14:creationId xmlns:p14="http://schemas.microsoft.com/office/powerpoint/2010/main" val="3842901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6617-CD71-C0C0-0893-6954C320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789F4-B12A-4E43-C058-4646BC62B892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DD47D48-FC3C-4578-C03E-123862758582}"/>
              </a:ext>
            </a:extLst>
          </p:cNvPr>
          <p:cNvSpPr txBox="1">
            <a:spLocks/>
          </p:cNvSpPr>
          <p:nvPr/>
        </p:nvSpPr>
        <p:spPr>
          <a:xfrm>
            <a:off x="971339" y="138907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4] 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열의 리스트를 아래의 출력 예와 같이 초기화한 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en-US" sz="1050" b="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E3A81CA-F963-329B-59FC-6EEC97A80E0B}"/>
              </a:ext>
            </a:extLst>
          </p:cNvPr>
          <p:cNvSpPr txBox="1">
            <a:spLocks/>
          </p:cNvSpPr>
          <p:nvPr/>
        </p:nvSpPr>
        <p:spPr>
          <a:xfrm>
            <a:off x="971339" y="3746364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5] 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열의 리스트를 선언하고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아래의 출력 예와 같이 초기화한 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27495352-874D-2A2F-7332-151109F05B1C}"/>
              </a:ext>
            </a:extLst>
          </p:cNvPr>
          <p:cNvSpPr txBox="1">
            <a:spLocks/>
          </p:cNvSpPr>
          <p:nvPr/>
        </p:nvSpPr>
        <p:spPr>
          <a:xfrm>
            <a:off x="971339" y="6167665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6]</a:t>
            </a:r>
            <a:r>
              <a:rPr lang="ko-KR" altLang="en-US" sz="1050" b="0" dirty="0"/>
              <a:t> </a:t>
            </a:r>
            <a:r>
              <a:rPr lang="en-US" altLang="ko-KR" sz="1050" b="0" dirty="0"/>
              <a:t>3</a:t>
            </a:r>
            <a:r>
              <a:rPr lang="ko-KR" altLang="en-US" sz="1050" b="0" dirty="0"/>
              <a:t>행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열의 리스트를 아래의 출력 예와 같이 초기화한 후 출력하는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F2B5C-AAB9-1EC5-1EC0-2E9CA8814B5B}"/>
              </a:ext>
            </a:extLst>
          </p:cNvPr>
          <p:cNvSpPr txBox="1"/>
          <p:nvPr/>
        </p:nvSpPr>
        <p:spPr>
          <a:xfrm>
            <a:off x="1191407" y="2029526"/>
            <a:ext cx="4709151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array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0.002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0.123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0.09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(array)):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(array[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print(array[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81FDD-4724-927A-D29D-7E21E8A6AD0A}"/>
              </a:ext>
            </a:extLst>
          </p:cNvPr>
          <p:cNvSpPr txBox="1"/>
          <p:nvPr/>
        </p:nvSpPr>
        <p:spPr>
          <a:xfrm>
            <a:off x="1191406" y="4352212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1A6CD-572F-70DA-9422-38CC6ABCC5F9}"/>
              </a:ext>
            </a:extLst>
          </p:cNvPr>
          <p:cNvSpPr txBox="1"/>
          <p:nvPr/>
        </p:nvSpPr>
        <p:spPr>
          <a:xfrm>
            <a:off x="1191406" y="6686140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"A01"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"A02"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"B01"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"B02"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"C01"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"C02"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</p:spTree>
    <p:extLst>
      <p:ext uri="{BB962C8B-B14F-4D97-AF65-F5344CB8AC3E}">
        <p14:creationId xmlns:p14="http://schemas.microsoft.com/office/powerpoint/2010/main" val="21578485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27C3-FD6B-14C7-6DDE-2E954296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28E571A-B016-87E8-53FD-62EAF2BB988F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0CEBC1-BE1D-007B-EDC4-59F4DEE6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08" y="1327856"/>
            <a:ext cx="5141808" cy="4966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길이가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인 리스트를 모두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으로 초기화하고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리스트 전체를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96DDEDB-ACAD-64A6-D72D-2BCC49351656}"/>
              </a:ext>
            </a:extLst>
          </p:cNvPr>
          <p:cNvSpPr txBox="1">
            <a:spLocks/>
          </p:cNvSpPr>
          <p:nvPr/>
        </p:nvSpPr>
        <p:spPr>
          <a:xfrm>
            <a:off x="609207" y="2726396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길이가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인 리스트를 모두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으로 초기화한 뒤 출력 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가운데 위치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(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인덱스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3)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의 값을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으로 바꾸고 리스트를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379AD77-8278-975D-E86D-56CBD2DBAE06}"/>
              </a:ext>
            </a:extLst>
          </p:cNvPr>
          <p:cNvSpPr txBox="1">
            <a:spLocks/>
          </p:cNvSpPr>
          <p:nvPr/>
        </p:nvSpPr>
        <p:spPr>
          <a:xfrm>
            <a:off x="609207" y="468361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길이가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인 리스트를 모두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으로 초기화한 뒤 출력 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반복문을 이용하여 각 칸에 해당 인덱스 번호를 저장하고 리스트를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0BDE4-C8AB-A506-E29A-81B735870660}"/>
              </a:ext>
            </a:extLst>
          </p:cNvPr>
          <p:cNvSpPr txBox="1"/>
          <p:nvPr/>
        </p:nvSpPr>
        <p:spPr>
          <a:xfrm>
            <a:off x="797058" y="1998309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6E2E7-7CEF-EFD0-825F-8315FA047588}"/>
              </a:ext>
            </a:extLst>
          </p:cNvPr>
          <p:cNvSpPr txBox="1"/>
          <p:nvPr/>
        </p:nvSpPr>
        <p:spPr>
          <a:xfrm>
            <a:off x="797059" y="3666677"/>
            <a:ext cx="4709150" cy="70788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print(a)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AF4BA-2893-D354-15A3-DEA16C2B89CE}"/>
              </a:ext>
            </a:extLst>
          </p:cNvPr>
          <p:cNvSpPr txBox="1"/>
          <p:nvPr/>
        </p:nvSpPr>
        <p:spPr>
          <a:xfrm>
            <a:off x="797060" y="5528064"/>
            <a:ext cx="4709149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print(a)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print(a)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A5060999-3E7E-2EB9-8DA7-B77C3C8E87EE}"/>
              </a:ext>
            </a:extLst>
          </p:cNvPr>
          <p:cNvSpPr txBox="1">
            <a:spLocks/>
          </p:cNvSpPr>
          <p:nvPr/>
        </p:nvSpPr>
        <p:spPr>
          <a:xfrm>
            <a:off x="609207" y="701207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한 줄에 입력된 정수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개를 리스트로 저장한 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그 리스트를 그대로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BB77FD-9338-C3AE-89A1-E2D62E327D41}"/>
              </a:ext>
            </a:extLst>
          </p:cNvPr>
          <p:cNvSpPr txBox="1"/>
          <p:nvPr/>
        </p:nvSpPr>
        <p:spPr>
          <a:xfrm>
            <a:off x="797060" y="7637066"/>
            <a:ext cx="4709149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(map(int, input().split()))</a:t>
            </a:r>
          </a:p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20788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7AA9-331A-936D-E539-C41FBC3D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DA83B-918B-C23D-7606-5C8E3B70C38C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34EC6F9-ABB0-EACC-4FE2-AA305D40EABB}"/>
              </a:ext>
            </a:extLst>
          </p:cNvPr>
          <p:cNvSpPr txBox="1">
            <a:spLocks/>
          </p:cNvSpPr>
          <p:nvPr/>
        </p:nvSpPr>
        <p:spPr>
          <a:xfrm>
            <a:off x="971339" y="138907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한 줄에 정수 여러 개가 입력된다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 수들을 리스트에 저장한 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리스트의 합과 평균을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en-US" sz="1050" b="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B0CE2B3-86D5-0A86-B4B8-1C388D94BCED}"/>
              </a:ext>
            </a:extLst>
          </p:cNvPr>
          <p:cNvSpPr txBox="1">
            <a:spLocks/>
          </p:cNvSpPr>
          <p:nvPr/>
        </p:nvSpPr>
        <p:spPr>
          <a:xfrm>
            <a:off x="971339" y="3956676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한 줄에 학생들의 점수가 입력된다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 점수들을 리스트로 저장한 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60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점 이상인 학생 수를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9C6EBB6-5FC4-6170-D649-D8A3C2AA7DCF}"/>
              </a:ext>
            </a:extLst>
          </p:cNvPr>
          <p:cNvSpPr txBox="1">
            <a:spLocks/>
          </p:cNvSpPr>
          <p:nvPr/>
        </p:nvSpPr>
        <p:spPr>
          <a:xfrm>
            <a:off x="971339" y="623167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7] 0</a:t>
            </a:r>
            <a:r>
              <a:rPr lang="ko-KR" altLang="en-US" sz="1050" b="0" dirty="0"/>
              <a:t>부터 </a:t>
            </a:r>
            <a:r>
              <a:rPr lang="en-US" altLang="ko-KR" sz="1050" b="0" dirty="0"/>
              <a:t>9</a:t>
            </a:r>
            <a:r>
              <a:rPr lang="ko-KR" altLang="en-US" sz="1050" b="0" dirty="0"/>
              <a:t>까지의 정수를 원소로 가지는 리스트를 만들어 출력하는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5C25A-2720-6879-5EC3-0E523736A382}"/>
              </a:ext>
            </a:extLst>
          </p:cNvPr>
          <p:cNvSpPr txBox="1"/>
          <p:nvPr/>
        </p:nvSpPr>
        <p:spPr>
          <a:xfrm>
            <a:off x="1191407" y="2029526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avg = total /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합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total)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평균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avg)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1DA0C-67C9-3E03-4986-288275BBD312}"/>
              </a:ext>
            </a:extLst>
          </p:cNvPr>
          <p:cNvSpPr txBox="1"/>
          <p:nvPr/>
        </p:nvSpPr>
        <p:spPr>
          <a:xfrm>
            <a:off x="1191406" y="4562524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</a:t>
            </a:r>
            <a:r>
              <a:rPr lang="en-US" altLang="ko-KR" sz="1000" b="0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print(count)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D2AE3-49DA-9690-43F6-817626CBECEC}"/>
              </a:ext>
            </a:extLst>
          </p:cNvPr>
          <p:cNvSpPr txBox="1"/>
          <p:nvPr/>
        </p:nvSpPr>
        <p:spPr>
          <a:xfrm>
            <a:off x="1191406" y="6750148"/>
            <a:ext cx="4709151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27245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52CD-6529-2C13-AD34-C4A0357B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F97715F-1E19-5A10-0542-9D7EEF9AC506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E2E3FF-8D29-9F09-4973-10EBE2835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08" y="1327856"/>
            <a:ext cx="5141808" cy="4966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8] 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부터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까지의 짝수만을 원소로 가지는 리스트를 만들어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B115D92-A242-054D-DD52-8AA73638A870}"/>
              </a:ext>
            </a:extLst>
          </p:cNvPr>
          <p:cNvSpPr txBox="1">
            <a:spLocks/>
          </p:cNvSpPr>
          <p:nvPr/>
        </p:nvSpPr>
        <p:spPr>
          <a:xfrm>
            <a:off x="609207" y="3951692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9]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다음과 같이 각 숫자의 제곱을 담은 리스트 만드는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51E3F50-B0BA-1AC8-8FDA-9D4421ABB4E5}"/>
              </a:ext>
            </a:extLst>
          </p:cNvPr>
          <p:cNvSpPr txBox="1">
            <a:spLocks/>
          </p:cNvSpPr>
          <p:nvPr/>
        </p:nvSpPr>
        <p:spPr>
          <a:xfrm>
            <a:off x="609207" y="5908915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10] 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 리스트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a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를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으로 초기화하는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61F67-9E92-571C-2C8A-73675E6843B9}"/>
              </a:ext>
            </a:extLst>
          </p:cNvPr>
          <p:cNvSpPr txBox="1"/>
          <p:nvPr/>
        </p:nvSpPr>
        <p:spPr>
          <a:xfrm>
            <a:off x="797058" y="1998309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F221C6-7C74-F8D3-D473-6FB63194EC50}"/>
              </a:ext>
            </a:extLst>
          </p:cNvPr>
          <p:cNvSpPr txBox="1"/>
          <p:nvPr/>
        </p:nvSpPr>
        <p:spPr>
          <a:xfrm>
            <a:off x="797059" y="4625975"/>
            <a:ext cx="4709150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1B8BCD-6CFC-1DCC-294B-596A77A873B0}"/>
              </a:ext>
            </a:extLst>
          </p:cNvPr>
          <p:cNvSpPr txBox="1"/>
          <p:nvPr/>
        </p:nvSpPr>
        <p:spPr>
          <a:xfrm>
            <a:off x="797060" y="6538895"/>
            <a:ext cx="4709149" cy="55399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71613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D2DB-2E51-6EF1-A3B4-D09D093D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D6CF4-878F-D579-6350-A31C673C4207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14FC2C5-4B6D-4508-E2A7-87F246561DAB}"/>
              </a:ext>
            </a:extLst>
          </p:cNvPr>
          <p:cNvSpPr txBox="1">
            <a:spLocks/>
          </p:cNvSpPr>
          <p:nvPr/>
        </p:nvSpPr>
        <p:spPr>
          <a:xfrm>
            <a:off x="971339" y="138907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11] 3×3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크기의 리스트를 만들고 각 원소의 값을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i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+ j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 저장하는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617D7EA-BB0E-9163-A39A-57904B75BF06}"/>
              </a:ext>
            </a:extLst>
          </p:cNvPr>
          <p:cNvSpPr txBox="1">
            <a:spLocks/>
          </p:cNvSpPr>
          <p:nvPr/>
        </p:nvSpPr>
        <p:spPr>
          <a:xfrm>
            <a:off x="971339" y="3956676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12]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크기를 가진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차원 리스트를 모든 값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 초기화하는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004F439-9D65-F692-CCEE-6E966F793884}"/>
              </a:ext>
            </a:extLst>
          </p:cNvPr>
          <p:cNvSpPr txBox="1">
            <a:spLocks/>
          </p:cNvSpPr>
          <p:nvPr/>
        </p:nvSpPr>
        <p:spPr>
          <a:xfrm>
            <a:off x="971339" y="59024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13]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아래와 같이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줄 입력을 받아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차원 리스트를 만들어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92D41-6312-576C-2418-97FA124F1664}"/>
              </a:ext>
            </a:extLst>
          </p:cNvPr>
          <p:cNvSpPr txBox="1"/>
          <p:nvPr/>
        </p:nvSpPr>
        <p:spPr>
          <a:xfrm>
            <a:off x="1191407" y="2029526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j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8F64F-DFDD-3BCE-C10F-9A45953DB4DE}"/>
              </a:ext>
            </a:extLst>
          </p:cNvPr>
          <p:cNvSpPr txBox="1"/>
          <p:nvPr/>
        </p:nvSpPr>
        <p:spPr>
          <a:xfrm>
            <a:off x="1191406" y="4599100"/>
            <a:ext cx="4709151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C2B36-D5A8-CD4B-A586-1C020E7E42B7}"/>
              </a:ext>
            </a:extLst>
          </p:cNvPr>
          <p:cNvSpPr txBox="1"/>
          <p:nvPr/>
        </p:nvSpPr>
        <p:spPr>
          <a:xfrm>
            <a:off x="1191406" y="6567268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temp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temp[j]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</p:spTree>
    <p:extLst>
      <p:ext uri="{BB962C8B-B14F-4D97-AF65-F5344CB8AC3E}">
        <p14:creationId xmlns:p14="http://schemas.microsoft.com/office/powerpoint/2010/main" val="18585194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F9A98-18BB-74A8-DC54-EFB5C1546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167FB66-D438-3FFE-0B73-A8B85E033D2D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CC535-6AD7-A27C-C84B-2BEC0E486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08" y="1327856"/>
            <a:ext cx="5141808" cy="4966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14]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입력으로 두 줄을 받아 각각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개의 정수를 저장하는 리스트를 만드는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5990307-198E-FD57-06A5-40080B2DF6A9}"/>
              </a:ext>
            </a:extLst>
          </p:cNvPr>
          <p:cNvSpPr txBox="1">
            <a:spLocks/>
          </p:cNvSpPr>
          <p:nvPr/>
        </p:nvSpPr>
        <p:spPr>
          <a:xfrm>
            <a:off x="609207" y="3951692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아래와 같은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 리스트를 그대로 초기화한 뒤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2B83A65-F78E-35ED-74FF-3E82F5EB3B75}"/>
              </a:ext>
            </a:extLst>
          </p:cNvPr>
          <p:cNvSpPr txBox="1">
            <a:spLocks/>
          </p:cNvSpPr>
          <p:nvPr/>
        </p:nvSpPr>
        <p:spPr>
          <a:xfrm>
            <a:off x="609207" y="653985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아래의 두 리스트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(3×3)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를 입력 받아 같은 위치의 원소끼리 더한 새로운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3×3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리스트를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187D8F-3904-4961-86B7-B12BE5E3D155}"/>
              </a:ext>
            </a:extLst>
          </p:cNvPr>
          <p:cNvSpPr txBox="1"/>
          <p:nvPr/>
        </p:nvSpPr>
        <p:spPr>
          <a:xfrm>
            <a:off x="797058" y="1998309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  <a:endParaRPr lang="en-US" altLang="ko-KR" sz="1000" b="0" dirty="0">
              <a:effectLst/>
            </a:endParaRPr>
          </a:p>
          <a:p>
            <a:pPr>
              <a:buNone/>
            </a:pPr>
            <a:br>
              <a:rPr lang="en-US" altLang="ko-KR" sz="1000" dirty="0"/>
            </a:b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9124D-4236-91A0-34BA-235F5484B6ED}"/>
              </a:ext>
            </a:extLst>
          </p:cNvPr>
          <p:cNvSpPr txBox="1"/>
          <p:nvPr/>
        </p:nvSpPr>
        <p:spPr>
          <a:xfrm>
            <a:off x="797059" y="4625975"/>
            <a:ext cx="4709150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C0BCD-D9A6-83F9-86DE-8D73DC0CC76A}"/>
              </a:ext>
            </a:extLst>
          </p:cNvPr>
          <p:cNvSpPr txBox="1"/>
          <p:nvPr/>
        </p:nvSpPr>
        <p:spPr>
          <a:xfrm>
            <a:off x="797060" y="7169831"/>
            <a:ext cx="4709149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첫 번째 리스트 입력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</a:p>
        </p:txBody>
      </p:sp>
    </p:spTree>
    <p:extLst>
      <p:ext uri="{BB962C8B-B14F-4D97-AF65-F5344CB8AC3E}">
        <p14:creationId xmlns:p14="http://schemas.microsoft.com/office/powerpoint/2010/main" val="27020764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4FBA-8DE2-DAAD-DCF2-E3314BCFC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A9D36-C855-1CCE-5A31-77718F180FAE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C4DDA33-77C0-AFA3-C5E1-C6E885466902}"/>
              </a:ext>
            </a:extLst>
          </p:cNvPr>
          <p:cNvSpPr txBox="1">
            <a:spLocks/>
          </p:cNvSpPr>
          <p:nvPr/>
        </p:nvSpPr>
        <p:spPr>
          <a:xfrm>
            <a:off x="971339" y="3636636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 예시처럼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first list, second list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를 각각 입력 받고 같은 위치의 값을 더한 새로운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 리스트를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7D0E2-91B2-E4F4-DC41-62013E2D4B86}"/>
              </a:ext>
            </a:extLst>
          </p:cNvPr>
          <p:cNvSpPr txBox="1"/>
          <p:nvPr/>
        </p:nvSpPr>
        <p:spPr>
          <a:xfrm>
            <a:off x="1191407" y="1453454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두 번째 리스트 입력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[a[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+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두 리스트의 요소별 합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(result)):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ACCEF-9C86-2FCE-7CA2-D7741181BE7C}"/>
              </a:ext>
            </a:extLst>
          </p:cNvPr>
          <p:cNvSpPr txBox="1"/>
          <p:nvPr/>
        </p:nvSpPr>
        <p:spPr>
          <a:xfrm>
            <a:off x="1191406" y="4315636"/>
            <a:ext cx="4709151" cy="30162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첫 번째 리스트 입력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두 번째 리스트 입력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[a[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+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두 리스트의 요소의 합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(result)):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22964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391A-E576-A6CC-52A8-C5239C86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1EE576-3A44-AAF9-5871-6E3FA3AB2E77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1BD64-4A72-23C6-43E6-193B4DB2D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08" y="1327856"/>
            <a:ext cx="5141808" cy="4966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아래와 같이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4×3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리스트를 직접 초기화한 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단위로 출력하고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마지막 줄에 리스트 모든 값의 총합을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2E4E8CC-6CCF-F4FA-FE40-2A8BA07A9349}"/>
              </a:ext>
            </a:extLst>
          </p:cNvPr>
          <p:cNvSpPr txBox="1">
            <a:spLocks/>
          </p:cNvSpPr>
          <p:nvPr/>
        </p:nvSpPr>
        <p:spPr>
          <a:xfrm>
            <a:off x="609207" y="4966676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첫 번째 리스트와 두 번째 리스트의 같은 위치끼리 곱한 값을 세 번째 리스트에 저장하여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27B0B-0726-C334-998F-72C403BD6C56}"/>
              </a:ext>
            </a:extLst>
          </p:cNvPr>
          <p:cNvSpPr txBox="1"/>
          <p:nvPr/>
        </p:nvSpPr>
        <p:spPr>
          <a:xfrm>
            <a:off x="797058" y="1998309"/>
            <a:ext cx="4709151" cy="270843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total +=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"sum:"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total)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37BAE-57DE-DC4B-1B09-6FBE59BF8B22}"/>
              </a:ext>
            </a:extLst>
          </p:cNvPr>
          <p:cNvSpPr txBox="1"/>
          <p:nvPr/>
        </p:nvSpPr>
        <p:spPr>
          <a:xfrm>
            <a:off x="797059" y="5640959"/>
            <a:ext cx="4709150" cy="30162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첫 번째 리스트 입력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두 번째 리스트 입력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[a[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*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(result)):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</p:spTree>
    <p:extLst>
      <p:ext uri="{BB962C8B-B14F-4D97-AF65-F5344CB8AC3E}">
        <p14:creationId xmlns:p14="http://schemas.microsoft.com/office/powerpoint/2010/main" val="12452961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D339-7311-6F50-8145-BAC38D7A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1CCAA-E246-59E3-20EC-0D547C8E7E16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E4B4988-E35E-489F-D931-235DABC0AF3B}"/>
              </a:ext>
            </a:extLst>
          </p:cNvPr>
          <p:cNvSpPr txBox="1">
            <a:spLocks/>
          </p:cNvSpPr>
          <p:nvPr/>
        </p:nvSpPr>
        <p:spPr>
          <a:xfrm>
            <a:off x="971339" y="128848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[P.14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아래와 같은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 리스트를 그대로 초기화한 뒤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0D6EC76-1993-0F10-13D2-439A3302CF7A}"/>
              </a:ext>
            </a:extLst>
          </p:cNvPr>
          <p:cNvSpPr txBox="1">
            <a:spLocks/>
          </p:cNvSpPr>
          <p:nvPr/>
        </p:nvSpPr>
        <p:spPr>
          <a:xfrm>
            <a:off x="971339" y="592992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[P.14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아래와 같은 파스칼 삼각형을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첫 번째 행을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 초기화하고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그 다음 줄부터는 위 값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+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위 왼쪽 값을 더하여 채운다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2A9FC-6994-CEC0-46DD-F7F056B674FF}"/>
              </a:ext>
            </a:extLst>
          </p:cNvPr>
          <p:cNvSpPr txBox="1"/>
          <p:nvPr/>
        </p:nvSpPr>
        <p:spPr>
          <a:xfrm>
            <a:off x="1191407" y="1928942"/>
            <a:ext cx="4709151" cy="378565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subjects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국어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영어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수학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과학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   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subjects: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print(s,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{i+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번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total[j] +=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합계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print(total[j],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476A6-C595-33C9-EC23-C52C042789E2}"/>
              </a:ext>
            </a:extLst>
          </p:cNvPr>
          <p:cNvSpPr txBox="1"/>
          <p:nvPr/>
        </p:nvSpPr>
        <p:spPr>
          <a:xfrm>
            <a:off x="1191406" y="6832444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a[i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a[i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3642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85E0-6AB7-C51B-41F1-1A97F122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3D7DB64-550F-4DBE-64C3-CCC303E574AE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</a:t>
            </a:r>
            <a:r>
              <a:rPr lang="ko-KR" altLang="en-US" sz="1200" dirty="0"/>
              <a:t>차원 리스트 이해하기 정답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14ACAE4-D1AE-C588-88BE-998F87B3183C}"/>
              </a:ext>
            </a:extLst>
          </p:cNvPr>
          <p:cNvSpPr txBox="1">
            <a:spLocks/>
          </p:cNvSpPr>
          <p:nvPr/>
        </p:nvSpPr>
        <p:spPr>
          <a:xfrm>
            <a:off x="609207" y="2296628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[P.14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아래와 같은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5×5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배열을 만들고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첫 번째 행과 첫 번째 열을 모두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 초기화한 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나머지 값은 위쪽 값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+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왼쪽 값의 합으로 채우는 프로그램을 작성해보세요</a:t>
            </a: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06A50-CE74-4F12-693E-1A074BCD7313}"/>
              </a:ext>
            </a:extLst>
          </p:cNvPr>
          <p:cNvSpPr txBox="1"/>
          <p:nvPr/>
        </p:nvSpPr>
        <p:spPr>
          <a:xfrm>
            <a:off x="797058" y="1422237"/>
            <a:ext cx="4709151" cy="70788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28B7B-2B46-E895-45EE-318E738389AB}"/>
              </a:ext>
            </a:extLst>
          </p:cNvPr>
          <p:cNvSpPr txBox="1"/>
          <p:nvPr/>
        </p:nvSpPr>
        <p:spPr>
          <a:xfrm>
            <a:off x="797059" y="3153791"/>
            <a:ext cx="4709150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a[i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+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</p:spTree>
    <p:extLst>
      <p:ext uri="{BB962C8B-B14F-4D97-AF65-F5344CB8AC3E}">
        <p14:creationId xmlns:p14="http://schemas.microsoft.com/office/powerpoint/2010/main" val="1447293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F2A9-513E-B4E1-FE26-9956478B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5D5EE-ADB8-1E2E-F4DA-8CF6B73F0060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3A5F358-FF5F-77E5-1CAD-5D42CB823122}"/>
              </a:ext>
            </a:extLst>
          </p:cNvPr>
          <p:cNvSpPr txBox="1">
            <a:spLocks/>
          </p:cNvSpPr>
          <p:nvPr/>
        </p:nvSpPr>
        <p:spPr>
          <a:xfrm>
            <a:off x="971339" y="138907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[P.18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10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미만의 자연수 두 개를 입력 받아서 첫 번째 항과 두 번째 항을 입력 받은 수로 초기화 시키고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세 번째 항부터는 전전항과 전항의 합을 구하여 그 합의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의 자리 값으로 채워서 차례로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en-US" sz="1050" b="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D55980C-5B55-CE0E-F41B-42FC825814F7}"/>
              </a:ext>
            </a:extLst>
          </p:cNvPr>
          <p:cNvSpPr txBox="1">
            <a:spLocks/>
          </p:cNvSpPr>
          <p:nvPr/>
        </p:nvSpPr>
        <p:spPr>
          <a:xfrm>
            <a:off x="971339" y="455832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P.18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2] 100 </a:t>
            </a:r>
            <a:r>
              <a:rPr lang="ko-KR" altLang="en-US" sz="1050" b="0" dirty="0"/>
              <a:t>이하의 자연수를 입력 받아 첫 번째 항은 </a:t>
            </a:r>
            <a:r>
              <a:rPr lang="en-US" altLang="ko-KR" sz="1050" b="0" dirty="0"/>
              <a:t>100</a:t>
            </a:r>
            <a:r>
              <a:rPr lang="ko-KR" altLang="en-US" sz="1050" b="0" dirty="0"/>
              <a:t>으로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두 번째 항은 입력 받은 수로 초기화하고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다음 항부터는 이전 항에서 전항을 뺀 수로 채워 나가는 수열을 작성하여 음수가 나올 때까지 출력하는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052DC-7296-900C-2A87-F5D472963BE2}"/>
              </a:ext>
            </a:extLst>
          </p:cNvPr>
          <p:cNvSpPr txBox="1"/>
          <p:nvPr/>
        </p:nvSpPr>
        <p:spPr>
          <a:xfrm>
            <a:off x="1191407" y="2477582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a, b = map(int, input().split())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seq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seq[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a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seq[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seq[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(seq[i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seq[i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seq: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print(x,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8A072-65C9-E4D1-39BD-3696E9D7D1D6}"/>
              </a:ext>
            </a:extLst>
          </p:cNvPr>
          <p:cNvSpPr txBox="1"/>
          <p:nvPr/>
        </p:nvSpPr>
        <p:spPr>
          <a:xfrm>
            <a:off x="1191406" y="5662012"/>
            <a:ext cx="4709151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7179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47CFB-A45E-2260-EF86-D56B1DED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0015554-0DA9-FA7D-1EFB-CF2C030952A5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AD7AD7-E339-7ABD-2D4F-FB0E955E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08" y="1327856"/>
            <a:ext cx="5141808" cy="4966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[P.18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3] 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부터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까지의 정수를 입력 받다가 입력된 정수가 범위를 벗어나면 그때까지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번 이상 입력된 각 숫자의 개수를 작은 수부터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AFC381-72AF-31E0-CB13-AC1708A4105E}"/>
              </a:ext>
            </a:extLst>
          </p:cNvPr>
          <p:cNvSpPr txBox="1"/>
          <p:nvPr/>
        </p:nvSpPr>
        <p:spPr>
          <a:xfrm>
            <a:off x="797058" y="2226909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(n)):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개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E1799F2-9D2C-66E7-0D1A-B75BC83CDE64}"/>
              </a:ext>
            </a:extLst>
          </p:cNvPr>
          <p:cNvSpPr txBox="1">
            <a:spLocks/>
          </p:cNvSpPr>
          <p:nvPr/>
        </p:nvSpPr>
        <p:spPr>
          <a:xfrm>
            <a:off x="609207" y="446090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[P.18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정수를 입력 받다가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 입력되면 종료하고 마지막에 입력된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을 제외하고 그때까지 입력된 정수의 일의 자리 숫자가 각각 몇 개인지 작은 수부터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4C598-2855-111B-8130-081B4AB82437}"/>
              </a:ext>
            </a:extLst>
          </p:cNvPr>
          <p:cNvSpPr txBox="1"/>
          <p:nvPr/>
        </p:nvSpPr>
        <p:spPr>
          <a:xfrm>
            <a:off x="797060" y="5323634"/>
            <a:ext cx="4709149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(n)):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개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64EFEA0-65E8-D345-1360-1CDAC2EE92F0}"/>
              </a:ext>
            </a:extLst>
          </p:cNvPr>
          <p:cNvSpPr txBox="1">
            <a:spLocks/>
          </p:cNvSpPr>
          <p:nvPr/>
        </p:nvSpPr>
        <p:spPr>
          <a:xfrm>
            <a:off x="609207" y="748451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피보나치 수열이란 첫 번째 항과 두 번째 항만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세 번째 항부터는 바로 앞 두 항의 합과 같은 수열을 말한다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피보나치 수열의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항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20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항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30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항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40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항의 값을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02188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DBC2-F228-DCDC-942B-0209C7BF2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9A0D4-2718-5B47-FEEC-B60C54E20FBC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D74E444-DB24-AF91-8E8F-2E5F673820D6}"/>
              </a:ext>
            </a:extLst>
          </p:cNvPr>
          <p:cNvSpPr txBox="1">
            <a:spLocks/>
          </p:cNvSpPr>
          <p:nvPr/>
        </p:nvSpPr>
        <p:spPr>
          <a:xfrm>
            <a:off x="971339" y="358905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P.19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6] </a:t>
            </a:r>
            <a:r>
              <a:rPr lang="ko-KR" altLang="en-US" sz="1050" b="0" dirty="0"/>
              <a:t>가람이는 주사위 놀이를 하다가 주사위를 </a:t>
            </a:r>
            <a:r>
              <a:rPr lang="en-US" altLang="ko-KR" sz="1050" b="0" dirty="0"/>
              <a:t>10</a:t>
            </a:r>
            <a:r>
              <a:rPr lang="ko-KR" altLang="en-US" sz="1050" b="0" dirty="0"/>
              <a:t>번 던져서 각 숫자가 몇 번씩 나왔는지 알고자 한다</a:t>
            </a:r>
            <a:r>
              <a:rPr lang="en-US" altLang="ko-KR" sz="1050" b="0" dirty="0"/>
              <a:t>.10</a:t>
            </a:r>
            <a:r>
              <a:rPr lang="ko-KR" altLang="en-US" sz="1050" b="0" dirty="0"/>
              <a:t>번 던질 때마다 나온 주사위의 숫자를 입력 받아서 각 숫자가 몇 번씩 나왔는지 출력하는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71723-79D8-5236-CD8E-CCC5E8D0C20B}"/>
              </a:ext>
            </a:extLst>
          </p:cNvPr>
          <p:cNvSpPr txBox="1"/>
          <p:nvPr/>
        </p:nvSpPr>
        <p:spPr>
          <a:xfrm>
            <a:off x="1191407" y="1435166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fib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fib[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fib[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fib[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fib[i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fib[i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피보나치 수열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항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fib[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피보나치 수열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항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fib[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피보나치 수열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항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fib[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피보나치 수열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항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fib[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8C4FE-D9A8-29E8-90DD-2C91D8064D8E}"/>
              </a:ext>
            </a:extLst>
          </p:cNvPr>
          <p:cNvSpPr txBox="1"/>
          <p:nvPr/>
        </p:nvSpPr>
        <p:spPr>
          <a:xfrm>
            <a:off x="1191406" y="4500724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(n)):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번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E9830C0-783D-0620-9AC2-99D84876F8FC}"/>
              </a:ext>
            </a:extLst>
          </p:cNvPr>
          <p:cNvSpPr txBox="1">
            <a:spLocks/>
          </p:cNvSpPr>
          <p:nvPr/>
        </p:nvSpPr>
        <p:spPr>
          <a:xfrm>
            <a:off x="971339" y="6038635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P.19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7] </a:t>
            </a:r>
            <a:r>
              <a:rPr lang="ko-KR" altLang="en-US" sz="1050" b="0" dirty="0"/>
              <a:t>학생들의 점수를 입력 받다가 </a:t>
            </a:r>
            <a:r>
              <a:rPr lang="en-US" altLang="ko-KR" sz="1050" b="0" dirty="0"/>
              <a:t>0</a:t>
            </a:r>
            <a:r>
              <a:rPr lang="ko-KR" altLang="en-US" sz="1050" b="0" dirty="0"/>
              <a:t>이 입력되면 종료하고 그때까지 입력된 점수를 </a:t>
            </a:r>
            <a:r>
              <a:rPr lang="en-US" altLang="ko-KR" sz="1050" b="0" dirty="0"/>
              <a:t>10</a:t>
            </a:r>
            <a:r>
              <a:rPr lang="ko-KR" altLang="en-US" sz="1050" b="0" dirty="0"/>
              <a:t>점 단위로 구분하여 각 구간에 속한 학생 수를 출력해보세요</a:t>
            </a:r>
            <a:r>
              <a:rPr lang="en-US" altLang="ko-KR" sz="1050" b="0" dirty="0"/>
              <a:t>.(1</a:t>
            </a:r>
            <a:r>
              <a:rPr lang="ko-KR" altLang="en-US" sz="1050" b="0" dirty="0"/>
              <a:t>명도 없는 구간은 출력하지 않는다</a:t>
            </a:r>
            <a:r>
              <a:rPr lang="en-US" altLang="ko-KR" sz="1050" b="0" dirty="0"/>
              <a:t>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5D893-B510-1B01-EA42-94759BC131EC}"/>
              </a:ext>
            </a:extLst>
          </p:cNvPr>
          <p:cNvSpPr txBox="1"/>
          <p:nvPr/>
        </p:nvSpPr>
        <p:spPr>
          <a:xfrm>
            <a:off x="1191407" y="6932014"/>
            <a:ext cx="4468730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(n)):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[n[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"person"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7936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02961-CF5E-35FC-4A1B-480CFA35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6516F9-03DA-A818-D111-14E3773F532D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0BA7A7-645E-66A1-E20D-8BFE58F1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08" y="1327856"/>
            <a:ext cx="5141808" cy="4966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[P.19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8]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num = 12345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일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각 자리 수의 합을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917B9F-8072-6326-1D97-4670B1FF1033}"/>
              </a:ext>
            </a:extLst>
          </p:cNvPr>
          <p:cNvSpPr txBox="1"/>
          <p:nvPr/>
        </p:nvSpPr>
        <p:spPr>
          <a:xfrm>
            <a:off x="797058" y="1970877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12345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temp = num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digit = temp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 += digit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str(digit) + 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+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+ result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temp //=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print(result +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"=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str(s))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D43BD04-C99E-1FA1-CEC3-269734CB9AD1}"/>
              </a:ext>
            </a:extLst>
          </p:cNvPr>
          <p:cNvSpPr txBox="1">
            <a:spLocks/>
          </p:cNvSpPr>
          <p:nvPr/>
        </p:nvSpPr>
        <p:spPr>
          <a:xfrm>
            <a:off x="609207" y="413171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[P.20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9]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다음 리스트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{95, 75, 85, 100, 50}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를 오름차순으로 정렬하여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75854A-4504-FA6A-5781-D38A16861CA8}"/>
              </a:ext>
            </a:extLst>
          </p:cNvPr>
          <p:cNvSpPr txBox="1"/>
          <p:nvPr/>
        </p:nvSpPr>
        <p:spPr>
          <a:xfrm>
            <a:off x="797060" y="4784138"/>
            <a:ext cx="4709149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a[j]: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temp 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a[j]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a[j] = temp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20B05EE-16F2-4F75-8A96-FB0B17C530FA}"/>
              </a:ext>
            </a:extLst>
          </p:cNvPr>
          <p:cNvSpPr txBox="1">
            <a:spLocks/>
          </p:cNvSpPr>
          <p:nvPr/>
        </p:nvSpPr>
        <p:spPr>
          <a:xfrm>
            <a:off x="609207" y="646761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[P.20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10] 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개의 정수를 입력 받아 내림차순으로 정렬하여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688DA-A55F-B3F8-AF40-76E3CE0F6374}"/>
              </a:ext>
            </a:extLst>
          </p:cNvPr>
          <p:cNvSpPr txBox="1"/>
          <p:nvPr/>
        </p:nvSpPr>
        <p:spPr>
          <a:xfrm>
            <a:off x="797060" y="7120032"/>
            <a:ext cx="4709149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a[j]: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temp 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a[j]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a[j] = temp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91484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404C-F770-0155-1E30-F9BF6948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D3FEC-D915-3E25-6518-ECAEC6B6B7B7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97C4805-2835-A0D7-238F-DEBCEBD8EC7F}"/>
              </a:ext>
            </a:extLst>
          </p:cNvPr>
          <p:cNvSpPr txBox="1">
            <a:spLocks/>
          </p:cNvSpPr>
          <p:nvPr/>
        </p:nvSpPr>
        <p:spPr>
          <a:xfrm>
            <a:off x="971339" y="13304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P.20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11] 6</a:t>
            </a:r>
            <a:r>
              <a:rPr lang="ko-KR" altLang="en-US" sz="1050" b="0" dirty="0"/>
              <a:t>개의 문자 리스트를 만들고</a:t>
            </a:r>
            <a:r>
              <a:rPr lang="en-US" altLang="ko-KR" sz="1050" b="0" dirty="0"/>
              <a:t>{“J”, “U”, “N”, “G”, “O”, “L”} </a:t>
            </a:r>
            <a:r>
              <a:rPr lang="ko-KR" altLang="en-US" sz="1050" b="0" dirty="0"/>
              <a:t>로 초기화한 후 문자 한 개를 입력 받아 리스트에서의 위치를 출력하는 프로그램을 작성해보세요</a:t>
            </a:r>
            <a:r>
              <a:rPr lang="en-US" altLang="ko-KR" sz="1050" b="0" dirty="0"/>
              <a:t>.(</a:t>
            </a:r>
            <a:r>
              <a:rPr lang="ko-KR" altLang="en-US" sz="1050" b="0" dirty="0"/>
              <a:t>리스트에 없는 경우 “</a:t>
            </a:r>
            <a:r>
              <a:rPr lang="en-US" altLang="ko-KR" sz="1050" b="0" dirty="0"/>
              <a:t>none” </a:t>
            </a:r>
            <a:r>
              <a:rPr lang="ko-KR" altLang="en-US" sz="1050" b="0" dirty="0"/>
              <a:t>출력</a:t>
            </a:r>
            <a:r>
              <a:rPr lang="en-US" altLang="ko-KR" sz="1050" b="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2D2BA-97ED-ED3B-BEBA-97BEAEFF8068}"/>
              </a:ext>
            </a:extLst>
          </p:cNvPr>
          <p:cNvSpPr txBox="1"/>
          <p:nvPr/>
        </p:nvSpPr>
        <p:spPr>
          <a:xfrm>
            <a:off x="1191406" y="2242156"/>
            <a:ext cx="4709151" cy="20928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"J"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"U"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"G"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pos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pos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pos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"none"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print(pos)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D3F7396-E746-1CEE-B37B-E5268D479C23}"/>
              </a:ext>
            </a:extLst>
          </p:cNvPr>
          <p:cNvSpPr txBox="1">
            <a:spLocks/>
          </p:cNvSpPr>
          <p:nvPr/>
        </p:nvSpPr>
        <p:spPr>
          <a:xfrm>
            <a:off x="971339" y="454816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P.20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12] 20 </a:t>
            </a:r>
            <a:r>
              <a:rPr lang="ko-KR" altLang="en-US" sz="1050" b="0" dirty="0"/>
              <a:t>이하의 정수 </a:t>
            </a:r>
            <a:r>
              <a:rPr lang="en-US" altLang="ko-KR" sz="1050" b="0" dirty="0"/>
              <a:t>n</a:t>
            </a:r>
            <a:r>
              <a:rPr lang="ko-KR" altLang="en-US" sz="1050" b="0" dirty="0"/>
              <a:t>을 입력 받고 </a:t>
            </a:r>
            <a:r>
              <a:rPr lang="en-US" altLang="ko-KR" sz="1050" b="0" dirty="0"/>
              <a:t>n</a:t>
            </a:r>
            <a:r>
              <a:rPr lang="ko-KR" altLang="en-US" sz="1050" b="0" dirty="0"/>
              <a:t>명의 점수를 입력 받아 높은 점수부터 출력하는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44427-7A41-9F80-7858-88064B75BB2A}"/>
              </a:ext>
            </a:extLst>
          </p:cNvPr>
          <p:cNvSpPr txBox="1"/>
          <p:nvPr/>
        </p:nvSpPr>
        <p:spPr>
          <a:xfrm>
            <a:off x="1191406" y="5212942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a[j]: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temp 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a[j]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a[j] = temp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0A5AAD6-E6FA-BA30-5011-B08FD12A24F2}"/>
              </a:ext>
            </a:extLst>
          </p:cNvPr>
          <p:cNvSpPr txBox="1">
            <a:spLocks/>
          </p:cNvSpPr>
          <p:nvPr/>
        </p:nvSpPr>
        <p:spPr>
          <a:xfrm>
            <a:off x="970724" y="7009794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P.21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13] 2</a:t>
            </a:r>
            <a:r>
              <a:rPr lang="ko-KR" altLang="en-US" sz="1050" b="0" dirty="0"/>
              <a:t>행 </a:t>
            </a:r>
            <a:r>
              <a:rPr lang="en-US" altLang="ko-KR" sz="1050" b="0" dirty="0"/>
              <a:t>3</a:t>
            </a:r>
            <a:r>
              <a:rPr lang="ko-KR" altLang="en-US" sz="1050" b="0" dirty="0"/>
              <a:t>열의 배열을 두 개 선언하고 입력 받은 후 같은 위치끼리 곱하여 새로운 배열에 저장하고 출력하는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7BDE3-D5D9-1F5F-9F30-32448BF12507}"/>
              </a:ext>
            </a:extLst>
          </p:cNvPr>
          <p:cNvSpPr txBox="1"/>
          <p:nvPr/>
        </p:nvSpPr>
        <p:spPr>
          <a:xfrm>
            <a:off x="1190791" y="7674573"/>
            <a:ext cx="4496777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</a:p>
        </p:txBody>
      </p:sp>
    </p:spTree>
    <p:extLst>
      <p:ext uri="{BB962C8B-B14F-4D97-AF65-F5344CB8AC3E}">
        <p14:creationId xmlns:p14="http://schemas.microsoft.com/office/powerpoint/2010/main" val="301351246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FB01-7C54-CB83-B1C5-F9524F42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953322-EF8F-32E3-E54C-0821DAF53525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B60DAE-81EE-3391-12DD-329B1F2F4328}"/>
              </a:ext>
            </a:extLst>
          </p:cNvPr>
          <p:cNvSpPr txBox="1"/>
          <p:nvPr/>
        </p:nvSpPr>
        <p:spPr>
          <a:xfrm>
            <a:off x="797058" y="1367373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* b[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print(c[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FC9DF2E-13A1-0BA8-22A3-3E4357740D09}"/>
              </a:ext>
            </a:extLst>
          </p:cNvPr>
          <p:cNvSpPr txBox="1">
            <a:spLocks/>
          </p:cNvSpPr>
          <p:nvPr/>
        </p:nvSpPr>
        <p:spPr>
          <a:xfrm>
            <a:off x="609207" y="28789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[P.21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14]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행의 크기를 입력 받아 파스칼 삼각형을 만든 뒤 마지막 행부터 첫 행까지 거꾸로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(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단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행의 크기는 최대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10).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205026-F0E1-6BAE-24FD-EBF395CE3426}"/>
              </a:ext>
            </a:extLst>
          </p:cNvPr>
          <p:cNvSpPr txBox="1"/>
          <p:nvPr/>
        </p:nvSpPr>
        <p:spPr>
          <a:xfrm>
            <a:off x="797060" y="3741722"/>
            <a:ext cx="4709149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== i: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a[i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a[i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range(n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range(i+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0F5262C-BFAC-E8EA-DD1D-C16AD607C613}"/>
              </a:ext>
            </a:extLst>
          </p:cNvPr>
          <p:cNvSpPr txBox="1">
            <a:spLocks/>
          </p:cNvSpPr>
          <p:nvPr/>
        </p:nvSpPr>
        <p:spPr>
          <a:xfrm>
            <a:off x="609207" y="636702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[P.21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15]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호석이네 학교는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학년에 네 반이 있는데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각 반의 대표를 세 명씩 선발하여 제기차기 시합을 하였다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반별로 세 명이 제기 찬 개수를 입력 받아 각 반별 제기 총합을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213FE9-1020-B6F1-1D07-88EAB412E376}"/>
              </a:ext>
            </a:extLst>
          </p:cNvPr>
          <p:cNvSpPr txBox="1"/>
          <p:nvPr/>
        </p:nvSpPr>
        <p:spPr>
          <a:xfrm>
            <a:off x="797060" y="7229760"/>
            <a:ext cx="4709149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a, b, c = map(int, input().split())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a + b + c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"class 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3386758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11D73-26EE-F5D4-6973-A61823BE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84240-F365-35D7-D055-F5FC3469C635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A3D1DB4-7879-467E-2951-D42210671487}"/>
              </a:ext>
            </a:extLst>
          </p:cNvPr>
          <p:cNvSpPr txBox="1">
            <a:spLocks/>
          </p:cNvSpPr>
          <p:nvPr/>
        </p:nvSpPr>
        <p:spPr>
          <a:xfrm>
            <a:off x="971339" y="126648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P.22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16] 2</a:t>
            </a:r>
            <a:r>
              <a:rPr lang="ko-KR" altLang="en-US" sz="1050" b="0" dirty="0"/>
              <a:t>차원 배열을 선언하고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행의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열</a:t>
            </a:r>
            <a:r>
              <a:rPr lang="en-US" altLang="ko-KR" sz="1050" b="0" dirty="0"/>
              <a:t>, 3</a:t>
            </a:r>
            <a:r>
              <a:rPr lang="ko-KR" altLang="en-US" sz="1050" b="0" dirty="0"/>
              <a:t>열</a:t>
            </a:r>
            <a:r>
              <a:rPr lang="en-US" altLang="ko-KR" sz="1050" b="0" dirty="0"/>
              <a:t>, 5</a:t>
            </a:r>
            <a:r>
              <a:rPr lang="ko-KR" altLang="en-US" sz="1050" b="0" dirty="0"/>
              <a:t>열을 각각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로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나머지는 모두 </a:t>
            </a:r>
            <a:r>
              <a:rPr lang="en-US" altLang="ko-KR" sz="1050" b="0" dirty="0"/>
              <a:t>0</a:t>
            </a:r>
            <a:r>
              <a:rPr lang="ko-KR" altLang="en-US" sz="1050" b="0" dirty="0"/>
              <a:t>으로 초기화한 후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행부터는 바로 위 행의 왼쪽 값과 오른쪽 값을 더하여 채운 뒤 전체 배열을 출력하는 프로그램을 작성해보세요</a:t>
            </a:r>
            <a:r>
              <a:rPr lang="en-US" altLang="ko-KR" sz="1050" b="0" dirty="0"/>
              <a:t>.(</a:t>
            </a:r>
            <a:r>
              <a:rPr lang="ko-KR" altLang="en-US" sz="1050" b="0" dirty="0"/>
              <a:t>배열 크기는 </a:t>
            </a:r>
            <a:r>
              <a:rPr lang="en-US" altLang="ko-KR" sz="1050" b="0" dirty="0"/>
              <a:t>6</a:t>
            </a:r>
            <a:r>
              <a:rPr lang="ko-KR" altLang="en-US" sz="1050" b="0" dirty="0"/>
              <a:t>행 </a:t>
            </a:r>
            <a:r>
              <a:rPr lang="en-US" altLang="ko-KR" sz="1050" b="0" dirty="0"/>
              <a:t>5</a:t>
            </a:r>
            <a:r>
              <a:rPr lang="ko-KR" altLang="en-US" sz="1050" b="0" dirty="0"/>
              <a:t>열로 한다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범위를 벗어나는 인덱스의 값은 </a:t>
            </a:r>
            <a:r>
              <a:rPr lang="en-US" altLang="ko-KR" sz="1050" b="0" dirty="0"/>
              <a:t>0</a:t>
            </a:r>
            <a:r>
              <a:rPr lang="ko-KR" altLang="en-US" sz="1050" b="0" dirty="0"/>
              <a:t>으로 본다</a:t>
            </a:r>
            <a:r>
              <a:rPr lang="en-US" altLang="ko-KR" sz="1050" b="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5018F-035B-3340-A98F-82DF5EEB2B81}"/>
              </a:ext>
            </a:extLst>
          </p:cNvPr>
          <p:cNvSpPr txBox="1"/>
          <p:nvPr/>
        </p:nvSpPr>
        <p:spPr>
          <a:xfrm>
            <a:off x="1191406" y="2370172"/>
            <a:ext cx="4709151" cy="255454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rows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cols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range(cols)]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range(rows)]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cols,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rows):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cols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 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range(rows):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cols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9B8609B-6ACA-AAAC-EDA1-2188314423AC}"/>
              </a:ext>
            </a:extLst>
          </p:cNvPr>
          <p:cNvSpPr txBox="1">
            <a:spLocks/>
          </p:cNvSpPr>
          <p:nvPr/>
        </p:nvSpPr>
        <p:spPr>
          <a:xfrm>
            <a:off x="971339" y="510594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P.22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연습 문제 </a:t>
            </a:r>
            <a:r>
              <a:rPr lang="en-US" altLang="ko-KR" sz="1050" b="0" dirty="0"/>
              <a:t>17] 4</a:t>
            </a:r>
            <a:r>
              <a:rPr lang="ko-KR" altLang="en-US" sz="1050" b="0" dirty="0"/>
              <a:t>행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열의 배열을 입력 받아 첫 번째 줄에는 각 행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가로</a:t>
            </a:r>
            <a:r>
              <a:rPr lang="en-US" altLang="ko-KR" sz="1050" b="0" dirty="0"/>
              <a:t>) </a:t>
            </a:r>
            <a:r>
              <a:rPr lang="ko-KR" altLang="en-US" sz="1050" b="0" dirty="0"/>
              <a:t>평균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두 번째 줄에는 각 열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세로</a:t>
            </a:r>
            <a:r>
              <a:rPr lang="en-US" altLang="ko-KR" sz="1050" b="0" dirty="0"/>
              <a:t>) </a:t>
            </a:r>
            <a:r>
              <a:rPr lang="ko-KR" altLang="en-US" sz="1050" b="0" dirty="0"/>
              <a:t>평균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세 번째 줄에는 전체 평균을 출력하는 프로그램을 작성해보세요</a:t>
            </a:r>
            <a:r>
              <a:rPr lang="en-US" altLang="ko-KR" sz="1050" b="0" dirty="0"/>
              <a:t>. (</a:t>
            </a:r>
            <a:r>
              <a:rPr lang="ko-KR" altLang="en-US" sz="1050" b="0" dirty="0"/>
              <a:t>평균은 소수점 아래는 버리고 정수로 출력한다</a:t>
            </a:r>
            <a:r>
              <a:rPr lang="en-US" altLang="ko-KR" sz="1050" b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36E24-3217-A0B5-5B31-0610F96407EE}"/>
              </a:ext>
            </a:extLst>
          </p:cNvPr>
          <p:cNvSpPr txBox="1"/>
          <p:nvPr/>
        </p:nvSpPr>
        <p:spPr>
          <a:xfrm>
            <a:off x="1191407" y="5962750"/>
            <a:ext cx="4468730" cy="286232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row_avg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col_avg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_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total_sum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가로평균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s +=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row_avg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s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total_sum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row_avg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print()</a:t>
            </a:r>
          </a:p>
        </p:txBody>
      </p:sp>
    </p:spTree>
    <p:extLst>
      <p:ext uri="{BB962C8B-B14F-4D97-AF65-F5344CB8AC3E}">
        <p14:creationId xmlns:p14="http://schemas.microsoft.com/office/powerpoint/2010/main" val="390003888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2BD94-FDDB-C203-012F-B955BA42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0DB5C23-225B-F956-1725-003D9F815680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리스트 알고리즘 문제 정답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E5408-F840-101F-DBEA-481E8F21EF5A}"/>
              </a:ext>
            </a:extLst>
          </p:cNvPr>
          <p:cNvSpPr txBox="1"/>
          <p:nvPr/>
        </p:nvSpPr>
        <p:spPr>
          <a:xfrm>
            <a:off x="797058" y="1367373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세로평균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s += a[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col_avg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[j] = s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col_avg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[j],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overall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total_sum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전체평균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overall)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CC9D9D-D4D6-4D95-1338-04E2128559FD}"/>
              </a:ext>
            </a:extLst>
          </p:cNvPr>
          <p:cNvSpPr txBox="1">
            <a:spLocks/>
          </p:cNvSpPr>
          <p:nvPr/>
        </p:nvSpPr>
        <p:spPr>
          <a:xfrm>
            <a:off x="609207" y="616382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[P.29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연습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개의 정수를 입력 받아 첫 번째로 입력 받은 숫자를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E5EB7-8BEB-65AB-C992-02AEAC2C812F}"/>
              </a:ext>
            </a:extLst>
          </p:cNvPr>
          <p:cNvSpPr txBox="1"/>
          <p:nvPr/>
        </p:nvSpPr>
        <p:spPr>
          <a:xfrm>
            <a:off x="797060" y="6855110"/>
            <a:ext cx="4709149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36A166"/>
                </a:solidFill>
                <a:effectLst/>
                <a:latin typeface="Consolas" panose="020B0609020204030204" pitchFamily="49" charset="0"/>
              </a:rPr>
              <a:t>get_first_number</a:t>
            </a:r>
            <a:r>
              <a:rPr lang="en-US" altLang="ko-KR" sz="100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(a, b, c)</a:t>
            </a: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    return a</a:t>
            </a: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6A16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0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숫자 </a:t>
            </a:r>
            <a:r>
              <a:rPr lang="en-US" altLang="ko-KR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개를 입력하세요 </a:t>
            </a:r>
            <a:r>
              <a:rPr lang="en-US" altLang="ko-KR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AE7313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altLang="ko-KR" sz="100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(input())</a:t>
            </a: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altLang="ko-KR" sz="100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(input())</a:t>
            </a: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altLang="ko-KR" sz="1000" b="0" i="0" u="none" strike="noStrike" dirty="0">
                <a:solidFill>
                  <a:srgbClr val="5F918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(input())</a:t>
            </a: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result = </a:t>
            </a:r>
            <a:r>
              <a:rPr lang="en-US" altLang="ko-KR" sz="1000" b="0" i="0" u="none" strike="noStrike" dirty="0" err="1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get_first_number</a:t>
            </a: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(a, b, c)</a:t>
            </a:r>
            <a:b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print(f</a:t>
            </a:r>
            <a:r>
              <a:rPr lang="en-US" altLang="ko-KR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첫 번째 </a:t>
            </a:r>
            <a:r>
              <a:rPr lang="ko-KR" altLang="en-US" sz="1000" b="0" i="0" u="none" strike="noStrike" dirty="0" err="1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입력받은</a:t>
            </a:r>
            <a:r>
              <a:rPr lang="ko-KR" altLang="en-US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 수는 </a:t>
            </a:r>
            <a:r>
              <a:rPr lang="en-US" altLang="ko-KR" sz="1000" b="0" i="0" u="none" strike="noStrike" dirty="0">
                <a:solidFill>
                  <a:srgbClr val="7D9726"/>
                </a:solidFill>
                <a:effectLst/>
                <a:latin typeface="Consolas" panose="020B0609020204030204" pitchFamily="49" charset="0"/>
              </a:rPr>
              <a:t>{result}"</a:t>
            </a:r>
            <a:r>
              <a:rPr lang="en-US" altLang="ko-KR" sz="1000" b="0" i="0" u="none" strike="noStrike" dirty="0">
                <a:solidFill>
                  <a:srgbClr val="5F5E4E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90BD96-0E21-0F02-DE35-3A5A3E4F1A6F}"/>
              </a:ext>
            </a:extLst>
          </p:cNvPr>
          <p:cNvSpPr txBox="1">
            <a:spLocks/>
          </p:cNvSpPr>
          <p:nvPr/>
        </p:nvSpPr>
        <p:spPr>
          <a:xfrm>
            <a:off x="710682" y="5646814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</p:spTree>
    <p:extLst>
      <p:ext uri="{BB962C8B-B14F-4D97-AF65-F5344CB8AC3E}">
        <p14:creationId xmlns:p14="http://schemas.microsoft.com/office/powerpoint/2010/main" val="35809071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5873-4300-808F-920D-F2C21C15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F335E-6CD4-40DA-1A23-7582695ED8A8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431987C-9377-0904-FE24-AAA89EAFFFD9}"/>
              </a:ext>
            </a:extLst>
          </p:cNvPr>
          <p:cNvSpPr txBox="1">
            <a:spLocks/>
          </p:cNvSpPr>
          <p:nvPr/>
        </p:nvSpPr>
        <p:spPr>
          <a:xfrm>
            <a:off x="971339" y="138907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개를 입력 받아 이를 매개변수로 하는 함수를 정의하고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해당 함수에서 세 정수 중 최대값을 찾아 반환하여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en-US" sz="1050" b="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D34659B-A3AB-9613-44AD-38BB803A4959}"/>
              </a:ext>
            </a:extLst>
          </p:cNvPr>
          <p:cNvSpPr txBox="1">
            <a:spLocks/>
          </p:cNvSpPr>
          <p:nvPr/>
        </p:nvSpPr>
        <p:spPr>
          <a:xfrm>
            <a:off x="971339" y="4155985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2] </a:t>
            </a:r>
            <a:r>
              <a:rPr lang="ko-KR" altLang="en-US" sz="1050" b="0" dirty="0"/>
              <a:t>정수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개를 입력 받아 이를 매개변수로 하는 함수에서 두 수의 합을 반환하여 출력하는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982F1-F22B-B241-0CFE-FE43FD7D382C}"/>
              </a:ext>
            </a:extLst>
          </p:cNvPr>
          <p:cNvSpPr txBox="1"/>
          <p:nvPr/>
        </p:nvSpPr>
        <p:spPr>
          <a:xfrm>
            <a:off x="1191407" y="2212406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(a, b, c)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a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c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a, b, c = map(int, input().split())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solution(a, b, c)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최대값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result)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5750A-CBCF-15B6-6570-63DEF5D53B84}"/>
              </a:ext>
            </a:extLst>
          </p:cNvPr>
          <p:cNvSpPr txBox="1"/>
          <p:nvPr/>
        </p:nvSpPr>
        <p:spPr>
          <a:xfrm>
            <a:off x="1191406" y="4775044"/>
            <a:ext cx="4709151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(a, b)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 +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x, y = map(int, input().split())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solution(x, y))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26AD6E0-1D2D-F215-1C42-C4A8537FB905}"/>
              </a:ext>
            </a:extLst>
          </p:cNvPr>
          <p:cNvSpPr txBox="1">
            <a:spLocks/>
          </p:cNvSpPr>
          <p:nvPr/>
        </p:nvSpPr>
        <p:spPr>
          <a:xfrm>
            <a:off x="971339" y="586293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3] </a:t>
            </a:r>
            <a:r>
              <a:rPr lang="ko-KR" altLang="en-US" sz="1050" b="0" dirty="0"/>
              <a:t>정수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개를 입력 받아 해당 수의 </a:t>
            </a:r>
            <a:r>
              <a:rPr lang="ko-KR" altLang="en-US" sz="1050" b="0" dirty="0" err="1"/>
              <a:t>제곱값을</a:t>
            </a:r>
            <a:r>
              <a:rPr lang="ko-KR" altLang="en-US" sz="1050" b="0" dirty="0"/>
              <a:t> 반환하는 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92F39-6184-E428-B690-0DA4DD12D419}"/>
              </a:ext>
            </a:extLst>
          </p:cNvPr>
          <p:cNvSpPr txBox="1"/>
          <p:nvPr/>
        </p:nvSpPr>
        <p:spPr>
          <a:xfrm>
            <a:off x="1191406" y="6481992"/>
            <a:ext cx="4709151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* n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solution(x))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B1B8315-64E4-01F7-8579-64A4E2567C06}"/>
              </a:ext>
            </a:extLst>
          </p:cNvPr>
          <p:cNvSpPr txBox="1">
            <a:spLocks/>
          </p:cNvSpPr>
          <p:nvPr/>
        </p:nvSpPr>
        <p:spPr>
          <a:xfrm>
            <a:off x="971339" y="7541958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4] </a:t>
            </a:r>
            <a:r>
              <a:rPr lang="ko-KR" altLang="en-US" sz="1050" b="0" dirty="0"/>
              <a:t>정수 </a:t>
            </a:r>
            <a:r>
              <a:rPr lang="en-US" altLang="ko-KR" sz="1050" b="0" dirty="0"/>
              <a:t>3</a:t>
            </a:r>
            <a:r>
              <a:rPr lang="ko-KR" altLang="en-US" sz="1050" b="0" dirty="0"/>
              <a:t>개를 입력 받아 가장 큰 값을 반환하는 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FFB29-7504-E452-4AEF-4772BD338FDE}"/>
              </a:ext>
            </a:extLst>
          </p:cNvPr>
          <p:cNvSpPr txBox="1"/>
          <p:nvPr/>
        </p:nvSpPr>
        <p:spPr>
          <a:xfrm>
            <a:off x="1191406" y="7923273"/>
            <a:ext cx="4709151" cy="70788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(a, b, c)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a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b</a:t>
            </a:r>
          </a:p>
        </p:txBody>
      </p:sp>
    </p:spTree>
    <p:extLst>
      <p:ext uri="{BB962C8B-B14F-4D97-AF65-F5344CB8AC3E}">
        <p14:creationId xmlns:p14="http://schemas.microsoft.com/office/powerpoint/2010/main" val="42867719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3C2B-5297-9D38-EEE3-4AE73E62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AFBE535-B86E-6A85-2589-BFC9A8111240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3DE2C-1A2B-654F-90AE-4FAC131D65F2}"/>
              </a:ext>
            </a:extLst>
          </p:cNvPr>
          <p:cNvSpPr txBox="1"/>
          <p:nvPr/>
        </p:nvSpPr>
        <p:spPr>
          <a:xfrm>
            <a:off x="797058" y="1376517"/>
            <a:ext cx="4709151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c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x, y, z = map(int, input().split())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최대값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solution(x, y, z))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79CA3765-5676-B85B-4175-45A3E02F1812}"/>
              </a:ext>
            </a:extLst>
          </p:cNvPr>
          <p:cNvSpPr txBox="1">
            <a:spLocks/>
          </p:cNvSpPr>
          <p:nvPr/>
        </p:nvSpPr>
        <p:spPr>
          <a:xfrm>
            <a:off x="609207" y="256809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개를 입력 받아 가장 작은 값을 반환하는 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086DCB-73F2-EAC8-4E99-0B62F2455ED6}"/>
              </a:ext>
            </a:extLst>
          </p:cNvPr>
          <p:cNvSpPr txBox="1"/>
          <p:nvPr/>
        </p:nvSpPr>
        <p:spPr>
          <a:xfrm>
            <a:off x="797060" y="3174794"/>
            <a:ext cx="4709149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(a, b, c)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a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c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x, y, z = map(int, input().split())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solution(x, y, z))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F6C9F7A-3080-20DF-3029-E483B29D8247}"/>
              </a:ext>
            </a:extLst>
          </p:cNvPr>
          <p:cNvSpPr txBox="1">
            <a:spLocks/>
          </p:cNvSpPr>
          <p:nvPr/>
        </p:nvSpPr>
        <p:spPr>
          <a:xfrm>
            <a:off x="609207" y="516194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개를 입력 받아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부터 해당 수까지 출력하는 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576DA-DC68-E468-0E76-61843D11180D}"/>
              </a:ext>
            </a:extLst>
          </p:cNvPr>
          <p:cNvSpPr txBox="1"/>
          <p:nvPr/>
        </p:nvSpPr>
        <p:spPr>
          <a:xfrm>
            <a:off x="797060" y="5768642"/>
            <a:ext cx="4709149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solution(x)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1D86D10-6E87-6423-0742-7425E448DCDB}"/>
              </a:ext>
            </a:extLst>
          </p:cNvPr>
          <p:cNvSpPr txBox="1">
            <a:spLocks/>
          </p:cNvSpPr>
          <p:nvPr/>
        </p:nvSpPr>
        <p:spPr>
          <a:xfrm>
            <a:off x="609205" y="698769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개를 입력 받아 해당 수가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이상이면 “합격”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아니면 “</a:t>
            </a:r>
            <a:r>
              <a:rPr lang="ko-KR" altLang="en-US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불합격”을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출력하는 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BEF29-28E8-CA96-1581-BAE49BF953BF}"/>
              </a:ext>
            </a:extLst>
          </p:cNvPr>
          <p:cNvSpPr txBox="1"/>
          <p:nvPr/>
        </p:nvSpPr>
        <p:spPr>
          <a:xfrm>
            <a:off x="797058" y="7594394"/>
            <a:ext cx="4709149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합격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불합격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26948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66971-A328-0EC1-9EB5-718545F5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5AF87-294E-B85D-DAB5-EFAD10AFCCF0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CE0CF8A-9825-2112-26BF-6EEA3A81C9E4}"/>
              </a:ext>
            </a:extLst>
          </p:cNvPr>
          <p:cNvSpPr txBox="1">
            <a:spLocks/>
          </p:cNvSpPr>
          <p:nvPr/>
        </p:nvSpPr>
        <p:spPr>
          <a:xfrm>
            <a:off x="971339" y="367135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9] </a:t>
            </a:r>
            <a:r>
              <a:rPr lang="ko-KR" altLang="en-US" sz="1050" b="0" dirty="0"/>
              <a:t>두 정수를 더하는 함수와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그 결과를 출력하는 함수를 만들어 함수 안에서 다른 함수를 호출하세요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CF9EA-C164-6476-5AF3-A795F4521D31}"/>
              </a:ext>
            </a:extLst>
          </p:cNvPr>
          <p:cNvSpPr txBox="1"/>
          <p:nvPr/>
        </p:nvSpPr>
        <p:spPr>
          <a:xfrm>
            <a:off x="1191407" y="1416878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x = int(input())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solution(x)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163DD-572D-7E95-E82D-ED9FE0EF2134}"/>
              </a:ext>
            </a:extLst>
          </p:cNvPr>
          <p:cNvSpPr txBox="1"/>
          <p:nvPr/>
        </p:nvSpPr>
        <p:spPr>
          <a:xfrm>
            <a:off x="1191406" y="4290412"/>
            <a:ext cx="4709151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(a, b)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 +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(a, b)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add(a, b)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result)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x, y = map(int, input().split())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solution(x, y)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1BCD5D2-5D20-95B2-D5BF-404C054ACFC3}"/>
              </a:ext>
            </a:extLst>
          </p:cNvPr>
          <p:cNvSpPr txBox="1">
            <a:spLocks/>
          </p:cNvSpPr>
          <p:nvPr/>
        </p:nvSpPr>
        <p:spPr>
          <a:xfrm>
            <a:off x="971339" y="586293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10] </a:t>
            </a:r>
            <a:r>
              <a:rPr lang="ko-KR" altLang="en-US" sz="1050" b="0" dirty="0"/>
              <a:t>정수의 제곱을 구하는 함수와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그 결과가 </a:t>
            </a:r>
            <a:r>
              <a:rPr lang="en-US" altLang="ko-KR" sz="1050" b="0" dirty="0"/>
              <a:t>100 </a:t>
            </a:r>
            <a:r>
              <a:rPr lang="ko-KR" altLang="en-US" sz="1050" b="0" dirty="0"/>
              <a:t>이상인지 판단하는 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23F17-C223-89B8-69C9-4CE29DF04E29}"/>
              </a:ext>
            </a:extLst>
          </p:cNvPr>
          <p:cNvSpPr txBox="1"/>
          <p:nvPr/>
        </p:nvSpPr>
        <p:spPr>
          <a:xfrm>
            <a:off x="1191406" y="6481992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* n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(num)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num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크다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작다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square(x)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check(result)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0B5EE9F-E26E-816F-FCE3-218900540F38}"/>
              </a:ext>
            </a:extLst>
          </p:cNvPr>
          <p:cNvSpPr txBox="1">
            <a:spLocks/>
          </p:cNvSpPr>
          <p:nvPr/>
        </p:nvSpPr>
        <p:spPr>
          <a:xfrm>
            <a:off x="970724" y="2008555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8]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문자열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개를 입력 받아 “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Hello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문자열” 형태로 출력하는 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en-US" sz="1050"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EAAB1-C7A4-87BB-E123-9252D63CEC92}"/>
              </a:ext>
            </a:extLst>
          </p:cNvPr>
          <p:cNvSpPr txBox="1"/>
          <p:nvPr/>
        </p:nvSpPr>
        <p:spPr>
          <a:xfrm>
            <a:off x="1190792" y="2630722"/>
            <a:ext cx="4709151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solution(x)</a:t>
            </a:r>
          </a:p>
        </p:txBody>
      </p:sp>
    </p:spTree>
    <p:extLst>
      <p:ext uri="{BB962C8B-B14F-4D97-AF65-F5344CB8AC3E}">
        <p14:creationId xmlns:p14="http://schemas.microsoft.com/office/powerpoint/2010/main" val="122201006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4D7F-66B1-D877-0021-61379F1B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5E81B1E-186A-4EE2-EC56-AEB0841E4777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270AB05-3157-48EF-91DF-17427455798F}"/>
              </a:ext>
            </a:extLst>
          </p:cNvPr>
          <p:cNvSpPr txBox="1">
            <a:spLocks/>
          </p:cNvSpPr>
          <p:nvPr/>
        </p:nvSpPr>
        <p:spPr>
          <a:xfrm>
            <a:off x="609207" y="128793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정수의 절댓값을 반환하는 함수와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그 값을 출력하는 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ADA70-BFB2-87D4-E25D-335E545FF899}"/>
              </a:ext>
            </a:extLst>
          </p:cNvPr>
          <p:cNvSpPr txBox="1"/>
          <p:nvPr/>
        </p:nvSpPr>
        <p:spPr>
          <a:xfrm>
            <a:off x="797060" y="1894634"/>
            <a:ext cx="4709149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-n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y = absolute(n)</a:t>
            </a:r>
            <a:endParaRPr lang="en-US" altLang="ko-KR" sz="1000" b="0" dirty="0">
              <a:effectLst/>
            </a:endParaRPr>
          </a:p>
          <a:p>
            <a:pPr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y)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4B6A4A6-2F47-D6C0-ECC4-B6D93344580F}"/>
              </a:ext>
            </a:extLst>
          </p:cNvPr>
          <p:cNvSpPr txBox="1">
            <a:spLocks/>
          </p:cNvSpPr>
          <p:nvPr/>
        </p:nvSpPr>
        <p:spPr>
          <a:xfrm>
            <a:off x="609207" y="3525165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[P.44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자리 정수를 입력 받아 이를 매개변수로 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호출하고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해당 함수에서 각 자리 숫자의 합을 계산하여 반환한 뒤 출력하는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5838A-2F3C-A252-FCF0-084F258A68E1}"/>
              </a:ext>
            </a:extLst>
          </p:cNvPr>
          <p:cNvSpPr txBox="1"/>
          <p:nvPr/>
        </p:nvSpPr>
        <p:spPr>
          <a:xfrm>
            <a:off x="797060" y="4397042"/>
            <a:ext cx="4709149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s += n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n //=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solution(num))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DA0CC22-3562-0899-4AFB-3C2B86DB59C0}"/>
              </a:ext>
            </a:extLst>
          </p:cNvPr>
          <p:cNvSpPr txBox="1">
            <a:spLocks/>
          </p:cNvSpPr>
          <p:nvPr/>
        </p:nvSpPr>
        <p:spPr>
          <a:xfrm>
            <a:off x="609205" y="607329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[P.44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하나를 입력 받아 이를 매개변수로 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호출하고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부터 전달받은 정수까지의 수 중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또는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의 배수가 아닌 수의 합을 계산하여 반환하는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F3869-40B6-9835-0BD9-4AB6E973D896}"/>
              </a:ext>
            </a:extLst>
          </p:cNvPr>
          <p:cNvSpPr txBox="1"/>
          <p:nvPr/>
        </p:nvSpPr>
        <p:spPr>
          <a:xfrm>
            <a:off x="797058" y="6936026"/>
            <a:ext cx="4709149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s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solution(num))</a:t>
            </a:r>
          </a:p>
        </p:txBody>
      </p:sp>
    </p:spTree>
    <p:extLst>
      <p:ext uri="{BB962C8B-B14F-4D97-AF65-F5344CB8AC3E}">
        <p14:creationId xmlns:p14="http://schemas.microsoft.com/office/powerpoint/2010/main" val="7378361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FF54-2096-4595-9E47-35D71E3B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C5FF3-44D4-8803-4E72-A23A991AE9A7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99118E3-ABBF-A622-6AD1-E355AAAEACE8}"/>
              </a:ext>
            </a:extLst>
          </p:cNvPr>
          <p:cNvSpPr txBox="1">
            <a:spLocks/>
          </p:cNvSpPr>
          <p:nvPr/>
        </p:nvSpPr>
        <p:spPr>
          <a:xfrm>
            <a:off x="971339" y="344275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4] </a:t>
            </a:r>
            <a:r>
              <a:rPr lang="ko-KR" altLang="en-US" sz="1050" b="0" dirty="0"/>
              <a:t>길이가 </a:t>
            </a:r>
            <a:r>
              <a:rPr lang="en-US" altLang="ko-KR" sz="1050" b="0" dirty="0"/>
              <a:t>10</a:t>
            </a:r>
            <a:r>
              <a:rPr lang="ko-KR" altLang="en-US" sz="1050" b="0" dirty="0"/>
              <a:t>인 정수 리스트를 입력 받아 이를 매개변수로 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호출하고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전달받은 리스트 인수 중 최대값을 찾아 반환하는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8340E-56D5-878D-31DB-8371F3C4C04E}"/>
              </a:ext>
            </a:extLst>
          </p:cNvPr>
          <p:cNvSpPr txBox="1"/>
          <p:nvPr/>
        </p:nvSpPr>
        <p:spPr>
          <a:xfrm>
            <a:off x="1191406" y="4317844"/>
            <a:ext cx="4709151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최대값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solution(a))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4C799C0-12E5-B06A-6425-66C783AD19AC}"/>
              </a:ext>
            </a:extLst>
          </p:cNvPr>
          <p:cNvSpPr txBox="1">
            <a:spLocks/>
          </p:cNvSpPr>
          <p:nvPr/>
        </p:nvSpPr>
        <p:spPr>
          <a:xfrm>
            <a:off x="971339" y="600009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5] </a:t>
            </a:r>
            <a:r>
              <a:rPr lang="ko-KR" altLang="en-US" sz="1050" b="0" dirty="0"/>
              <a:t>길이가 </a:t>
            </a:r>
            <a:r>
              <a:rPr lang="en-US" altLang="ko-KR" sz="1050" b="0" dirty="0"/>
              <a:t>10</a:t>
            </a:r>
            <a:r>
              <a:rPr lang="ko-KR" altLang="en-US" sz="1050" b="0" dirty="0"/>
              <a:t>인 리스트에 주사위를 </a:t>
            </a:r>
            <a:r>
              <a:rPr lang="en-US" altLang="ko-KR" sz="1050" b="0" dirty="0"/>
              <a:t>10</a:t>
            </a:r>
            <a:r>
              <a:rPr lang="ko-KR" altLang="en-US" sz="1050" b="0" dirty="0"/>
              <a:t>번 던져 나온 값을 저장한 후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이를 매개변수로 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호출하여 각 숫자가 나온 횟수를 저장한 리스트를 반환하는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72252-C4BB-350A-FAA2-70A931C49E5B}"/>
              </a:ext>
            </a:extLst>
          </p:cNvPr>
          <p:cNvSpPr txBox="1"/>
          <p:nvPr/>
        </p:nvSpPr>
        <p:spPr>
          <a:xfrm>
            <a:off x="1191406" y="6847752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count[n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dice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solution(dice)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(ret)):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print(ret[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5B79AF5-1F88-956C-DC3C-486FA121E3FA}"/>
              </a:ext>
            </a:extLst>
          </p:cNvPr>
          <p:cNvSpPr txBox="1">
            <a:spLocks/>
          </p:cNvSpPr>
          <p:nvPr/>
        </p:nvSpPr>
        <p:spPr>
          <a:xfrm>
            <a:off x="970724" y="130446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길이가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인 정수 리스트를 입력 받아 이를 매개변수로 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호출하고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전달받은 리스트 인수 중 세 번째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다섯 번째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 번째 값의 합을 계산하여 반환하는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en-US" sz="1050"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14CE77-7EDC-BABC-271C-CB9D87BDEFA4}"/>
              </a:ext>
            </a:extLst>
          </p:cNvPr>
          <p:cNvSpPr txBox="1"/>
          <p:nvPr/>
        </p:nvSpPr>
        <p:spPr>
          <a:xfrm>
            <a:off x="1190792" y="2191810"/>
            <a:ext cx="4709151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solution(a))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2049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2820-ED35-7439-BC3A-DFC473AA6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CBFFF71-7319-C72D-6E8F-9FE98096A467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7DBE4BE-F755-E36B-2021-488CE29C7FD1}"/>
              </a:ext>
            </a:extLst>
          </p:cNvPr>
          <p:cNvSpPr txBox="1">
            <a:spLocks/>
          </p:cNvSpPr>
          <p:nvPr/>
        </p:nvSpPr>
        <p:spPr>
          <a:xfrm>
            <a:off x="609207" y="128793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[P.45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아래와 같이 초기화된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행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열의 리스트를 매개변수로 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호출하여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전달받은 리스트 인수의 모든 원소의 합을 계산하여 반환하는 프로그램을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90B930-33F8-2A2B-657F-94B0C28BFDBE}"/>
              </a:ext>
            </a:extLst>
          </p:cNvPr>
          <p:cNvSpPr txBox="1"/>
          <p:nvPr/>
        </p:nvSpPr>
        <p:spPr>
          <a:xfrm>
            <a:off x="797060" y="2150666"/>
            <a:ext cx="4709149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s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[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solution(a))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8A6E6D8-B0D9-F77A-34C2-648148692686}"/>
              </a:ext>
            </a:extLst>
          </p:cNvPr>
          <p:cNvSpPr txBox="1">
            <a:spLocks/>
          </p:cNvSpPr>
          <p:nvPr/>
        </p:nvSpPr>
        <p:spPr>
          <a:xfrm>
            <a:off x="609205" y="471083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[P.45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정수로 이루어진 리스트와 하나의 정수를 입력 받아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리스트 안에서 해당 정수가 몇 번 등장하는지를 반환하는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E508B9-B262-8FA9-E645-DA83B5BF18E2}"/>
              </a:ext>
            </a:extLst>
          </p:cNvPr>
          <p:cNvSpPr txBox="1"/>
          <p:nvPr/>
        </p:nvSpPr>
        <p:spPr>
          <a:xfrm>
            <a:off x="797058" y="5335826"/>
            <a:ext cx="4709149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x)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== x: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print(solution(a, x))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8BDE3-72A8-A325-78D3-19341A41C35C}"/>
              </a:ext>
            </a:extLst>
          </p:cNvPr>
          <p:cNvSpPr txBox="1">
            <a:spLocks/>
          </p:cNvSpPr>
          <p:nvPr/>
        </p:nvSpPr>
        <p:spPr>
          <a:xfrm>
            <a:off x="609205" y="7094373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[P.45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8]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정수로 이루어진 리스트를 입력 받아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짝수이면서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이상인 값들의 합을 반환하는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A4D90-7A18-B7B3-020A-DB765F0E4952}"/>
              </a:ext>
            </a:extLst>
          </p:cNvPr>
          <p:cNvSpPr txBox="1"/>
          <p:nvPr/>
        </p:nvSpPr>
        <p:spPr>
          <a:xfrm>
            <a:off x="797058" y="7728506"/>
            <a:ext cx="4709149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s += v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309803989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27AE-8539-454C-CD3C-262119DC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2ADE4-CE7E-7C48-406D-EB2B830D33A4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2C60BE7A-BBCB-17BC-C529-38DBEB81B2E0}"/>
              </a:ext>
            </a:extLst>
          </p:cNvPr>
          <p:cNvSpPr txBox="1">
            <a:spLocks/>
          </p:cNvSpPr>
          <p:nvPr/>
        </p:nvSpPr>
        <p:spPr>
          <a:xfrm>
            <a:off x="971339" y="192484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9] </a:t>
            </a:r>
            <a:r>
              <a:rPr lang="ko-KR" altLang="en-US" sz="1050" b="0" dirty="0"/>
              <a:t>정수로 이루어진 리스트를 입력 받아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요소의 순서를 거꾸로 뒤집은 새로운 리스트를 반환하는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55619-012E-C9B2-5EAE-8060E8B393E3}"/>
              </a:ext>
            </a:extLst>
          </p:cNvPr>
          <p:cNvSpPr txBox="1"/>
          <p:nvPr/>
        </p:nvSpPr>
        <p:spPr>
          <a:xfrm>
            <a:off x="1191406" y="2562196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j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result[j]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j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 = solution(a)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print(res[v],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89A33BD-3CCD-EC12-EE54-9FA44B12504C}"/>
              </a:ext>
            </a:extLst>
          </p:cNvPr>
          <p:cNvSpPr txBox="1">
            <a:spLocks/>
          </p:cNvSpPr>
          <p:nvPr/>
        </p:nvSpPr>
        <p:spPr>
          <a:xfrm>
            <a:off x="971339" y="466506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10] </a:t>
            </a:r>
            <a:r>
              <a:rPr lang="ko-KR" altLang="en-US" sz="1050" b="0" dirty="0"/>
              <a:t>정수로 이루어진 리스트를 입력 받아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가장 큰 값의 인덱스 번호를 반환하는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.(</a:t>
            </a:r>
            <a:r>
              <a:rPr lang="ko-KR" altLang="en-US" sz="1050" b="0" dirty="0"/>
              <a:t>가장 큰 값이 여러 개일 경우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가장 앞의 인덱스를 반환</a:t>
            </a:r>
            <a:r>
              <a:rPr lang="en-US" altLang="ko-KR" sz="1050" b="0" dirty="0"/>
              <a:t>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2EF4D-0559-E4A5-0C34-28B4A1F6CDB8}"/>
              </a:ext>
            </a:extLst>
          </p:cNvPr>
          <p:cNvSpPr txBox="1"/>
          <p:nvPr/>
        </p:nvSpPr>
        <p:spPr>
          <a:xfrm>
            <a:off x="1191406" y="5512728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print(solution(a))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AA5E5D-9BCF-FB0E-B86B-639C2CDAB592}"/>
              </a:ext>
            </a:extLst>
          </p:cNvPr>
          <p:cNvSpPr txBox="1"/>
          <p:nvPr/>
        </p:nvSpPr>
        <p:spPr>
          <a:xfrm>
            <a:off x="1190792" y="1332274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print(solution(a))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F18F1CC-7C39-6EA0-504A-36FC8E51C2CD}"/>
              </a:ext>
            </a:extLst>
          </p:cNvPr>
          <p:cNvSpPr txBox="1">
            <a:spLocks/>
          </p:cNvSpPr>
          <p:nvPr/>
        </p:nvSpPr>
        <p:spPr>
          <a:xfrm>
            <a:off x="971339" y="751173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11] </a:t>
            </a:r>
            <a:r>
              <a:rPr lang="ko-KR" altLang="en-US" sz="1050" b="0" dirty="0"/>
              <a:t>문자열과 문자 하나를 입력 받아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문자열에서 해당 문자를 모두 제거한 결과 문자열을 반환하는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endParaRPr lang="en-US" altLang="ko-KR" sz="105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175C2-24C8-7F7B-2882-071A789EE560}"/>
              </a:ext>
            </a:extLst>
          </p:cNvPr>
          <p:cNvSpPr txBox="1"/>
          <p:nvPr/>
        </p:nvSpPr>
        <p:spPr>
          <a:xfrm>
            <a:off x="1191406" y="8149086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7833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A2B7-7867-2E23-9E73-386B9D010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B40A799-6E01-7D54-49C8-57AD9BC30A8A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7AD58-5379-4F9F-D44F-9510EA4F2ED1}"/>
              </a:ext>
            </a:extLst>
          </p:cNvPr>
          <p:cNvSpPr txBox="1"/>
          <p:nvPr/>
        </p:nvSpPr>
        <p:spPr>
          <a:xfrm>
            <a:off x="797060" y="1370378"/>
            <a:ext cx="4709149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result += 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F373EF1-51FF-E0F9-DB84-6A1C15F88509}"/>
              </a:ext>
            </a:extLst>
          </p:cNvPr>
          <p:cNvSpPr txBox="1">
            <a:spLocks/>
          </p:cNvSpPr>
          <p:nvPr/>
        </p:nvSpPr>
        <p:spPr>
          <a:xfrm>
            <a:off x="609205" y="300395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[P.46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12]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문자열과 문자 하나를 입력 받아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문자열에서 해당 문자가 등장한 횟수를 모두 제거한 후 남은 문자열의 길이를 반환하는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9C58B7-6F5B-2810-9497-F4F7230195B2}"/>
              </a:ext>
            </a:extLst>
          </p:cNvPr>
          <p:cNvSpPr txBox="1"/>
          <p:nvPr/>
        </p:nvSpPr>
        <p:spPr>
          <a:xfrm>
            <a:off x="797058" y="3880914"/>
            <a:ext cx="4709149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result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solution(s,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print(ret)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14A7A-1033-52C2-EAD8-443A1AD42EA5}"/>
              </a:ext>
            </a:extLst>
          </p:cNvPr>
          <p:cNvSpPr txBox="1">
            <a:spLocks/>
          </p:cNvSpPr>
          <p:nvPr/>
        </p:nvSpPr>
        <p:spPr>
          <a:xfrm>
            <a:off x="609205" y="584774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[P.47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13]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하나를 입력 받아 이를 매개변수로 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입력된 정수가 어떤 정수의 제곱수라면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다음 정수의 </a:t>
            </a:r>
            <a:r>
              <a:rPr lang="ko-KR" altLang="en-US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제곱값을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반환하고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제곱수가 아니라면 “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no”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을 반환하도록 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53F89-9D81-AF09-30F2-A8554B9074DA}"/>
              </a:ext>
            </a:extLst>
          </p:cNvPr>
          <p:cNvSpPr txBox="1"/>
          <p:nvPr/>
        </p:nvSpPr>
        <p:spPr>
          <a:xfrm>
            <a:off x="797058" y="6734858"/>
            <a:ext cx="4709149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&lt;= n: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n: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"no"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print(solution(num))</a:t>
            </a:r>
          </a:p>
        </p:txBody>
      </p:sp>
    </p:spTree>
    <p:extLst>
      <p:ext uri="{BB962C8B-B14F-4D97-AF65-F5344CB8AC3E}">
        <p14:creationId xmlns:p14="http://schemas.microsoft.com/office/powerpoint/2010/main" val="14798278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6875-2ABB-58B6-53FA-A80A3E21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2390-F2CB-BB6B-F99C-3B43CB81A647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3E0C07CB-A0DF-E4A8-4FB0-4C18F109A851}"/>
              </a:ext>
            </a:extLst>
          </p:cNvPr>
          <p:cNvSpPr txBox="1">
            <a:spLocks/>
          </p:cNvSpPr>
          <p:nvPr/>
        </p:nvSpPr>
        <p:spPr>
          <a:xfrm>
            <a:off x="971339" y="132540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14] </a:t>
            </a:r>
            <a:r>
              <a:rPr lang="ko-KR" altLang="en-US" sz="1050" b="0" dirty="0"/>
              <a:t>정수로 이루어진 리스트와 하나의 정수를 입력 받아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리스트의 값 중 입력된 정수로 나누어 떨어지는 값만 모아 새로운 리스트로 반환하는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1B0917-B6B9-E3A6-A3ED-96E5372D194A}"/>
              </a:ext>
            </a:extLst>
          </p:cNvPr>
          <p:cNvSpPr txBox="1"/>
          <p:nvPr/>
        </p:nvSpPr>
        <p:spPr>
          <a:xfrm>
            <a:off x="1191406" y="2196436"/>
            <a:ext cx="4709151" cy="332398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d)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[x] % d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y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[x] % d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result[y]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[x]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y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 = solution(a, d)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print(res[v],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6D2F59-6AF3-8369-C4E1-67844B773384}"/>
              </a:ext>
            </a:extLst>
          </p:cNvPr>
          <p:cNvSpPr txBox="1">
            <a:spLocks/>
          </p:cNvSpPr>
          <p:nvPr/>
        </p:nvSpPr>
        <p:spPr>
          <a:xfrm>
            <a:off x="971339" y="569122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15] </a:t>
            </a:r>
            <a:r>
              <a:rPr lang="ko-KR" altLang="en-US" sz="1050" b="0" dirty="0"/>
              <a:t>문자열 하나를 입력 받아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문자열이 숫자로만 구성되어 있고 길이가 </a:t>
            </a:r>
            <a:r>
              <a:rPr lang="en-US" altLang="ko-KR" sz="1050" b="0" dirty="0"/>
              <a:t>4 </a:t>
            </a:r>
            <a:r>
              <a:rPr lang="ko-KR" altLang="en-US" sz="1050" b="0" dirty="0"/>
              <a:t>또는 </a:t>
            </a:r>
            <a:r>
              <a:rPr lang="en-US" altLang="ko-KR" sz="1050" b="0" dirty="0"/>
              <a:t>6</a:t>
            </a:r>
            <a:r>
              <a:rPr lang="ko-KR" altLang="en-US" sz="1050" b="0" dirty="0"/>
              <a:t>이면 </a:t>
            </a:r>
            <a:r>
              <a:rPr lang="en-US" altLang="ko-KR" sz="1050" b="0" dirty="0"/>
              <a:t>True,</a:t>
            </a:r>
            <a:r>
              <a:rPr lang="ko-KR" altLang="en-US" sz="1050" b="0" dirty="0"/>
              <a:t>그 외의 경우에는 </a:t>
            </a:r>
            <a:r>
              <a:rPr lang="en-US" altLang="ko-KR" sz="1050" b="0" dirty="0"/>
              <a:t>False</a:t>
            </a:r>
            <a:r>
              <a:rPr lang="ko-KR" altLang="en-US" sz="1050" b="0" dirty="0"/>
              <a:t>를 반환하는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4B7E9-BF3E-8002-B356-F7D274C580A6}"/>
              </a:ext>
            </a:extLst>
          </p:cNvPr>
          <p:cNvSpPr txBox="1"/>
          <p:nvPr/>
        </p:nvSpPr>
        <p:spPr>
          <a:xfrm>
            <a:off x="1191406" y="6538888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(s)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(s)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'0'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'9'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print(solution(s))</a:t>
            </a:r>
          </a:p>
        </p:txBody>
      </p:sp>
    </p:spTree>
    <p:extLst>
      <p:ext uri="{BB962C8B-B14F-4D97-AF65-F5344CB8AC3E}">
        <p14:creationId xmlns:p14="http://schemas.microsoft.com/office/powerpoint/2010/main" val="30764006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7DDF-EB08-E9F4-0C07-1E28F012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04A681B-6518-5E8E-8E02-6B19EECC95AE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F40285A-3934-6867-A09D-DD04298476A7}"/>
              </a:ext>
            </a:extLst>
          </p:cNvPr>
          <p:cNvSpPr txBox="1">
            <a:spLocks/>
          </p:cNvSpPr>
          <p:nvPr/>
        </p:nvSpPr>
        <p:spPr>
          <a:xfrm>
            <a:off x="609205" y="125643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[P.48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16]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문자열로 이루어진 리스트와 하나의 정수를 입력 받아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각 문자열의 해당 인덱스 위치의 문자를 기준으로 오름차순 정렬하여 리스트를 반환하는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1706E-8946-3F65-F730-043060B3737D}"/>
              </a:ext>
            </a:extLst>
          </p:cNvPr>
          <p:cNvSpPr txBox="1"/>
          <p:nvPr/>
        </p:nvSpPr>
        <p:spPr>
          <a:xfrm>
            <a:off x="797058" y="2133394"/>
            <a:ext cx="4709149" cy="224676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][n]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[j][n]: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temp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[j]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[j] = temp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input().split()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(ret)):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print(ret[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FFE223-F9AB-756C-7439-45A35DC57B8B}"/>
              </a:ext>
            </a:extLst>
          </p:cNvPr>
          <p:cNvSpPr txBox="1">
            <a:spLocks/>
          </p:cNvSpPr>
          <p:nvPr/>
        </p:nvSpPr>
        <p:spPr>
          <a:xfrm>
            <a:off x="609205" y="448630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[P.48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17]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정수로 이루어진 리스트를 입력 받아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가장 작은 값을 제거한 리스트를 반환하는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단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리스트의 길이가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이하라면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-1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을 반환하세요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CE283-400D-FB2E-C885-DDA06A6179D8}"/>
              </a:ext>
            </a:extLst>
          </p:cNvPr>
          <p:cNvSpPr txBox="1"/>
          <p:nvPr/>
        </p:nvSpPr>
        <p:spPr>
          <a:xfrm>
            <a:off x="797058" y="5363258"/>
            <a:ext cx="4709149" cy="332398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&lt;=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result[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list(map(int, input().split()))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(ret)):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print(ret[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], end=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053424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42C7-CAC2-D668-6C63-923CCB4B2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DEC6B-DC8F-3D38-874E-540ECA745D37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함수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C60D337-751B-579F-903C-085C2D6B729A}"/>
              </a:ext>
            </a:extLst>
          </p:cNvPr>
          <p:cNvSpPr txBox="1">
            <a:spLocks/>
          </p:cNvSpPr>
          <p:nvPr/>
        </p:nvSpPr>
        <p:spPr>
          <a:xfrm>
            <a:off x="971339" y="123396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P.48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심화 문제 </a:t>
            </a:r>
            <a:r>
              <a:rPr lang="en-US" altLang="ko-KR" sz="1050" b="0" dirty="0"/>
              <a:t>18] </a:t>
            </a:r>
            <a:r>
              <a:rPr lang="ko-KR" altLang="en-US" sz="1050" b="0" dirty="0"/>
              <a:t>문자열 하나를 입력 받아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길이가 홀수이면 가운데 문자 하나를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길이가 짝수이면 가운데 문자 두 개를 반환하는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E2F229-23A6-7719-7324-2714F72C8FC3}"/>
              </a:ext>
            </a:extLst>
          </p:cNvPr>
          <p:cNvSpPr txBox="1"/>
          <p:nvPr/>
        </p:nvSpPr>
        <p:spPr>
          <a:xfrm>
            <a:off x="1191406" y="2074516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mid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(s)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(s)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s[mid]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s[mid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:mid+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 = input()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print(solution(s))</a:t>
            </a:r>
          </a:p>
          <a:p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7B1139D-8259-A35F-8B06-688CBB94A0B5}"/>
              </a:ext>
            </a:extLst>
          </p:cNvPr>
          <p:cNvSpPr txBox="1">
            <a:spLocks/>
          </p:cNvSpPr>
          <p:nvPr/>
        </p:nvSpPr>
        <p:spPr>
          <a:xfrm>
            <a:off x="971339" y="405800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[P.48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심화 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19]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n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을 입력 받아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n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번째 피보나치 수를 반환하는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solution()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.(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단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F(0)=0, F(1)=1).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91485-EB52-6DEF-3E21-4C4DE69399BE}"/>
              </a:ext>
            </a:extLst>
          </p:cNvPr>
          <p:cNvSpPr txBox="1"/>
          <p:nvPr/>
        </p:nvSpPr>
        <p:spPr>
          <a:xfrm>
            <a:off x="1191407" y="4727868"/>
            <a:ext cx="4459586" cy="270843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b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 = a +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 =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c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print(solution(n))</a:t>
            </a:r>
          </a:p>
          <a:p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3905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0291-935A-3770-DF52-2E5C65BB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2D715E-F927-C894-4899-B1CD73C19AB6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문제로 이해하기 정답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F44314E-7B1B-56E6-74F1-A902EE6A4B33}"/>
              </a:ext>
            </a:extLst>
          </p:cNvPr>
          <p:cNvSpPr txBox="1">
            <a:spLocks/>
          </p:cNvSpPr>
          <p:nvPr/>
        </p:nvSpPr>
        <p:spPr>
          <a:xfrm>
            <a:off x="609205" y="125643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한 반에 학생이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명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각 학생의 시험 점수가 리스트로 주어집니다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 반에서는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650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점 이상이고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800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점 미만인 학생만보충 수업을 듣게 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학생들의 점수가 들어있는 리스트가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보충 수업을 듣는 학생은 모두 몇 명인지 구하세요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D4BB9-FB8E-740E-8751-C312DC61A07E}"/>
              </a:ext>
            </a:extLst>
          </p:cNvPr>
          <p:cNvSpPr txBox="1"/>
          <p:nvPr/>
        </p:nvSpPr>
        <p:spPr>
          <a:xfrm>
            <a:off x="797058" y="2367074"/>
            <a:ext cx="4709149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722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914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558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714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650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679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669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solution(scores)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print(result)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FC9B7-6037-AEAB-0B91-C0449C1DA72A}"/>
              </a:ext>
            </a:extLst>
          </p:cNvPr>
          <p:cNvSpPr txBox="1">
            <a:spLocks/>
          </p:cNvSpPr>
          <p:nvPr/>
        </p:nvSpPr>
        <p:spPr>
          <a:xfrm>
            <a:off x="609205" y="432374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한 반의 학생들이 숫자 카드 놀이를 하고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카드에는 자연수가 적혀 있고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선생님은 다음 규칙으로 놀이 결과를 판단하려고 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카드 중에서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의 배수 카드 개수를 센다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카드 중에서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의 배수 카드 개수를 센다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86C88-5378-2E7B-D492-6CE61B25A3BE}"/>
              </a:ext>
            </a:extLst>
          </p:cNvPr>
          <p:cNvSpPr txBox="1"/>
          <p:nvPr/>
        </p:nvSpPr>
        <p:spPr>
          <a:xfrm>
            <a:off x="797058" y="5200698"/>
            <a:ext cx="4709149" cy="317009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count3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count5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count3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count5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count3 &gt; count5: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"three"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count5 &gt; count3: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"five"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"same"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367566482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4B65-2EB0-F83F-F759-692AA060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3DD19-3608-9B18-0B73-1B1D23F7B4B1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C6767B9-22C5-6E57-B7A5-19CDC4CCFDCC}"/>
              </a:ext>
            </a:extLst>
          </p:cNvPr>
          <p:cNvSpPr txBox="1">
            <a:spLocks/>
          </p:cNvSpPr>
          <p:nvPr/>
        </p:nvSpPr>
        <p:spPr>
          <a:xfrm>
            <a:off x="971339" y="123396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P.52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3] </a:t>
            </a:r>
            <a:r>
              <a:rPr lang="ko-KR" altLang="en-US" sz="1050" b="0" dirty="0"/>
              <a:t>로봇이 숫자 구간을 이동하면서 짝수 칸에만 배터리 충전을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로봇은 짝수 칸에 도착할 때마다 그 칸의 번호를 제곱한 만큼 충전합니다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정수 </a:t>
            </a:r>
            <a:r>
              <a:rPr lang="en-US" altLang="ko-KR" sz="1050" b="0" dirty="0"/>
              <a:t>start</a:t>
            </a:r>
            <a:r>
              <a:rPr lang="ko-KR" altLang="en-US" sz="1050" b="0" dirty="0"/>
              <a:t>와 </a:t>
            </a:r>
            <a:r>
              <a:rPr lang="en-US" altLang="ko-KR" sz="1050" b="0" dirty="0"/>
              <a:t>end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start</a:t>
            </a:r>
            <a:r>
              <a:rPr lang="ko-KR" altLang="en-US" sz="1050" b="0" dirty="0"/>
              <a:t>부터 </a:t>
            </a:r>
            <a:r>
              <a:rPr lang="en-US" altLang="ko-KR" sz="1050" b="0" dirty="0"/>
              <a:t>end</a:t>
            </a:r>
            <a:r>
              <a:rPr lang="ko-KR" altLang="en-US" sz="1050" b="0" dirty="0"/>
              <a:t>까지의 숫자 중 짝수만 골라서 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짝수</a:t>
            </a:r>
            <a:r>
              <a:rPr lang="en-US" altLang="ko-KR" sz="1050" b="0" dirty="0"/>
              <a:t>²)</a:t>
            </a:r>
            <a:r>
              <a:rPr lang="ko-KR" altLang="en-US" sz="1050" b="0" dirty="0"/>
              <a:t>의 합을 구해 반환하세요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7CC2F-F86B-84FA-99A8-C013B401477A}"/>
              </a:ext>
            </a:extLst>
          </p:cNvPr>
          <p:cNvSpPr txBox="1"/>
          <p:nvPr/>
        </p:nvSpPr>
        <p:spPr>
          <a:xfrm>
            <a:off x="1191406" y="2338676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(start, end)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range(start, end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total += n * n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total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result = solution(start, end)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print(result)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20DE8A2-C413-3454-7890-0814CF91EC62}"/>
              </a:ext>
            </a:extLst>
          </p:cNvPr>
          <p:cNvSpPr txBox="1">
            <a:spLocks/>
          </p:cNvSpPr>
          <p:nvPr/>
        </p:nvSpPr>
        <p:spPr>
          <a:xfrm>
            <a:off x="971339" y="445170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한 학생이 비밀 단어 만들기 게임을 하고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여러 개의 단어 카드가 순서대로 놓여 있고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학생은 글자 수가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글자 이상인 카드만 골라서 앞에서부터 차례대로 이어 붙여 하나의 문장을 만들려고 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단어들이 들어있는 리스트가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조건에 맞는 단어를 순서대로 이어 붙인 문자열을 반환하세요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B543C-8A4D-6620-9228-12A079C34CF0}"/>
              </a:ext>
            </a:extLst>
          </p:cNvPr>
          <p:cNvSpPr txBox="1"/>
          <p:nvPr/>
        </p:nvSpPr>
        <p:spPr>
          <a:xfrm>
            <a:off x="1191406" y="5868328"/>
            <a:ext cx="4709151" cy="270843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(words)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(words)):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(words[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result = result + words[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"empty"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words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"my"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"favorite"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"color"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"is"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"violet"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print(solution(words))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words2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"am"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print(solution(words2))</a:t>
            </a:r>
          </a:p>
        </p:txBody>
      </p:sp>
    </p:spTree>
    <p:extLst>
      <p:ext uri="{BB962C8B-B14F-4D97-AF65-F5344CB8AC3E}">
        <p14:creationId xmlns:p14="http://schemas.microsoft.com/office/powerpoint/2010/main" val="346313900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998E0-DE88-A1BE-B1EA-2EFBAE52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1B8C628-FF3C-03EE-49D2-18658ED1EC60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문제로 이해하기 정답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E296B67-E3C0-498C-D498-051B7BF0B576}"/>
              </a:ext>
            </a:extLst>
          </p:cNvPr>
          <p:cNvSpPr txBox="1">
            <a:spLocks/>
          </p:cNvSpPr>
          <p:nvPr/>
        </p:nvSpPr>
        <p:spPr>
          <a:xfrm>
            <a:off x="609205" y="125643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용사의 공격력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attack,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몬스터의 </a:t>
            </a:r>
            <a:r>
              <a:rPr lang="ko-KR" altLang="en-US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회복량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recovery,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몬스터의 초기 체력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hp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몬스터를 쓰러뜨리기 위해 용사가 최소 몇 번 공격해야 하는지 구하는 함수를 작성해보세요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A41C9-CE50-5632-2686-891360DB3069}"/>
              </a:ext>
            </a:extLst>
          </p:cNvPr>
          <p:cNvSpPr txBox="1"/>
          <p:nvPr/>
        </p:nvSpPr>
        <p:spPr>
          <a:xfrm>
            <a:off x="797058" y="2133394"/>
            <a:ext cx="4709149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(attack, recovery, hp)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hp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hp = hp - attack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hp &lt;=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hp = hp + recovery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D93C69-5CD3-821B-9C7C-A70C7F7757A9}"/>
              </a:ext>
            </a:extLst>
          </p:cNvPr>
          <p:cNvSpPr txBox="1">
            <a:spLocks/>
          </p:cNvSpPr>
          <p:nvPr/>
        </p:nvSpPr>
        <p:spPr>
          <a:xfrm>
            <a:off x="609205" y="428310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[P.54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학교 로봇이 복도를 이동하며 여러 교실을 방문합니다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로봇이 방문한 교실 번호가 순서대로 리스트에 저장되어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로봇은 한 번 이동할 때마다 이전 교실 번호와 다음 교실 번호의 차이만큼 이동합니다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(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예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: 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번에서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번으로 가면 이동거리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방문 순서가 담긴 리스트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rooms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로봇이 이동한 전체 이동거리의 합을 반환하세요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18716C-E61B-840B-73C0-8475F8596389}"/>
              </a:ext>
            </a:extLst>
          </p:cNvPr>
          <p:cNvSpPr txBox="1"/>
          <p:nvPr/>
        </p:nvSpPr>
        <p:spPr>
          <a:xfrm>
            <a:off x="797058" y="5617258"/>
            <a:ext cx="4709149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(rooms)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(rooms)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diff = rooms[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- rooms[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diff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diff = -diff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total += diff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total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rooms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print(solution(rooms))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2BE17A8-A61A-6856-FE13-6E012FB67830}"/>
              </a:ext>
            </a:extLst>
          </p:cNvPr>
          <p:cNvSpPr txBox="1">
            <a:spLocks/>
          </p:cNvSpPr>
          <p:nvPr/>
        </p:nvSpPr>
        <p:spPr>
          <a:xfrm>
            <a:off x="609204" y="76825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학교 앞 주차장에서는 날짜에 따라 출입 규칙이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날짜가 홀수 날이면 → 차량 번호가 홀수인 차만 입장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날짜가 짝수 날이면 → 차량 번호가 짝수인 차만 입장 하루의 날짜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day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와 주차장에 들어오려는 차량 번호가 담긴 리스트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cars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규칙에 맞게 입장할 수 있는 차량의 수를 구하세요</a:t>
            </a: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501055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5B03-5F92-EE2B-6CE7-8CB13A5F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30E3B-DF75-1A36-6065-628753551F7C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64333BD-2DCA-B00A-BB5B-ECB4E58B163A}"/>
              </a:ext>
            </a:extLst>
          </p:cNvPr>
          <p:cNvSpPr txBox="1">
            <a:spLocks/>
          </p:cNvSpPr>
          <p:nvPr/>
        </p:nvSpPr>
        <p:spPr>
          <a:xfrm>
            <a:off x="971339" y="39974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P.54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8] </a:t>
            </a:r>
            <a:r>
              <a:rPr lang="ko-KR" altLang="en-US" sz="1050" b="0" dirty="0"/>
              <a:t>수학 시간에 선생님이 “나누기 </a:t>
            </a:r>
            <a:r>
              <a:rPr lang="en-US" altLang="ko-KR" sz="1050" b="0" dirty="0"/>
              <a:t>2 </a:t>
            </a:r>
            <a:r>
              <a:rPr lang="ko-KR" altLang="en-US" sz="1050" b="0" dirty="0" err="1"/>
              <a:t>퀴즈”를</a:t>
            </a:r>
            <a:r>
              <a:rPr lang="ko-KR" altLang="en-US" sz="1050" b="0" dirty="0"/>
              <a:t> 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정수들이 적힌 카드 리스트가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각 카드의 숫자를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로 나눈 값이 리스트 안에 그대로 존재하는 카드가 몇 장인지 세려고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예를 들어 숫자 </a:t>
            </a:r>
            <a:r>
              <a:rPr lang="en-US" altLang="ko-KR" sz="1050" b="0" dirty="0"/>
              <a:t>8</a:t>
            </a:r>
            <a:r>
              <a:rPr lang="ko-KR" altLang="en-US" sz="1050" b="0" dirty="0"/>
              <a:t>이 있다면 </a:t>
            </a:r>
            <a:r>
              <a:rPr lang="en-US" altLang="ko-KR" sz="1050" b="0" dirty="0"/>
              <a:t>8 ÷ 2 = 4</a:t>
            </a:r>
            <a:r>
              <a:rPr lang="ko-KR" altLang="en-US" sz="1050" b="0" dirty="0"/>
              <a:t>이므로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리스트 안에 </a:t>
            </a:r>
            <a:r>
              <a:rPr lang="en-US" altLang="ko-KR" sz="1050" b="0" dirty="0"/>
              <a:t>4</a:t>
            </a:r>
            <a:r>
              <a:rPr lang="ko-KR" altLang="en-US" sz="1050" b="0" dirty="0"/>
              <a:t>가 함께 있으면 </a:t>
            </a:r>
            <a:r>
              <a:rPr lang="en-US" altLang="ko-KR" sz="1050" b="0" dirty="0"/>
              <a:t>8</a:t>
            </a:r>
            <a:r>
              <a:rPr lang="ko-KR" altLang="en-US" sz="1050" b="0" dirty="0"/>
              <a:t>은 조건을 만족합니다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정수 리스트 </a:t>
            </a:r>
            <a:r>
              <a:rPr lang="en-US" altLang="ko-KR" sz="1050" b="0" dirty="0" err="1"/>
              <a:t>nums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“</a:t>
            </a:r>
            <a:r>
              <a:rPr lang="ko-KR" altLang="en-US" sz="1050" b="0" dirty="0"/>
              <a:t>자기 숫자를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로 나눈 값이 리스트에 있는 </a:t>
            </a:r>
            <a:r>
              <a:rPr lang="ko-KR" altLang="en-US" sz="1050" b="0" dirty="0" err="1"/>
              <a:t>숫자”의</a:t>
            </a:r>
            <a:r>
              <a:rPr lang="ko-KR" altLang="en-US" sz="1050" b="0" dirty="0"/>
              <a:t> 개수를 반환하세요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B40286-D868-6B66-BDFD-BF085BF19A94}"/>
              </a:ext>
            </a:extLst>
          </p:cNvPr>
          <p:cNvSpPr txBox="1"/>
          <p:nvPr/>
        </p:nvSpPr>
        <p:spPr>
          <a:xfrm>
            <a:off x="1191406" y="1367006"/>
            <a:ext cx="4709151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(day, cars)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(cars)):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day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cars[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cars[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day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17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cars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3285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1724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4438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2988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3131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2998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print(solution(day, cars))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96CBE-C75B-B441-5C3F-2E460296F7A3}"/>
              </a:ext>
            </a:extLst>
          </p:cNvPr>
          <p:cNvSpPr txBox="1"/>
          <p:nvPr/>
        </p:nvSpPr>
        <p:spPr>
          <a:xfrm>
            <a:off x="1191406" y="5553368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8A40974-09CA-53B2-00F1-A9398C23741A}"/>
              </a:ext>
            </a:extLst>
          </p:cNvPr>
          <p:cNvSpPr txBox="1">
            <a:spLocks/>
          </p:cNvSpPr>
          <p:nvPr/>
        </p:nvSpPr>
        <p:spPr>
          <a:xfrm>
            <a:off x="971339" y="75534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P.55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9] </a:t>
            </a:r>
            <a:r>
              <a:rPr lang="ko-KR" altLang="en-US" sz="1050" b="0" dirty="0"/>
              <a:t>학교 축제에서 여러 부스가 동시에 운영됩니다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각 부스에는 참가자가 정해진 수만큼 있고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안전 규칙 때문에 진행요원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명은 최대 </a:t>
            </a:r>
            <a:r>
              <a:rPr lang="en-US" altLang="ko-KR" sz="1050" b="0" dirty="0"/>
              <a:t>m</a:t>
            </a:r>
            <a:r>
              <a:rPr lang="ko-KR" altLang="en-US" sz="1050" b="0" dirty="0" err="1"/>
              <a:t>명까지만</a:t>
            </a:r>
            <a:r>
              <a:rPr lang="ko-KR" altLang="en-US" sz="1050" b="0" dirty="0"/>
              <a:t> 담당할 수 있습니다</a:t>
            </a:r>
            <a:r>
              <a:rPr lang="en-US" altLang="ko-KR" sz="1050" b="0" dirty="0"/>
              <a:t>.</a:t>
            </a:r>
            <a:r>
              <a:rPr lang="ko-KR" altLang="en-US" sz="1050" b="0" dirty="0"/>
              <a:t>부스별 참가자 수가 들어있는 리스트 </a:t>
            </a:r>
            <a:r>
              <a:rPr lang="en-US" altLang="ko-KR" sz="1050" b="0" dirty="0"/>
              <a:t>people</a:t>
            </a:r>
            <a:r>
              <a:rPr lang="ko-KR" altLang="en-US" sz="1050" b="0" dirty="0"/>
              <a:t>과진행요원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명이 담당할 수 있는 최대 인원 </a:t>
            </a:r>
            <a:r>
              <a:rPr lang="en-US" altLang="ko-KR" sz="1050" b="0" dirty="0"/>
              <a:t>m</a:t>
            </a:r>
            <a:r>
              <a:rPr lang="ko-KR" altLang="en-US" sz="1050" b="0" dirty="0"/>
              <a:t>이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모든 부스를 운영하기 위해 필요한 진행요원 수의 합을 구해 반환하세요</a:t>
            </a:r>
            <a:r>
              <a:rPr lang="en-US" altLang="ko-KR" sz="105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48510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A5B6-88A4-5634-1B55-1AD4D794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759ED21-9FC2-0171-E096-E0E31DFB4D83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문제로 이해하기 정답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A4D46B-621B-DBEC-57AF-5C9703C5EC1A}"/>
              </a:ext>
            </a:extLst>
          </p:cNvPr>
          <p:cNvSpPr txBox="1"/>
          <p:nvPr/>
        </p:nvSpPr>
        <p:spPr>
          <a:xfrm>
            <a:off x="797058" y="1401874"/>
            <a:ext cx="4709149" cy="255454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(people, m)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(people)):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q = people[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// m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r = people[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% m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total += q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total += q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total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people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print(solution(people, m))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111174-1770-BD78-7AF2-05A59B119344}"/>
              </a:ext>
            </a:extLst>
          </p:cNvPr>
          <p:cNvSpPr txBox="1">
            <a:spLocks/>
          </p:cNvSpPr>
          <p:nvPr/>
        </p:nvSpPr>
        <p:spPr>
          <a:xfrm>
            <a:off x="609205" y="414086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[P.55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지금까지의 최소 칼로리가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500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인데 오늘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750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을 먹었다면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750 - 500 = 250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만큼 운동으로 소모합니다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리스트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calorie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,A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운동으로 소모한 총 칼로리 합을 반환하세요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BCF2F-EEE3-DFEE-9431-D2EF02F4A2A1}"/>
              </a:ext>
            </a:extLst>
          </p:cNvPr>
          <p:cNvSpPr txBox="1"/>
          <p:nvPr/>
        </p:nvSpPr>
        <p:spPr>
          <a:xfrm>
            <a:off x="797058" y="4997498"/>
            <a:ext cx="4709149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(calorie)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calorie[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(calorie)):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calorie[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total += calorie[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calorie[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total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calorie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713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665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873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751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print(solution(calorie))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685E171-1EB1-4D86-155C-DC973E0BF6FF}"/>
              </a:ext>
            </a:extLst>
          </p:cNvPr>
          <p:cNvSpPr txBox="1">
            <a:spLocks/>
          </p:cNvSpPr>
          <p:nvPr/>
        </p:nvSpPr>
        <p:spPr>
          <a:xfrm>
            <a:off x="609204" y="757082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[P.55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문구점에서 “스탬프 </a:t>
            </a:r>
            <a:r>
              <a:rPr lang="ko-KR" altLang="en-US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쿠폰”을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모으면 할인에 사용할 수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쿠폰은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장 단위로만 사용할 수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.(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예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: 100, 200, 300 …)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단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쿠폰이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1000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장 이상 모였을 때만 사용할 수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현재 쿠폰 개수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stamp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규칙을 지키면서 최대로 사용할 수 있는 쿠폰 수를 반환하세요</a:t>
            </a: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482241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7503-369D-7F6F-D807-1969A072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8E1F3-0B02-F10D-02FC-1731135644E5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문제로 이해하기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0AADDDB-CC03-4235-824E-2CED03235ED8}"/>
              </a:ext>
            </a:extLst>
          </p:cNvPr>
          <p:cNvSpPr txBox="1">
            <a:spLocks/>
          </p:cNvSpPr>
          <p:nvPr/>
        </p:nvSpPr>
        <p:spPr>
          <a:xfrm>
            <a:off x="971339" y="307292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P.56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12] </a:t>
            </a:r>
            <a:r>
              <a:rPr lang="ko-KR" altLang="en-US" sz="1050" b="0" dirty="0"/>
              <a:t>학교 동아리에서 새 멤버를 뽑기 위해 간단한 실기 테스트를 진행했습니다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각 지원자의 점수가 리스트 </a:t>
            </a:r>
            <a:r>
              <a:rPr lang="en-US" altLang="ko-KR" sz="1050" b="0" dirty="0"/>
              <a:t>scores</a:t>
            </a:r>
            <a:r>
              <a:rPr lang="ko-KR" altLang="en-US" sz="1050" b="0" dirty="0"/>
              <a:t>에 들어 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동아리는 커트라인 점수 </a:t>
            </a:r>
            <a:r>
              <a:rPr lang="en-US" altLang="ko-KR" sz="1050" b="0" dirty="0"/>
              <a:t>cutline </a:t>
            </a:r>
            <a:r>
              <a:rPr lang="ko-KR" altLang="en-US" sz="1050" b="0" dirty="0"/>
              <a:t>이상을 받은 사람만 합격시킵니다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합격한 사람이 몇 명인지 구해 반환하는 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308F4-BDB4-1D3E-62A5-8001B7BE3045}"/>
              </a:ext>
            </a:extLst>
          </p:cNvPr>
          <p:cNvSpPr txBox="1"/>
          <p:nvPr/>
        </p:nvSpPr>
        <p:spPr>
          <a:xfrm>
            <a:off x="1191406" y="1367006"/>
            <a:ext cx="4709151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(stamp)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stamp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use = (stamp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use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stamp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2323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print(solution(stamp))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4793E-BF96-3CCE-4E2C-5E5BF1703D32}"/>
              </a:ext>
            </a:extLst>
          </p:cNvPr>
          <p:cNvSpPr txBox="1"/>
          <p:nvPr/>
        </p:nvSpPr>
        <p:spPr>
          <a:xfrm>
            <a:off x="1191406" y="4202088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(scores, cutline)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&gt;= cutline: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cutline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print(solution(scores, cutline))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8B227F0-D49A-5018-3775-5A2E53A834A9}"/>
              </a:ext>
            </a:extLst>
          </p:cNvPr>
          <p:cNvSpPr txBox="1">
            <a:spLocks/>
          </p:cNvSpPr>
          <p:nvPr/>
        </p:nvSpPr>
        <p:spPr>
          <a:xfrm>
            <a:off x="971339" y="620220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P.56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13] </a:t>
            </a:r>
            <a:r>
              <a:rPr lang="ko-KR" altLang="en-US" sz="1050" b="0" dirty="0"/>
              <a:t>처음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부터 마지막 </a:t>
            </a:r>
            <a:r>
              <a:rPr lang="en-US" altLang="ko-KR" sz="1050" b="0" dirty="0"/>
              <a:t>1 </a:t>
            </a:r>
            <a:r>
              <a:rPr lang="ko-KR" altLang="en-US" sz="1050" b="0" dirty="0"/>
              <a:t>사이의 구간만 의미가 있습니다</a:t>
            </a:r>
            <a:r>
              <a:rPr lang="en-US" altLang="ko-KR" sz="1050" b="0" dirty="0"/>
              <a:t>. schedule</a:t>
            </a:r>
            <a:r>
              <a:rPr lang="ko-KR" altLang="en-US" sz="1050" b="0" dirty="0"/>
              <a:t>이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처음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과 마지막 </a:t>
            </a:r>
            <a:r>
              <a:rPr lang="en-US" altLang="ko-KR" sz="1050" b="0" dirty="0"/>
              <a:t>1 </a:t>
            </a:r>
            <a:r>
              <a:rPr lang="ko-KR" altLang="en-US" sz="1050" b="0" dirty="0"/>
              <a:t>사이에 있는 </a:t>
            </a:r>
            <a:r>
              <a:rPr lang="en-US" altLang="ko-KR" sz="1050" b="0" dirty="0"/>
              <a:t>0</a:t>
            </a:r>
            <a:r>
              <a:rPr lang="ko-KR" altLang="en-US" sz="1050" b="0" dirty="0"/>
              <a:t>의 개수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쉬는 시간 수</a:t>
            </a:r>
            <a:r>
              <a:rPr lang="en-US" altLang="ko-KR" sz="1050" b="0" dirty="0"/>
              <a:t>)</a:t>
            </a:r>
            <a:r>
              <a:rPr lang="ko-KR" altLang="en-US" sz="1050" b="0" dirty="0"/>
              <a:t>를 구해 반환하세요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296EC-D6A3-7412-7DCB-9558812621F9}"/>
              </a:ext>
            </a:extLst>
          </p:cNvPr>
          <p:cNvSpPr txBox="1"/>
          <p:nvPr/>
        </p:nvSpPr>
        <p:spPr>
          <a:xfrm>
            <a:off x="1191405" y="7087528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(schedule)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start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end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(schedule)):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schedule[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start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28958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A57F-8A2F-5859-DC35-BCDEA43E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23FAFE2-5792-BCAF-5637-A3469A539A3B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문제로 이해하기 정답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76D75-DF72-5B7B-2B84-D93D8053B095}"/>
              </a:ext>
            </a:extLst>
          </p:cNvPr>
          <p:cNvSpPr txBox="1"/>
          <p:nvPr/>
        </p:nvSpPr>
        <p:spPr>
          <a:xfrm>
            <a:off x="797058" y="1401874"/>
            <a:ext cx="4709149" cy="20928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(schedule)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schedule[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end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count0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range(start, end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schedule[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count0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schedule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print(solution(schedule))</a:t>
            </a:r>
          </a:p>
        </p:txBody>
      </p:sp>
    </p:spTree>
    <p:extLst>
      <p:ext uri="{BB962C8B-B14F-4D97-AF65-F5344CB8AC3E}">
        <p14:creationId xmlns:p14="http://schemas.microsoft.com/office/powerpoint/2010/main" val="326618163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7B74-D4D3-9883-AF77-CE892A71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930A3-0807-BEE5-B255-9899AD3E6B1F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 정답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45BE25C-A9A1-E221-1424-CCA75FAFFA45}"/>
              </a:ext>
            </a:extLst>
          </p:cNvPr>
          <p:cNvSpPr txBox="1">
            <a:spLocks/>
          </p:cNvSpPr>
          <p:nvPr/>
        </p:nvSpPr>
        <p:spPr>
          <a:xfrm>
            <a:off x="971339" y="1305089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1_</a:t>
            </a:r>
            <a:r>
              <a:rPr lang="ko-KR" altLang="en-US" sz="1050" b="0" dirty="0"/>
              <a:t>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도로에 속도 측정 장치가 설치되어 있습니다</a:t>
            </a:r>
            <a:r>
              <a:rPr lang="en-US" altLang="ko-KR" sz="1050" b="0" dirty="0"/>
              <a:t>.</a:t>
            </a:r>
            <a:r>
              <a:rPr lang="ko-KR" altLang="en-US" sz="1050" b="0" dirty="0"/>
              <a:t>기준 속도 </a:t>
            </a:r>
            <a:r>
              <a:rPr lang="en-US" altLang="ko-KR" sz="1050" b="0" dirty="0"/>
              <a:t>limit</a:t>
            </a:r>
            <a:r>
              <a:rPr lang="ko-KR" altLang="en-US" sz="1050" b="0" dirty="0"/>
              <a:t>과 차량 속도 목록 </a:t>
            </a:r>
            <a:r>
              <a:rPr lang="en-US" altLang="ko-KR" sz="1050" b="0" dirty="0"/>
              <a:t>cars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전체 벌금 합계를 구하세요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76392-B314-0CD6-353E-9FE47E931A06}"/>
              </a:ext>
            </a:extLst>
          </p:cNvPr>
          <p:cNvSpPr txBox="1"/>
          <p:nvPr/>
        </p:nvSpPr>
        <p:spPr>
          <a:xfrm>
            <a:off x="1191406" y="1987208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첫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번째 빈칸 →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: limit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, limit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두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번째 빈칸 →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: limit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altLang="ko-KR" sz="1000" b="0" i="0" u="none" strike="noStrike" dirty="0">
              <a:solidFill>
                <a:srgbClr val="427B5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CFC93E8-E817-1EFB-1A12-5A8F89E2EBB8}"/>
              </a:ext>
            </a:extLst>
          </p:cNvPr>
          <p:cNvSpPr txBox="1">
            <a:spLocks/>
          </p:cNvSpPr>
          <p:nvPr/>
        </p:nvSpPr>
        <p:spPr>
          <a:xfrm>
            <a:off x="971339" y="56738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4_</a:t>
            </a:r>
            <a:r>
              <a:rPr lang="ko-KR" altLang="en-US" sz="1050" b="0" dirty="0" err="1"/>
              <a:t>한줄</a:t>
            </a:r>
            <a:r>
              <a:rPr lang="ko-KR" altLang="en-US" sz="1050" b="0" dirty="0"/>
              <a:t> 고치기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학생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명의 물건을 계산하는 데 걸리는 시간은 물건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개당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분입니다</a:t>
            </a:r>
            <a:r>
              <a:rPr lang="en-US" altLang="ko-KR" sz="1050" b="0" dirty="0"/>
              <a:t>.(</a:t>
            </a:r>
            <a:r>
              <a:rPr lang="ko-KR" altLang="en-US" sz="1050" b="0" dirty="0"/>
              <a:t>예</a:t>
            </a:r>
            <a:r>
              <a:rPr lang="en-US" altLang="ko-KR" sz="1050" b="0" dirty="0"/>
              <a:t>: </a:t>
            </a:r>
            <a:r>
              <a:rPr lang="ko-KR" altLang="en-US" sz="1050" b="0" dirty="0"/>
              <a:t>물건 </a:t>
            </a:r>
            <a:r>
              <a:rPr lang="en-US" altLang="ko-KR" sz="1050" b="0" dirty="0"/>
              <a:t>5</a:t>
            </a:r>
            <a:r>
              <a:rPr lang="ko-KR" altLang="en-US" sz="1050" b="0" dirty="0"/>
              <a:t>개면 </a:t>
            </a:r>
            <a:r>
              <a:rPr lang="en-US" altLang="ko-KR" sz="1050" b="0" dirty="0"/>
              <a:t>5</a:t>
            </a:r>
            <a:r>
              <a:rPr lang="ko-KR" altLang="en-US" sz="1050" b="0" dirty="0"/>
              <a:t>분</a:t>
            </a:r>
            <a:r>
              <a:rPr lang="en-US" altLang="ko-KR" sz="1050" b="0" dirty="0"/>
              <a:t>) </a:t>
            </a:r>
            <a:r>
              <a:rPr lang="ko-KR" altLang="en-US" sz="1050" b="0" dirty="0"/>
              <a:t>학생들이 사려는 물건 개수가 순서대로 담긴 리스트 </a:t>
            </a:r>
            <a:r>
              <a:rPr lang="en-US" altLang="ko-KR" sz="1050" b="0" dirty="0"/>
              <a:t>items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모든 학생의 계산이 끝나는 데 걸리는 총 시간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분</a:t>
            </a:r>
            <a:r>
              <a:rPr lang="en-US" altLang="ko-KR" sz="1050" b="0" dirty="0"/>
              <a:t>)</a:t>
            </a:r>
            <a:r>
              <a:rPr lang="ko-KR" altLang="en-US" sz="1050" b="0" dirty="0"/>
              <a:t>을 반환하는 함수를 작성했습니다</a:t>
            </a:r>
            <a:r>
              <a:rPr lang="en-US" altLang="ko-KR" sz="1050" b="0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E4258-5115-25BB-71F2-2F96466A8DE4}"/>
              </a:ext>
            </a:extLst>
          </p:cNvPr>
          <p:cNvSpPr txBox="1"/>
          <p:nvPr/>
        </p:nvSpPr>
        <p:spPr>
          <a:xfrm>
            <a:off x="1191405" y="6721768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틀린 부분 →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small_counter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general_counter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정답 →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small_counter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&gt;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general_counter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853A567-4E87-305D-8DCC-4007DFB97F97}"/>
              </a:ext>
            </a:extLst>
          </p:cNvPr>
          <p:cNvSpPr txBox="1">
            <a:spLocks/>
          </p:cNvSpPr>
          <p:nvPr/>
        </p:nvSpPr>
        <p:spPr>
          <a:xfrm>
            <a:off x="971339" y="2525406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2_</a:t>
            </a:r>
            <a:r>
              <a:rPr lang="ko-KR" altLang="en-US" sz="1050" b="0" dirty="0"/>
              <a:t>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격파 성공 횟수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달리기 기록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사격 점수 리스트 이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이 학생이 얻은 총 점수를 구하는 함수의 빈칸을 채워 프로그램을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39BB99-7314-0E84-7822-0CB95AFBF3FB}"/>
              </a:ext>
            </a:extLst>
          </p:cNvPr>
          <p:cNvSpPr txBox="1"/>
          <p:nvPr/>
        </p:nvSpPr>
        <p:spPr>
          <a:xfrm>
            <a:off x="1191406" y="3410725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첫 번째 빈칸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250</a:t>
            </a:r>
          </a:p>
          <a:p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두 번째 빈칸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100</a:t>
            </a: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6140BEF4-EE59-178F-D7FB-D0B0FF5FE958}"/>
              </a:ext>
            </a:extLst>
          </p:cNvPr>
          <p:cNvSpPr txBox="1">
            <a:spLocks/>
          </p:cNvSpPr>
          <p:nvPr/>
        </p:nvSpPr>
        <p:spPr>
          <a:xfrm>
            <a:off x="970723" y="3938763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3_</a:t>
            </a:r>
            <a:r>
              <a:rPr lang="ko-KR" altLang="en-US" sz="1050" b="0" dirty="0"/>
              <a:t>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가게 </a:t>
            </a:r>
            <a:r>
              <a:rPr lang="en-US" altLang="ko-KR" sz="1050" b="0" dirty="0"/>
              <a:t>A</a:t>
            </a:r>
            <a:r>
              <a:rPr lang="ko-KR" altLang="en-US" sz="1050" b="0" dirty="0"/>
              <a:t>의 주기 </a:t>
            </a:r>
            <a:r>
              <a:rPr lang="en-US" altLang="ko-KR" sz="1050" b="0" dirty="0"/>
              <a:t>a, </a:t>
            </a:r>
            <a:r>
              <a:rPr lang="ko-KR" altLang="en-US" sz="1050" b="0" dirty="0"/>
              <a:t>가게 </a:t>
            </a:r>
            <a:r>
              <a:rPr lang="en-US" altLang="ko-KR" sz="1050" b="0" dirty="0"/>
              <a:t>B</a:t>
            </a:r>
            <a:r>
              <a:rPr lang="ko-KR" altLang="en-US" sz="1050" b="0" dirty="0"/>
              <a:t>의 주기 </a:t>
            </a:r>
            <a:r>
              <a:rPr lang="en-US" altLang="ko-KR" sz="1050" b="0" dirty="0"/>
              <a:t>b</a:t>
            </a:r>
            <a:r>
              <a:rPr lang="ko-KR" altLang="en-US" sz="1050" b="0" dirty="0"/>
              <a:t>가 주어질 때 두 가게가 같은 날 처음으로 함께 할인하는 날짜를 반환하는 함수를 작성하려고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아래 코드는 거의 완성되었지만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한 줄에 계산 기준 오류가 있어 결과가 잘못 나옵니다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한 줄만 수정하여 모든 경우에서 올바른 요금이 계산되도록 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E002D8-E03B-9A4C-8C0F-821B960ACF92}"/>
              </a:ext>
            </a:extLst>
          </p:cNvPr>
          <p:cNvSpPr txBox="1"/>
          <p:nvPr/>
        </p:nvSpPr>
        <p:spPr>
          <a:xfrm>
            <a:off x="1191405" y="5257611"/>
            <a:ext cx="4709151" cy="24622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answer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endParaRPr lang="en-US" altLang="ko-KR" sz="1000" dirty="0">
              <a:solidFill>
                <a:srgbClr val="3C3836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4093A7E4-D03F-DA23-B023-A50977301515}"/>
              </a:ext>
            </a:extLst>
          </p:cNvPr>
          <p:cNvSpPr txBox="1">
            <a:spLocks/>
          </p:cNvSpPr>
          <p:nvPr/>
        </p:nvSpPr>
        <p:spPr>
          <a:xfrm>
            <a:off x="970722" y="726863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5_</a:t>
            </a:r>
            <a:r>
              <a:rPr lang="ko-KR" altLang="en-US" sz="1050" b="0" dirty="0" err="1"/>
              <a:t>한줄</a:t>
            </a:r>
            <a:r>
              <a:rPr lang="ko-KR" altLang="en-US" sz="1050" b="0" dirty="0"/>
              <a:t> 고치기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물 사용량이 </a:t>
            </a:r>
            <a:r>
              <a:rPr lang="en-US" altLang="ko-KR" sz="1050" b="0" dirty="0"/>
              <a:t>usage</a:t>
            </a:r>
            <a:r>
              <a:rPr lang="ko-KR" altLang="en-US" sz="1050" b="0" dirty="0"/>
              <a:t>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총 요금을 계산하는 함수를 작성하려고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아래 코드는 거의 완성되었지만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한 줄에 계산 기준 오류가 있어 결과가 잘못 나옵니다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한 줄만 수정하여 모든 경우에서 올바른 요금이 계산되도록 하세요</a:t>
            </a:r>
            <a:r>
              <a:rPr lang="en-US" altLang="ko-KR" sz="1050" b="0" dirty="0"/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595285-2635-EBCC-4021-4A13770CA1BA}"/>
              </a:ext>
            </a:extLst>
          </p:cNvPr>
          <p:cNvSpPr txBox="1"/>
          <p:nvPr/>
        </p:nvSpPr>
        <p:spPr>
          <a:xfrm>
            <a:off x="1114589" y="8316518"/>
            <a:ext cx="4505924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틀린 부분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(usage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840</a:t>
            </a:r>
            <a:endParaRPr lang="en-US" altLang="ko-KR" sz="1000" b="0" i="0" u="none" strike="noStrike" dirty="0">
              <a:solidFill>
                <a:srgbClr val="9D0006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정답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570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(usage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840</a:t>
            </a:r>
            <a:endParaRPr lang="en-US" altLang="ko-KR" sz="1000" dirty="0">
              <a:solidFill>
                <a:srgbClr val="3C383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77042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BE6B-AB21-B165-18FB-C8B65AE5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9C3A20-6046-8064-57CA-4E39D4475756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 정답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FCF0AD86-2203-AC16-A2EF-038A7B063DC3}"/>
              </a:ext>
            </a:extLst>
          </p:cNvPr>
          <p:cNvSpPr txBox="1">
            <a:spLocks/>
          </p:cNvSpPr>
          <p:nvPr/>
        </p:nvSpPr>
        <p:spPr>
          <a:xfrm>
            <a:off x="605579" y="1315249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6_</a:t>
            </a:r>
            <a:r>
              <a:rPr lang="ko-KR" altLang="en-US" sz="1050" b="0" dirty="0"/>
              <a:t>코드 작성하기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한 반의 학생들이 시험을 치렀습니다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학생들의 점수 리스트가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각 학생의 등수를 계산하려고 합니다</a:t>
            </a:r>
            <a:r>
              <a:rPr lang="en-US" altLang="ko-KR" sz="1050" b="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3655E-E46F-573E-EA62-2D3C0DF9D9C3}"/>
              </a:ext>
            </a:extLst>
          </p:cNvPr>
          <p:cNvSpPr txBox="1"/>
          <p:nvPr/>
        </p:nvSpPr>
        <p:spPr>
          <a:xfrm>
            <a:off x="825646" y="1997368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rank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score[j] &gt; score[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rank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rank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en-US" altLang="ko-KR" sz="1000" b="0" i="0" u="none" strike="noStrike" dirty="0">
              <a:solidFill>
                <a:srgbClr val="427B5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DAD5B8BD-9391-962A-6757-2AAB0A77A485}"/>
              </a:ext>
            </a:extLst>
          </p:cNvPr>
          <p:cNvSpPr txBox="1">
            <a:spLocks/>
          </p:cNvSpPr>
          <p:nvPr/>
        </p:nvSpPr>
        <p:spPr>
          <a:xfrm>
            <a:off x="604963" y="3948923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7_</a:t>
            </a:r>
            <a:r>
              <a:rPr lang="ko-KR" altLang="en-US" sz="1050" b="0" dirty="0"/>
              <a:t>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번호표는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번 학생부터 순서대로 발급됩니다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끝까지 발급받지 못한 학생들의 번호를 오름차순 리스트로 반환하세요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1F9B47-CE0C-C70F-E07C-9A21CB72BBEC}"/>
              </a:ext>
            </a:extLst>
          </p:cNvPr>
          <p:cNvSpPr txBox="1"/>
          <p:nvPr/>
        </p:nvSpPr>
        <p:spPr>
          <a:xfrm>
            <a:off x="825645" y="4617531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첫 번째 빈칸 →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“X”: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두 번째 빈칸 →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000" dirty="0">
              <a:solidFill>
                <a:srgbClr val="427B58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9CEA50F2-DE56-82DC-E505-CED5E0791B0A}"/>
              </a:ext>
            </a:extLst>
          </p:cNvPr>
          <p:cNvSpPr txBox="1">
            <a:spLocks/>
          </p:cNvSpPr>
          <p:nvPr/>
        </p:nvSpPr>
        <p:spPr>
          <a:xfrm>
            <a:off x="604962" y="667935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P.68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9_</a:t>
            </a:r>
            <a:r>
              <a:rPr lang="ko-KR" altLang="en-US" sz="1050" b="0" dirty="0"/>
              <a:t> 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두 명의 학생 </a:t>
            </a:r>
            <a:r>
              <a:rPr lang="en-US" altLang="ko-KR" sz="1050" b="0" dirty="0"/>
              <a:t>A</a:t>
            </a:r>
            <a:r>
              <a:rPr lang="ko-KR" altLang="en-US" sz="1050" b="0" dirty="0"/>
              <a:t>와 </a:t>
            </a:r>
            <a:r>
              <a:rPr lang="en-US" altLang="ko-KR" sz="1050" b="0" dirty="0"/>
              <a:t>B</a:t>
            </a:r>
            <a:r>
              <a:rPr lang="ko-KR" altLang="en-US" sz="1050" b="0" dirty="0"/>
              <a:t>가 카드 게임을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카드는 알파벳 </a:t>
            </a:r>
            <a:r>
              <a:rPr lang="en-US" altLang="ko-KR" sz="1050" b="0" dirty="0"/>
              <a:t>a ~ e</a:t>
            </a:r>
            <a:r>
              <a:rPr lang="ko-KR" altLang="en-US" sz="1050" b="0" dirty="0"/>
              <a:t>로 이루어져 있으며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각 카드의 점수는 다음과 같습니다</a:t>
            </a:r>
            <a:r>
              <a:rPr lang="en-US" altLang="ko-KR" sz="1050" b="0" dirty="0"/>
              <a:t>. a → 1</a:t>
            </a:r>
            <a:r>
              <a:rPr lang="ko-KR" altLang="en-US" sz="1050" b="0" dirty="0"/>
              <a:t>점</a:t>
            </a:r>
            <a:r>
              <a:rPr lang="en-US" altLang="ko-KR" sz="1050" b="0" dirty="0"/>
              <a:t>, b → 2</a:t>
            </a:r>
            <a:r>
              <a:rPr lang="ko-KR" altLang="en-US" sz="1050" b="0" dirty="0"/>
              <a:t>점</a:t>
            </a:r>
            <a:r>
              <a:rPr lang="en-US" altLang="ko-KR" sz="1050" b="0" dirty="0"/>
              <a:t>, c → 3</a:t>
            </a:r>
            <a:r>
              <a:rPr lang="ko-KR" altLang="en-US" sz="1050" b="0" dirty="0"/>
              <a:t>점</a:t>
            </a:r>
            <a:r>
              <a:rPr lang="en-US" altLang="ko-KR" sz="1050" b="0" dirty="0"/>
              <a:t>, d → 4</a:t>
            </a:r>
            <a:r>
              <a:rPr lang="ko-KR" altLang="en-US" sz="1050" b="0" dirty="0"/>
              <a:t>점</a:t>
            </a:r>
            <a:r>
              <a:rPr lang="en-US" altLang="ko-KR" sz="1050" b="0" dirty="0"/>
              <a:t>, e → 5</a:t>
            </a:r>
            <a:r>
              <a:rPr lang="ko-KR" altLang="en-US" sz="1050" b="0" dirty="0"/>
              <a:t>점 두 학생은 번갈아 가며 카드 묶음에서 카드 한 장씩 가져갑니다</a:t>
            </a:r>
            <a:r>
              <a:rPr lang="en-US" altLang="ko-KR" sz="1050" b="0" dirty="0"/>
              <a:t>. A</a:t>
            </a:r>
            <a:r>
              <a:rPr lang="ko-KR" altLang="en-US" sz="1050" b="0" dirty="0"/>
              <a:t>가 먼저 시작하며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이후 </a:t>
            </a:r>
            <a:r>
              <a:rPr lang="en-US" altLang="ko-KR" sz="1050" b="0" dirty="0"/>
              <a:t>B → A → B </a:t>
            </a:r>
            <a:r>
              <a:rPr lang="ko-KR" altLang="en-US" sz="1050" b="0" dirty="0"/>
              <a:t>순서로 진행됩니다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각자 얻은 카드의 총점을 계산한 뒤</a:t>
            </a:r>
            <a:r>
              <a:rPr lang="en-US" altLang="ko-KR" sz="1050" b="0" dirty="0"/>
              <a:t>, A</a:t>
            </a:r>
            <a:r>
              <a:rPr lang="ko-KR" altLang="en-US" sz="1050" b="0" dirty="0"/>
              <a:t>가 이기면 </a:t>
            </a:r>
            <a:r>
              <a:rPr lang="en-US" altLang="ko-KR" sz="1050" b="0" dirty="0"/>
              <a:t>[1, A</a:t>
            </a:r>
            <a:r>
              <a:rPr lang="ko-KR" altLang="en-US" sz="1050" b="0" dirty="0"/>
              <a:t>의 점수</a:t>
            </a:r>
            <a:r>
              <a:rPr lang="en-US" altLang="ko-KR" sz="1050" b="0" dirty="0"/>
              <a:t>] B</a:t>
            </a:r>
            <a:r>
              <a:rPr lang="ko-KR" altLang="en-US" sz="1050" b="0" dirty="0"/>
              <a:t>가 이기면 </a:t>
            </a:r>
            <a:r>
              <a:rPr lang="en-US" altLang="ko-KR" sz="1050" b="0" dirty="0"/>
              <a:t>[2, B</a:t>
            </a:r>
            <a:r>
              <a:rPr lang="ko-KR" altLang="en-US" sz="1050" b="0" dirty="0"/>
              <a:t>의 점수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점수가 같으면 </a:t>
            </a:r>
            <a:r>
              <a:rPr lang="en-US" altLang="ko-KR" sz="1050" b="0" dirty="0"/>
              <a:t>[0, </a:t>
            </a:r>
            <a:r>
              <a:rPr lang="ko-KR" altLang="en-US" sz="1050" b="0" dirty="0"/>
              <a:t>점수</a:t>
            </a:r>
            <a:r>
              <a:rPr lang="en-US" altLang="ko-KR" sz="1050" b="0" dirty="0"/>
              <a:t>]</a:t>
            </a:r>
            <a:r>
              <a:rPr lang="ko-KR" altLang="en-US" sz="1050" b="0" dirty="0"/>
              <a:t>형태 로 반환하세요</a:t>
            </a:r>
            <a:r>
              <a:rPr lang="en-US" altLang="ko-KR" sz="1050" b="0" dirty="0"/>
              <a:t>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CDE23D-CE37-AF72-6A71-52084DB2C1E0}"/>
              </a:ext>
            </a:extLst>
          </p:cNvPr>
          <p:cNvSpPr txBox="1"/>
          <p:nvPr/>
        </p:nvSpPr>
        <p:spPr>
          <a:xfrm>
            <a:off x="825028" y="8270798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첫 번째 빈칸 → </a:t>
            </a:r>
            <a:r>
              <a:rPr lang="pt-B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a_cards = func_a(bundle, </a:t>
            </a:r>
            <a:r>
              <a:rPr lang="pt-BR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)[:n]</a:t>
            </a:r>
            <a:endParaRPr lang="en-US" altLang="ko-KR" sz="1000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두 번째 빈칸 →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b_cards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(bundle,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)[:n]</a:t>
            </a:r>
          </a:p>
        </p:txBody>
      </p:sp>
      <p:sp>
        <p:nvSpPr>
          <p:cNvPr id="37" name="내용 개체 틀 2">
            <a:extLst>
              <a:ext uri="{FF2B5EF4-FFF2-40B4-BE49-F238E27FC236}">
                <a16:creationId xmlns:a16="http://schemas.microsoft.com/office/drawing/2014/main" id="{B4C3A5E1-ADC9-2FEC-0B6D-13F535656B3B}"/>
              </a:ext>
            </a:extLst>
          </p:cNvPr>
          <p:cNvSpPr txBox="1">
            <a:spLocks/>
          </p:cNvSpPr>
          <p:nvPr/>
        </p:nvSpPr>
        <p:spPr>
          <a:xfrm>
            <a:off x="604346" y="5274591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P.67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8_</a:t>
            </a:r>
            <a:r>
              <a:rPr lang="ko-KR" altLang="en-US" sz="1050" b="0" dirty="0"/>
              <a:t>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여러 명의 점수가 리스트로 주어질 때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최종 합격 인원 수를 구하는 프로그램을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063C32-8317-7E3B-16E1-5DB715B52633}"/>
              </a:ext>
            </a:extLst>
          </p:cNvPr>
          <p:cNvSpPr txBox="1"/>
          <p:nvPr/>
        </p:nvSpPr>
        <p:spPr>
          <a:xfrm>
            <a:off x="825028" y="5943199"/>
            <a:ext cx="4709151" cy="55399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첫 번째 빈칸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passed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count_passed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s ) </a:t>
            </a: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두 번째 빈칸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failed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count_failed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s )</a:t>
            </a: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세 번째 빈칸 →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check_pass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 passed, failed ):</a:t>
            </a:r>
            <a:endParaRPr lang="en-US" altLang="ko-KR" sz="1000" dirty="0">
              <a:solidFill>
                <a:srgbClr val="427B58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93118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8662-9C89-A871-F7D2-61AE9B1BA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4B7F4-8AF5-A2F0-119D-957F0507C4BD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 정답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A25E5-AB6C-C6D4-B341-26031A606F59}"/>
              </a:ext>
            </a:extLst>
          </p:cNvPr>
          <p:cNvSpPr txBox="1"/>
          <p:nvPr/>
        </p:nvSpPr>
        <p:spPr>
          <a:xfrm>
            <a:off x="1191406" y="1387768"/>
            <a:ext cx="4709151" cy="55399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세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번째 빈칸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→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a_score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a_cards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네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번째 빈칸 →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b_score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b_cards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다섯 번째 빈칸 →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a_score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b_score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000" b="0" i="0" u="none" strike="noStrike" dirty="0">
              <a:solidFill>
                <a:srgbClr val="427B5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A64697B-CD7B-121A-0710-50BBEF93A696}"/>
              </a:ext>
            </a:extLst>
          </p:cNvPr>
          <p:cNvSpPr txBox="1">
            <a:spLocks/>
          </p:cNvSpPr>
          <p:nvPr/>
        </p:nvSpPr>
        <p:spPr>
          <a:xfrm>
            <a:off x="971339" y="2119006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10_</a:t>
            </a:r>
            <a:r>
              <a:rPr lang="ko-KR" altLang="en-US" sz="1050" b="0" dirty="0"/>
              <a:t>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학교에서 여러 교실을 대상으로 소그룹 실습 수업을 동시에 진행하려고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한 조는 최대 </a:t>
            </a:r>
            <a:r>
              <a:rPr lang="en-US" altLang="ko-KR" sz="1050" b="0" dirty="0"/>
              <a:t>m</a:t>
            </a:r>
            <a:r>
              <a:rPr lang="ko-KR" altLang="en-US" sz="1050" b="0" dirty="0"/>
              <a:t>명까지 담당할 수 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각 교실의 학생 수가 담긴 리스트 </a:t>
            </a:r>
            <a:r>
              <a:rPr lang="en-US" altLang="ko-KR" sz="1050" b="0" dirty="0"/>
              <a:t>classes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모든 교실에서 수업을 진행하기 위해 필요한 전체 조의 수를 구하세요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49D89-67F3-F3BF-5716-454C93522D9D}"/>
              </a:ext>
            </a:extLst>
          </p:cNvPr>
          <p:cNvSpPr txBox="1"/>
          <p:nvPr/>
        </p:nvSpPr>
        <p:spPr>
          <a:xfrm>
            <a:off x="1191406" y="3217685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첫 번째 빈칸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 += students // m</a:t>
            </a:r>
          </a:p>
          <a:p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두 번째 빈칸 →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students % m !=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0562B58-7A67-61FF-2F15-F50715ACCFA7}"/>
              </a:ext>
            </a:extLst>
          </p:cNvPr>
          <p:cNvSpPr txBox="1">
            <a:spLocks/>
          </p:cNvSpPr>
          <p:nvPr/>
        </p:nvSpPr>
        <p:spPr>
          <a:xfrm>
            <a:off x="970723" y="3938763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11_</a:t>
            </a:r>
            <a:r>
              <a:rPr lang="ko-KR" altLang="en-US" sz="1050" b="0" dirty="0" err="1"/>
              <a:t>한줄</a:t>
            </a:r>
            <a:r>
              <a:rPr lang="ko-KR" altLang="en-US" sz="1050" b="0" dirty="0"/>
              <a:t> 고치기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동아리에서 여러 개의 음원 파일 편집 작업을 진행했습니다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각 파일마다 편집 전 길이와 편집 후 길이가 기록되어 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이 데이터를 이용해 다음 두 가지를 구하려고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가장 많이 길어졌던 파일의 </a:t>
            </a:r>
            <a:r>
              <a:rPr lang="ko-KR" altLang="en-US" sz="1050" b="0" dirty="0" err="1"/>
              <a:t>증가량</a:t>
            </a:r>
            <a:r>
              <a:rPr lang="ko-KR" altLang="en-US" sz="1050" b="0" dirty="0"/>
              <a:t> 가장 많이 짧아졌던 파일의 감소량 </a:t>
            </a:r>
            <a:r>
              <a:rPr lang="ko-KR" altLang="en-US" sz="1050" b="0" dirty="0" err="1"/>
              <a:t>증가량과</a:t>
            </a:r>
            <a:r>
              <a:rPr lang="ko-KR" altLang="en-US" sz="1050" b="0" dirty="0"/>
              <a:t> 감소량은 모두 편집 후 길이 </a:t>
            </a:r>
            <a:r>
              <a:rPr lang="en-US" altLang="ko-KR" sz="1050" b="0" dirty="0"/>
              <a:t>- </a:t>
            </a:r>
            <a:r>
              <a:rPr lang="ko-KR" altLang="en-US" sz="1050" b="0" dirty="0"/>
              <a:t>편집 전 길이 로 계산합니다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아래 코드는 이 값을 구하기 위한 프로그램이지만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한 줄에 오류가 있어 일부 입력에서 올바른 결과가 나오지 않습니다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딱 한 줄만 수정하여 프로그램을 완성하세요</a:t>
            </a:r>
            <a:endParaRPr lang="en-US" altLang="ko-KR" sz="105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A4A829-F2B4-DB03-9AB7-435A84FBD840}"/>
              </a:ext>
            </a:extLst>
          </p:cNvPr>
          <p:cNvSpPr txBox="1"/>
          <p:nvPr/>
        </p:nvSpPr>
        <p:spPr>
          <a:xfrm>
            <a:off x="1191405" y="5755451"/>
            <a:ext cx="4709151" cy="24622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answer = min(answer, a - b)  </a:t>
            </a:r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BC7E44EC-E336-BDD8-4F2E-E71192C9A1FC}"/>
              </a:ext>
            </a:extLst>
          </p:cNvPr>
          <p:cNvSpPr txBox="1">
            <a:spLocks/>
          </p:cNvSpPr>
          <p:nvPr/>
        </p:nvSpPr>
        <p:spPr>
          <a:xfrm>
            <a:off x="970722" y="617135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12_</a:t>
            </a:r>
            <a:r>
              <a:rPr lang="ko-KR" altLang="en-US" sz="1050" b="0" dirty="0" err="1"/>
              <a:t>한줄</a:t>
            </a:r>
            <a:r>
              <a:rPr lang="ko-KR" altLang="en-US" sz="1050" b="0" dirty="0"/>
              <a:t> 고치기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학교 동아리에서 대표 스티커 뽑기를 진행했습니다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학생들은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번부터 </a:t>
            </a:r>
            <a:r>
              <a:rPr lang="en-US" altLang="ko-KR" sz="1050" b="0" dirty="0"/>
              <a:t>n</a:t>
            </a:r>
            <a:r>
              <a:rPr lang="ko-KR" altLang="en-US" sz="1050" b="0" dirty="0"/>
              <a:t>번까지 후보 중 한 명에게 스티커를 줍니다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스티커 결과가 담긴 리스트 </a:t>
            </a:r>
            <a:r>
              <a:rPr lang="en-US" altLang="ko-KR" sz="1050" b="0" dirty="0"/>
              <a:t>votes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어떤 후보가 전체 스티커의 절반을 초과해서 받으면 그 후보가 대표가 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그런 후보가 없다면 </a:t>
            </a:r>
            <a:r>
              <a:rPr lang="en-US" altLang="ko-KR" sz="1050" b="0" dirty="0"/>
              <a:t>-1</a:t>
            </a:r>
            <a:r>
              <a:rPr lang="ko-KR" altLang="en-US" sz="1050" b="0" dirty="0"/>
              <a:t>을 반환합니다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아래 코드는 대표 후보를 찾기 위해 작성되었지만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한 줄에 오류가 있어 일부 입력에서 정답이 틀립니다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딱 한 줄만 수정해서 올바르게 동작하도록 고치세요</a:t>
            </a:r>
            <a:r>
              <a:rPr lang="en-US" altLang="ko-KR" sz="1050" b="0" dirty="0"/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BA4F6F-E786-56B2-AD52-2D732E3A1DD3}"/>
              </a:ext>
            </a:extLst>
          </p:cNvPr>
          <p:cNvSpPr txBox="1"/>
          <p:nvPr/>
        </p:nvSpPr>
        <p:spPr>
          <a:xfrm>
            <a:off x="1190788" y="7778038"/>
            <a:ext cx="4709151" cy="24622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test_count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+= 1</a:t>
            </a:r>
          </a:p>
        </p:txBody>
      </p:sp>
    </p:spTree>
    <p:extLst>
      <p:ext uri="{BB962C8B-B14F-4D97-AF65-F5344CB8AC3E}">
        <p14:creationId xmlns:p14="http://schemas.microsoft.com/office/powerpoint/2010/main" val="236519315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38900-79CC-D3A3-4BB9-6487DE6B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5DDF0C-F179-8F3E-C093-6D02680FB626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 정답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DADEC870-16B7-AC53-222D-88B5AE9868C8}"/>
              </a:ext>
            </a:extLst>
          </p:cNvPr>
          <p:cNvSpPr txBox="1">
            <a:spLocks/>
          </p:cNvSpPr>
          <p:nvPr/>
        </p:nvSpPr>
        <p:spPr>
          <a:xfrm>
            <a:off x="605579" y="1315249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13_</a:t>
            </a:r>
            <a:r>
              <a:rPr lang="ko-KR" altLang="en-US" sz="1050" b="0" dirty="0"/>
              <a:t>코드 작성하기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캠프장에서 </a:t>
            </a:r>
            <a:r>
              <a:rPr lang="en-US" altLang="ko-KR" sz="1050" b="0" dirty="0"/>
              <a:t>4×4 </a:t>
            </a:r>
            <a:r>
              <a:rPr lang="ko-KR" altLang="en-US" sz="1050" b="0" dirty="0"/>
              <a:t>텐트 자리를 배치하려고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각 칸에는 “지면 </a:t>
            </a:r>
            <a:r>
              <a:rPr lang="ko-KR" altLang="en-US" sz="1050" b="0" dirty="0" err="1"/>
              <a:t>높이”가</a:t>
            </a:r>
            <a:r>
              <a:rPr lang="ko-KR" altLang="en-US" sz="1050" b="0" dirty="0"/>
              <a:t> 기록되어 있으며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어떤 칸이 주변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상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하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우</a:t>
            </a:r>
            <a:r>
              <a:rPr lang="en-US" altLang="ko-KR" sz="1050" b="0" dirty="0"/>
              <a:t>) </a:t>
            </a:r>
            <a:r>
              <a:rPr lang="ko-KR" altLang="en-US" sz="1050" b="0" dirty="0"/>
              <a:t>칸들보다 높으면 그 칸은 바람이 잘 통하는 전망 좋은 자리가 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단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가장자리 칸은 인접한 칸이 부족하므로 전망 좋은 자리로 인정하지 않습니다</a:t>
            </a:r>
            <a:r>
              <a:rPr lang="en-US" altLang="ko-KR" sz="1050" b="0" dirty="0"/>
              <a:t>.(</a:t>
            </a:r>
            <a:r>
              <a:rPr lang="ko-KR" altLang="en-US" sz="1050" b="0" dirty="0"/>
              <a:t>즉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가운데 </a:t>
            </a:r>
            <a:r>
              <a:rPr lang="en-US" altLang="ko-KR" sz="1050" b="0" dirty="0"/>
              <a:t>2×2 </a:t>
            </a:r>
            <a:r>
              <a:rPr lang="ko-KR" altLang="en-US" sz="1050" b="0" dirty="0"/>
              <a:t>영역만 검사</a:t>
            </a:r>
            <a:r>
              <a:rPr lang="en-US" altLang="ko-KR" sz="1050" b="0" dirty="0"/>
              <a:t>) 4×4 </a:t>
            </a:r>
            <a:r>
              <a:rPr lang="ko-KR" altLang="en-US" sz="1050" b="0" dirty="0"/>
              <a:t>높이 정보가 담긴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차원 리스트 </a:t>
            </a:r>
            <a:r>
              <a:rPr lang="en-US" altLang="ko-KR" sz="1050" b="0" dirty="0"/>
              <a:t>height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</a:t>
            </a:r>
            <a:r>
              <a:rPr lang="ko-KR" altLang="en-US" sz="1050" b="0" dirty="0"/>
              <a:t>전망 좋은 자리의 개수를 반환하는 </a:t>
            </a:r>
            <a:r>
              <a:rPr lang="en-US" altLang="ko-KR" sz="1050" b="0" dirty="0"/>
              <a:t>solution(height)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844D73-DCC0-27CD-872E-94A051AAF97F}"/>
              </a:ext>
            </a:extLst>
          </p:cNvPr>
          <p:cNvSpPr txBox="1"/>
          <p:nvPr/>
        </p:nvSpPr>
        <p:spPr>
          <a:xfrm>
            <a:off x="825646" y="3023528"/>
            <a:ext cx="4708533" cy="286232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36A166"/>
                </a:solidFill>
                <a:latin typeface="Consolas" panose="020B0609020204030204" pitchFamily="49" charset="0"/>
              </a:rPr>
              <a:t>solution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(height)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count = 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0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board = [[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50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 * 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_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range(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)]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range(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):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j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range(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):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        board[i+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][j+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 = height[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][j]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range(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5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):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j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range(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5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):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(board[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][j] &gt; board[i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-1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][j]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and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board[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][j] &gt; board[i+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][j]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and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            board[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][j] &gt; board[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-1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and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board[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][j] &gt; board[</a:t>
            </a:r>
            <a:r>
              <a:rPr lang="en-US" altLang="ko-KR" sz="1000" dirty="0" err="1">
                <a:solidFill>
                  <a:srgbClr val="5F5E4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][j+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] ):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            count += </a:t>
            </a:r>
            <a:r>
              <a:rPr lang="en-US" altLang="ko-KR" sz="1000" dirty="0">
                <a:solidFill>
                  <a:srgbClr val="AE7313"/>
                </a:solidFill>
                <a:latin typeface="Consolas" panose="020B0609020204030204" pitchFamily="49" charset="0"/>
              </a:rPr>
              <a:t>1</a:t>
            </a: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5F9182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5F5E4E"/>
                </a:solidFill>
                <a:latin typeface="Consolas" panose="020B0609020204030204" pitchFamily="49" charset="0"/>
              </a:rPr>
              <a:t> count</a:t>
            </a:r>
            <a:endParaRPr lang="en-US" altLang="ko-KR" sz="1000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E28B6A64-82A1-BADE-9503-5D3801403827}"/>
              </a:ext>
            </a:extLst>
          </p:cNvPr>
          <p:cNvSpPr txBox="1">
            <a:spLocks/>
          </p:cNvSpPr>
          <p:nvPr/>
        </p:nvSpPr>
        <p:spPr>
          <a:xfrm>
            <a:off x="604962" y="615103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14_</a:t>
            </a:r>
            <a:r>
              <a:rPr lang="ko-KR" altLang="en-US" sz="1050" b="0" dirty="0"/>
              <a:t> 빈칸 채우기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동아리에서 미니 퀴즈 대회를 열었습니다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참가자들의 점수는 </a:t>
            </a:r>
            <a:r>
              <a:rPr lang="en-US" altLang="ko-KR" sz="1050" b="0" dirty="0"/>
              <a:t>scores </a:t>
            </a:r>
            <a:r>
              <a:rPr lang="ko-KR" altLang="en-US" sz="1050" b="0" dirty="0"/>
              <a:t>리스트에 저장되어 있고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참가자 번호는 </a:t>
            </a:r>
            <a:r>
              <a:rPr lang="en-US" altLang="ko-KR" sz="1050" b="0" dirty="0"/>
              <a:t>0</a:t>
            </a:r>
            <a:r>
              <a:rPr lang="ko-KR" altLang="en-US" sz="1050" b="0" dirty="0"/>
              <a:t>번부터 시작합니다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당신은 </a:t>
            </a:r>
            <a:r>
              <a:rPr lang="en-US" altLang="ko-KR" sz="1050" b="0" dirty="0"/>
              <a:t>n</a:t>
            </a:r>
            <a:r>
              <a:rPr lang="ko-KR" altLang="en-US" sz="1050" b="0" dirty="0"/>
              <a:t>번 참가자가 몇 등인지 알고 싶습니다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등수는 점수를 높은 점수부터 정렬했을 때의 위치로 계산합니다</a:t>
            </a:r>
            <a:r>
              <a:rPr lang="en-US" altLang="ko-KR" sz="1050" b="0" dirty="0"/>
              <a:t>.(</a:t>
            </a:r>
            <a:r>
              <a:rPr lang="ko-KR" altLang="en-US" sz="1050" b="0" dirty="0"/>
              <a:t>점수는 모두 다르다고 가정합니다</a:t>
            </a:r>
            <a:r>
              <a:rPr lang="en-US" altLang="ko-KR" sz="1050" b="0" dirty="0"/>
              <a:t>.)scores</a:t>
            </a:r>
            <a:r>
              <a:rPr lang="ko-KR" altLang="en-US" sz="1050" b="0" dirty="0"/>
              <a:t>와 참가자 번호 </a:t>
            </a:r>
            <a:r>
              <a:rPr lang="en-US" altLang="ko-KR" sz="1050" b="0" dirty="0"/>
              <a:t>n</a:t>
            </a:r>
            <a:r>
              <a:rPr lang="ko-KR" altLang="en-US" sz="1050" b="0" dirty="0"/>
              <a:t>이 주어질 때</a:t>
            </a:r>
            <a:r>
              <a:rPr lang="en-US" altLang="ko-KR" sz="1050" b="0" dirty="0"/>
              <a:t>, n</a:t>
            </a:r>
            <a:r>
              <a:rPr lang="ko-KR" altLang="en-US" sz="1050" b="0" dirty="0"/>
              <a:t>번 참가자의 등수를 반환하는 </a:t>
            </a:r>
            <a:r>
              <a:rPr lang="en-US" altLang="ko-KR" sz="1050" b="0" dirty="0"/>
              <a:t>solution(scores, n) </a:t>
            </a:r>
            <a:r>
              <a:rPr lang="ko-KR" altLang="en-US" sz="1050" b="0" dirty="0"/>
              <a:t>함수를 완성하세요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아래에 주어진 </a:t>
            </a:r>
            <a:r>
              <a:rPr lang="en-US" altLang="ko-KR" sz="1050" b="0" dirty="0" err="1"/>
              <a:t>func_a</a:t>
            </a:r>
            <a:r>
              <a:rPr lang="en-US" altLang="ko-KR" sz="1050" b="0" dirty="0"/>
              <a:t>, </a:t>
            </a:r>
            <a:r>
              <a:rPr lang="en-US" altLang="ko-KR" sz="1050" b="0" dirty="0" err="1"/>
              <a:t>func_b</a:t>
            </a:r>
            <a:r>
              <a:rPr lang="en-US" altLang="ko-KR" sz="1050" b="0" dirty="0"/>
              <a:t>, </a:t>
            </a:r>
            <a:r>
              <a:rPr lang="en-US" altLang="ko-KR" sz="1050" b="0" dirty="0" err="1"/>
              <a:t>func_c</a:t>
            </a:r>
            <a:r>
              <a:rPr lang="ko-KR" altLang="en-US" sz="1050" b="0" dirty="0"/>
              <a:t>를 활용할 수 있도록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함수의 빈칸을 채우세요</a:t>
            </a:r>
            <a:r>
              <a:rPr lang="en-US" altLang="ko-KR" sz="1050" b="0" dirty="0"/>
              <a:t>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66A052-B60C-64C6-A204-9E9C9ED18C1D}"/>
              </a:ext>
            </a:extLst>
          </p:cNvPr>
          <p:cNvSpPr txBox="1"/>
          <p:nvPr/>
        </p:nvSpPr>
        <p:spPr>
          <a:xfrm>
            <a:off x="825028" y="7940598"/>
            <a:ext cx="4709151" cy="55399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첫 번째 빈칸 → </a:t>
            </a:r>
            <a:r>
              <a:rPr lang="pt-B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score = func_a(scores, n - </a:t>
            </a:r>
            <a:r>
              <a:rPr lang="pt-BR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두 번째 빈칸 →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(scores)</a:t>
            </a: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세 번째 빈칸 →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(scores, score)</a:t>
            </a:r>
          </a:p>
        </p:txBody>
      </p:sp>
    </p:spTree>
    <p:extLst>
      <p:ext uri="{BB962C8B-B14F-4D97-AF65-F5344CB8AC3E}">
        <p14:creationId xmlns:p14="http://schemas.microsoft.com/office/powerpoint/2010/main" val="195059884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4C17-9FA2-22A0-73B4-3DE3AFDD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FA819-700F-4C01-0841-CD07B8C92182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 정답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B17AA24-64DD-C1F1-F319-E08599A6A219}"/>
              </a:ext>
            </a:extLst>
          </p:cNvPr>
          <p:cNvSpPr txBox="1">
            <a:spLocks/>
          </p:cNvSpPr>
          <p:nvPr/>
        </p:nvSpPr>
        <p:spPr>
          <a:xfrm>
            <a:off x="971339" y="1285886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15_</a:t>
            </a:r>
            <a:r>
              <a:rPr lang="ko-KR" altLang="en-US" sz="1050" b="0" dirty="0"/>
              <a:t>코드 작성하기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학교 축제에서 장기자랑 심사를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한 참가자에게 여러 심사위원이 점수를 주는데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너무 높게</a:t>
            </a:r>
            <a:r>
              <a:rPr lang="en-US" altLang="ko-KR" sz="1050" b="0" dirty="0"/>
              <a:t>/</a:t>
            </a:r>
            <a:r>
              <a:rPr lang="ko-KR" altLang="en-US" sz="1050" b="0" dirty="0"/>
              <a:t>낮게 준 점수는 공정하지 않을 수 있어 가장 높은 점수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개와 가장 낮은 점수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개를 제외하고 나머지 점수의 평균으로 최종 점수를 정합니다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단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평균을 계산한 뒤 소수점 이하는 버립니다</a:t>
            </a:r>
            <a:r>
              <a:rPr lang="en-US" altLang="ko-KR" sz="1050" b="0" dirty="0"/>
              <a:t>. (</a:t>
            </a:r>
            <a:r>
              <a:rPr lang="ko-KR" altLang="en-US" sz="1050" b="0" dirty="0"/>
              <a:t>정수 부분만 사용</a:t>
            </a:r>
            <a:r>
              <a:rPr lang="en-US" altLang="ko-KR" sz="1050" b="0" dirty="0"/>
              <a:t>) </a:t>
            </a:r>
            <a:r>
              <a:rPr lang="ko-KR" altLang="en-US" sz="1050" b="0" dirty="0"/>
              <a:t>심사 점수들이 담긴 리스트 </a:t>
            </a:r>
            <a:r>
              <a:rPr lang="en-US" altLang="ko-KR" sz="1050" b="0" dirty="0"/>
              <a:t>scores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최종 점수를 반환하는 </a:t>
            </a:r>
            <a:r>
              <a:rPr lang="en-US" altLang="ko-KR" sz="1050" b="0" dirty="0"/>
              <a:t>solution(scores)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16BBD-3D9C-FEFD-86EA-BF6B76B9C38F}"/>
              </a:ext>
            </a:extLst>
          </p:cNvPr>
          <p:cNvSpPr txBox="1"/>
          <p:nvPr/>
        </p:nvSpPr>
        <p:spPr>
          <a:xfrm>
            <a:off x="1191406" y="2882405"/>
            <a:ext cx="4709151" cy="255454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def </a:t>
            </a:r>
            <a:r>
              <a:rPr lang="en-US" altLang="ko-KR" sz="1000" dirty="0">
                <a:solidFill>
                  <a:srgbClr val="076678"/>
                </a:solidFill>
                <a:latin typeface="Consolas" panose="020B0609020204030204" pitchFamily="49" charset="0"/>
              </a:rPr>
              <a:t>solution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(scores)</a:t>
            </a: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max_v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scores[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min_v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scores[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total 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s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scores: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total += s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s &gt;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max_v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max_v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s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s &lt;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min_v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min_v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s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total = total -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max_v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-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min_v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cnt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(scores) -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total //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cnt</a:t>
            </a:r>
            <a:endParaRPr lang="ko-KR" altLang="en-US" sz="1000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89E2DC42-5208-CE6D-A000-00A84EFDA38B}"/>
              </a:ext>
            </a:extLst>
          </p:cNvPr>
          <p:cNvSpPr txBox="1">
            <a:spLocks/>
          </p:cNvSpPr>
          <p:nvPr/>
        </p:nvSpPr>
        <p:spPr>
          <a:xfrm>
            <a:off x="970722" y="559223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16_</a:t>
            </a:r>
            <a:r>
              <a:rPr lang="ko-KR" altLang="en-US" sz="1050" b="0" dirty="0"/>
              <a:t> 코드 작성하기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정상 스티커 문구 </a:t>
            </a:r>
            <a:r>
              <a:rPr lang="en-US" altLang="ko-KR" sz="1050" b="0" dirty="0"/>
              <a:t>word</a:t>
            </a:r>
            <a:r>
              <a:rPr lang="ko-KR" altLang="en-US" sz="1050" b="0" dirty="0"/>
              <a:t>가 주어지고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이미 출력된 스티커 문구들이 </a:t>
            </a:r>
            <a:r>
              <a:rPr lang="en-US" altLang="ko-KR" sz="1050" b="0" dirty="0"/>
              <a:t>words </a:t>
            </a:r>
            <a:r>
              <a:rPr lang="ko-KR" altLang="en-US" sz="1050" b="0" dirty="0"/>
              <a:t>리스트에 들어 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각 스티커 문구를 정상 문구로 바꾸려면 몇 글자를 바꿔야 하는지 세어야 합니다</a:t>
            </a:r>
            <a:r>
              <a:rPr lang="en-US" altLang="ko-KR" sz="1050" b="0" dirty="0"/>
              <a:t>.(</a:t>
            </a:r>
            <a:r>
              <a:rPr lang="ko-KR" altLang="en-US" sz="1050" b="0" dirty="0"/>
              <a:t>같은 위치의 글자가 다르면 </a:t>
            </a:r>
            <a:r>
              <a:rPr lang="en-US" altLang="ko-KR" sz="1050" b="0" dirty="0"/>
              <a:t>1</a:t>
            </a:r>
            <a:r>
              <a:rPr lang="ko-KR" altLang="en-US" sz="1050" b="0" dirty="0"/>
              <a:t>개를 바꿔야 함</a:t>
            </a:r>
            <a:r>
              <a:rPr lang="en-US" altLang="ko-KR" sz="1050" b="0" dirty="0"/>
              <a:t>) words</a:t>
            </a:r>
            <a:r>
              <a:rPr lang="ko-KR" altLang="en-US" sz="1050" b="0" dirty="0"/>
              <a:t>와 </a:t>
            </a:r>
            <a:r>
              <a:rPr lang="en-US" altLang="ko-KR" sz="1050" b="0" dirty="0"/>
              <a:t>word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모든 스티커를 정상 문구로 만들기 위해 바꿔야 하는 글자 수의 합을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하는 </a:t>
            </a:r>
            <a:r>
              <a:rPr lang="en-US" altLang="ko-KR" sz="1050" b="0" dirty="0"/>
              <a:t>solution(words, word)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EDF490-69BF-0783-A66F-D3519EF77588}"/>
              </a:ext>
            </a:extLst>
          </p:cNvPr>
          <p:cNvSpPr txBox="1"/>
          <p:nvPr/>
        </p:nvSpPr>
        <p:spPr>
          <a:xfrm>
            <a:off x="1190788" y="7198918"/>
            <a:ext cx="4709151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def </a:t>
            </a:r>
            <a:r>
              <a:rPr lang="en-US" altLang="ko-KR" sz="1000" dirty="0">
                <a:solidFill>
                  <a:srgbClr val="076678"/>
                </a:solidFill>
                <a:latin typeface="Consolas" panose="020B0609020204030204" pitchFamily="49" charset="0"/>
              </a:rPr>
              <a:t>solution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(words, word)</a:t>
            </a: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count 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w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words: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range(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(word)):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w[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 != word[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    count +=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count</a:t>
            </a:r>
          </a:p>
        </p:txBody>
      </p:sp>
    </p:spTree>
    <p:extLst>
      <p:ext uri="{BB962C8B-B14F-4D97-AF65-F5344CB8AC3E}">
        <p14:creationId xmlns:p14="http://schemas.microsoft.com/office/powerpoint/2010/main" val="6317561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C7B8-FE3A-38AC-1D69-5DD7E645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C5BAA39-FD27-0F11-B3FE-FC1F98D33CC4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알고리즘 심화 문제 정답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DFBEB65C-8FFF-4DA9-3584-DB765F57CC15}"/>
              </a:ext>
            </a:extLst>
          </p:cNvPr>
          <p:cNvSpPr txBox="1">
            <a:spLocks/>
          </p:cNvSpPr>
          <p:nvPr/>
        </p:nvSpPr>
        <p:spPr>
          <a:xfrm>
            <a:off x="605579" y="1315249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17_</a:t>
            </a:r>
            <a:r>
              <a:rPr lang="ko-KR" altLang="en-US" sz="1050" b="0" dirty="0"/>
              <a:t>코드 작성하기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여행 멤버의 나이 리스트 </a:t>
            </a:r>
            <a:r>
              <a:rPr lang="en-US" altLang="ko-KR" sz="1050" b="0" dirty="0" err="1"/>
              <a:t>member_age</a:t>
            </a:r>
            <a:r>
              <a:rPr lang="ko-KR" altLang="en-US" sz="1050" b="0" dirty="0"/>
              <a:t>와 이동 수단 </a:t>
            </a:r>
            <a:r>
              <a:rPr lang="en-US" altLang="ko-KR" sz="1050" b="0" dirty="0"/>
              <a:t>transportation</a:t>
            </a:r>
            <a:r>
              <a:rPr lang="ko-KR" altLang="en-US" sz="1050" b="0" dirty="0"/>
              <a:t>이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총 이동비를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하는 </a:t>
            </a:r>
            <a:r>
              <a:rPr lang="en-US" altLang="ko-KR" sz="1050" b="0" dirty="0"/>
              <a:t>solution(</a:t>
            </a:r>
            <a:r>
              <a:rPr lang="en-US" altLang="ko-KR" sz="1050" b="0" dirty="0" err="1"/>
              <a:t>member_age</a:t>
            </a:r>
            <a:r>
              <a:rPr lang="en-US" altLang="ko-KR" sz="1050" b="0" dirty="0"/>
              <a:t>, transportation) </a:t>
            </a:r>
            <a:r>
              <a:rPr lang="ko-KR" altLang="en-US" sz="1050" b="0" dirty="0"/>
              <a:t>함수의 빈칸을 채워 프로그램을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EA336662-A6F8-FA7B-ADA8-3FF208B52CB3}"/>
              </a:ext>
            </a:extLst>
          </p:cNvPr>
          <p:cNvSpPr txBox="1">
            <a:spLocks/>
          </p:cNvSpPr>
          <p:nvPr/>
        </p:nvSpPr>
        <p:spPr>
          <a:xfrm>
            <a:off x="604962" y="296079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P.79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18_</a:t>
            </a:r>
            <a:r>
              <a:rPr lang="ko-KR" altLang="en-US" sz="1050" b="0" dirty="0"/>
              <a:t> 빈칸 채우기</a:t>
            </a:r>
            <a:r>
              <a:rPr lang="en-US" altLang="ko-KR" sz="1050" b="0" dirty="0"/>
              <a:t>] </a:t>
            </a:r>
            <a:r>
              <a:rPr lang="en-US" altLang="ko-KR" sz="1050" b="0" dirty="0" err="1"/>
              <a:t>tile_length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가능한 경우</a:t>
            </a:r>
            <a:r>
              <a:rPr lang="en-US" altLang="ko-KR" sz="1050" b="0" dirty="0"/>
              <a:t>: </a:t>
            </a:r>
            <a:r>
              <a:rPr lang="ko-KR" altLang="en-US" sz="1050" b="0" dirty="0"/>
              <a:t>색칠한 결과를 문자열로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불가능한 경우</a:t>
            </a:r>
            <a:r>
              <a:rPr lang="en-US" altLang="ko-KR" sz="1050" b="0" dirty="0"/>
              <a:t>: "-1"</a:t>
            </a:r>
            <a:r>
              <a:rPr lang="ko-KR" altLang="en-US" sz="1050" b="0" dirty="0"/>
              <a:t>을 </a:t>
            </a:r>
            <a:r>
              <a:rPr lang="en-US" altLang="ko-KR" sz="1050" b="0" dirty="0"/>
              <a:t>return.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F52ACD-D013-4C56-E467-67EE78AB06CB}"/>
              </a:ext>
            </a:extLst>
          </p:cNvPr>
          <p:cNvSpPr txBox="1"/>
          <p:nvPr/>
        </p:nvSpPr>
        <p:spPr>
          <a:xfrm>
            <a:off x="825028" y="3581958"/>
            <a:ext cx="4709151" cy="400110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첫 번째 빈칸 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if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tile_length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%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6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==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or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tile_length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%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6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==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or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tile_length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%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6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==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: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46077-4BF3-A472-2F03-0DD2B2953DA9}"/>
              </a:ext>
            </a:extLst>
          </p:cNvPr>
          <p:cNvSpPr txBox="1"/>
          <p:nvPr/>
        </p:nvSpPr>
        <p:spPr>
          <a:xfrm>
            <a:off x="825028" y="2199965"/>
            <a:ext cx="4709151" cy="55399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첫 번째 빈칸 →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adult_expense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adult_expense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*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0.9</a:t>
            </a:r>
            <a:endParaRPr lang="pt-BR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두 번째 빈칸 →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child_expense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child_expense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*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0.8 </a:t>
            </a:r>
          </a:p>
          <a:p>
            <a:r>
              <a:rPr lang="ko-KR" altLang="en-US" sz="1000" dirty="0">
                <a:solidFill>
                  <a:srgbClr val="3C3836"/>
                </a:solidFill>
                <a:latin typeface="Consolas" panose="020B0609020204030204" pitchFamily="49" charset="0"/>
              </a:rPr>
              <a:t>세 번째 빈칸 →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age &gt;=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endParaRPr lang="ko-KR" altLang="en-US" sz="1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32D063F-71CB-EC7E-9191-083ED3D49173}"/>
              </a:ext>
            </a:extLst>
          </p:cNvPr>
          <p:cNvSpPr txBox="1">
            <a:spLocks/>
          </p:cNvSpPr>
          <p:nvPr/>
        </p:nvSpPr>
        <p:spPr>
          <a:xfrm>
            <a:off x="604962" y="422760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P.80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19_</a:t>
            </a:r>
            <a:r>
              <a:rPr lang="ko-KR" altLang="en-US" sz="1050" b="0" dirty="0"/>
              <a:t> </a:t>
            </a:r>
            <a:r>
              <a:rPr lang="ko-KR" altLang="en-US" sz="1050" b="0" dirty="0" err="1"/>
              <a:t>한줄</a:t>
            </a:r>
            <a:r>
              <a:rPr lang="ko-KR" altLang="en-US" sz="1050" b="0" dirty="0"/>
              <a:t> 고치기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온라인 강의 플랫폼에서 한 사용자가 시청한 방송 구간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시작 시각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종료 시각</a:t>
            </a:r>
            <a:r>
              <a:rPr lang="en-US" altLang="ko-KR" sz="1050" b="0" dirty="0"/>
              <a:t>) </a:t>
            </a:r>
            <a:r>
              <a:rPr lang="ko-KR" altLang="en-US" sz="1050" b="0" dirty="0"/>
              <a:t>정보가 주어집니다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어떤 시간에는 동시에 여러 방송을 켜둘 수 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당신은 동시에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개 이상 방송이 켜져 있던 시간의 총합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시간 단위</a:t>
            </a:r>
            <a:r>
              <a:rPr lang="en-US" altLang="ko-KR" sz="1050" b="0" dirty="0"/>
              <a:t>)</a:t>
            </a:r>
            <a:r>
              <a:rPr lang="ko-KR" altLang="en-US" sz="1050" b="0" dirty="0"/>
              <a:t>을 구하려고 합니다</a:t>
            </a:r>
            <a:r>
              <a:rPr lang="en-US" altLang="ko-KR" sz="1050" b="0" dirty="0"/>
              <a:t>. programs</a:t>
            </a:r>
            <a:r>
              <a:rPr lang="ko-KR" altLang="en-US" sz="1050" b="0" dirty="0"/>
              <a:t>는 길이가 </a:t>
            </a:r>
            <a:r>
              <a:rPr lang="en-US" altLang="ko-KR" sz="1050" b="0" dirty="0"/>
              <a:t>3</a:t>
            </a:r>
            <a:r>
              <a:rPr lang="ko-KR" altLang="en-US" sz="1050" b="0" dirty="0"/>
              <a:t>인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차원 리스트이며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각 원소는 </a:t>
            </a:r>
            <a:r>
              <a:rPr lang="en-US" altLang="ko-KR" sz="1050" b="0" dirty="0"/>
              <a:t>[start, end] </a:t>
            </a:r>
            <a:r>
              <a:rPr lang="ko-KR" altLang="en-US" sz="1050" b="0" dirty="0"/>
              <a:t>형태입니다</a:t>
            </a:r>
            <a:r>
              <a:rPr lang="en-US" altLang="ko-KR" sz="1050" b="0" dirty="0"/>
              <a:t>. start </a:t>
            </a:r>
            <a:r>
              <a:rPr lang="ko-KR" altLang="en-US" sz="1050" b="0" dirty="0"/>
              <a:t>이상 </a:t>
            </a:r>
            <a:r>
              <a:rPr lang="en-US" altLang="ko-KR" sz="1050" b="0" dirty="0"/>
              <a:t>end </a:t>
            </a:r>
            <a:r>
              <a:rPr lang="ko-KR" altLang="en-US" sz="1050" b="0" dirty="0"/>
              <a:t>미만 시간 동안 방송이 켜져 있다고 가정합니다</a:t>
            </a:r>
            <a:r>
              <a:rPr lang="en-US" altLang="ko-KR" sz="1050" b="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F7241-5F2C-2402-0866-7AF7F3058484}"/>
              </a:ext>
            </a:extLst>
          </p:cNvPr>
          <p:cNvSpPr txBox="1"/>
          <p:nvPr/>
        </p:nvSpPr>
        <p:spPr>
          <a:xfrm>
            <a:off x="825028" y="5803800"/>
            <a:ext cx="4709151" cy="24622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&gt;=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137025D-FA13-4906-87D0-0ACC580462E0}"/>
              </a:ext>
            </a:extLst>
          </p:cNvPr>
          <p:cNvSpPr txBox="1">
            <a:spLocks/>
          </p:cNvSpPr>
          <p:nvPr/>
        </p:nvSpPr>
        <p:spPr>
          <a:xfrm>
            <a:off x="604346" y="629008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P.81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20_</a:t>
            </a:r>
            <a:r>
              <a:rPr lang="ko-KR" altLang="en-US" sz="1050" b="0" dirty="0"/>
              <a:t> </a:t>
            </a:r>
            <a:r>
              <a:rPr lang="ko-KR" altLang="en-US" sz="1050" b="0" dirty="0" err="1"/>
              <a:t>한줄</a:t>
            </a:r>
            <a:r>
              <a:rPr lang="ko-KR" altLang="en-US" sz="1050" b="0" dirty="0"/>
              <a:t> 고치기</a:t>
            </a:r>
            <a:r>
              <a:rPr lang="en-US" altLang="ko-KR" sz="1050" b="0" dirty="0"/>
              <a:t>] </a:t>
            </a:r>
            <a:r>
              <a:rPr lang="ko-KR" altLang="en-US" sz="1050" b="0" dirty="0"/>
              <a:t>동아리에서 번호표를 정리하는 프로그램을 만들었습니다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리스트 </a:t>
            </a:r>
            <a:r>
              <a:rPr lang="en-US" altLang="ko-KR" sz="1050" b="0" dirty="0" err="1"/>
              <a:t>nums</a:t>
            </a:r>
            <a:r>
              <a:rPr lang="ko-KR" altLang="en-US" sz="1050" b="0" dirty="0"/>
              <a:t>에는 자연수가 들어 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여기서 어떤 수 </a:t>
            </a:r>
            <a:r>
              <a:rPr lang="en-US" altLang="ko-KR" sz="1050" b="0" dirty="0"/>
              <a:t>x</a:t>
            </a:r>
            <a:r>
              <a:rPr lang="ko-KR" altLang="en-US" sz="1050" b="0" dirty="0"/>
              <a:t>가 있을 때</a:t>
            </a:r>
            <a:r>
              <a:rPr lang="en-US" altLang="ko-KR" sz="1050" b="0" dirty="0"/>
              <a:t>, x/2</a:t>
            </a:r>
            <a:r>
              <a:rPr lang="ko-KR" altLang="en-US" sz="1050" b="0" dirty="0"/>
              <a:t>가 정수이고 그 값이 리스트 안에도 존재하면 </a:t>
            </a:r>
            <a:r>
              <a:rPr lang="en-US" altLang="ko-KR" sz="1050" b="0" dirty="0"/>
              <a:t>x</a:t>
            </a:r>
            <a:r>
              <a:rPr lang="ko-KR" altLang="en-US" sz="1050" b="0" dirty="0"/>
              <a:t>는 “짝이 있는 </a:t>
            </a:r>
            <a:r>
              <a:rPr lang="ko-KR" altLang="en-US" sz="1050" b="0" dirty="0" err="1"/>
              <a:t>수”라고</a:t>
            </a:r>
            <a:r>
              <a:rPr lang="ko-KR" altLang="en-US" sz="1050" b="0" dirty="0"/>
              <a:t> 합니다</a:t>
            </a:r>
            <a:r>
              <a:rPr lang="en-US" altLang="ko-KR" sz="1050" b="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50" b="0" dirty="0"/>
              <a:t>예를 들어 </a:t>
            </a:r>
            <a:r>
              <a:rPr lang="en-US" altLang="ko-KR" sz="1050" b="0" dirty="0"/>
              <a:t>6</a:t>
            </a:r>
            <a:r>
              <a:rPr lang="ko-KR" altLang="en-US" sz="1050" b="0" dirty="0"/>
              <a:t>이 있고 </a:t>
            </a:r>
            <a:r>
              <a:rPr lang="en-US" altLang="ko-KR" sz="1050" b="0" dirty="0"/>
              <a:t>6/2 = 3</a:t>
            </a:r>
            <a:r>
              <a:rPr lang="ko-KR" altLang="en-US" sz="1050" b="0" dirty="0"/>
              <a:t>이며 </a:t>
            </a:r>
            <a:r>
              <a:rPr lang="en-US" altLang="ko-KR" sz="1050" b="0" dirty="0"/>
              <a:t>3</a:t>
            </a:r>
            <a:r>
              <a:rPr lang="ko-KR" altLang="en-US" sz="1050" b="0" dirty="0"/>
              <a:t>이 리스트에 있다면</a:t>
            </a:r>
            <a:r>
              <a:rPr lang="en-US" altLang="ko-KR" sz="1050" b="0" dirty="0"/>
              <a:t>, 6</a:t>
            </a:r>
            <a:r>
              <a:rPr lang="ko-KR" altLang="en-US" sz="1050" b="0" dirty="0"/>
              <a:t>은 짝이 있습니다</a:t>
            </a:r>
            <a:r>
              <a:rPr lang="en-US" altLang="ko-KR" sz="1050" b="0" dirty="0"/>
              <a:t>. </a:t>
            </a:r>
            <a:r>
              <a:rPr lang="en-US" altLang="ko-KR" sz="1050" b="0" dirty="0" err="1"/>
              <a:t>nums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짝이 있는 수의 개수를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하는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함수입니다</a:t>
            </a:r>
            <a:r>
              <a:rPr lang="en-US" altLang="ko-KR" sz="1050" b="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50" b="0" dirty="0"/>
              <a:t>아래 코드는 정답처럼 보이지만 한 줄이 잘못되어 결과가 틀립니다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한 줄만 수정해서 올바르게 동작하도록 하세요</a:t>
            </a:r>
            <a:endParaRPr lang="en-US" altLang="ko-KR" sz="1050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B8E51-DC33-28D4-E93B-96AEB6E6A835}"/>
              </a:ext>
            </a:extLst>
          </p:cNvPr>
          <p:cNvSpPr txBox="1"/>
          <p:nvPr/>
        </p:nvSpPr>
        <p:spPr>
          <a:xfrm>
            <a:off x="824412" y="8282840"/>
            <a:ext cx="4709151" cy="24622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 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1756299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D2B7B-DC27-FBC4-B9F4-AACBE95E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DA8AD-BE28-31D9-5267-23EB2947A6F6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15AFDE52-F6D9-E9DD-3843-047126BBAFD2}"/>
              </a:ext>
            </a:extLst>
          </p:cNvPr>
          <p:cNvSpPr txBox="1">
            <a:spLocks/>
          </p:cNvSpPr>
          <p:nvPr/>
        </p:nvSpPr>
        <p:spPr>
          <a:xfrm>
            <a:off x="974965" y="123611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[P.86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1]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선택할 수 있는 티셔츠 사이즈는 작은 순서대로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"XS", "S", "M", "L", "XL", "XXL"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종류가 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학생별로 원하는 티셔츠 사이즈 조사 결과가 들어있는 배열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shirtSize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매개변수로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사이즈별로 티셔츠가 몇 벌씩 필요한지 가장 작은 사이즈부터 순서대로 배열에 담아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완성하세요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9CB06D-46D8-ADA6-8477-B25B72755349}"/>
              </a:ext>
            </a:extLst>
          </p:cNvPr>
          <p:cNvSpPr txBox="1"/>
          <p:nvPr/>
        </p:nvSpPr>
        <p:spPr>
          <a:xfrm>
            <a:off x="1162818" y="2580434"/>
            <a:ext cx="4709149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shirt_size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sizes = [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"M"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"XXL"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shirt_size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 == sizes[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answer[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08FE4AF0-1AB3-F208-4CC8-D4ECC13C7B85}"/>
              </a:ext>
            </a:extLst>
          </p:cNvPr>
          <p:cNvSpPr txBox="1">
            <a:spLocks/>
          </p:cNvSpPr>
          <p:nvPr/>
        </p:nvSpPr>
        <p:spPr>
          <a:xfrm>
            <a:off x="974965" y="426278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[P.87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2] A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쇼핑몰에서는 회원 등급에 따라 할인 서비스를 제공합니다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회원 등급에 따른 할인율은 다음과 같습니다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(S =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실버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G =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골드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V = VIP) 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상품의 가격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price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와 구매자의 회원 등급을 나타내는 문자열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grade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매개변수로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할인 서비스를 적용한 가격을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완성하세요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DF81E9-71DC-939A-1CDE-D5E5663841DA}"/>
              </a:ext>
            </a:extLst>
          </p:cNvPr>
          <p:cNvSpPr txBox="1"/>
          <p:nvPr/>
        </p:nvSpPr>
        <p:spPr>
          <a:xfrm>
            <a:off x="1162818" y="5596938"/>
            <a:ext cx="4709149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(price, grade)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grade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price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grade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"G"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price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= price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F6735905-F9FF-161E-FA1A-7186F2E595FE}"/>
              </a:ext>
            </a:extLst>
          </p:cNvPr>
          <p:cNvSpPr txBox="1">
            <a:spLocks/>
          </p:cNvSpPr>
          <p:nvPr/>
        </p:nvSpPr>
        <p:spPr>
          <a:xfrm>
            <a:off x="974964" y="710346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[P.88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시작 날짜의 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일을 나타내는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startMonth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startDay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끝 날짜의 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일을 나타내는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endMonth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endDay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매개변수로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시작 날짜와 끝 날짜가 며칠만큼 떨어져 있는지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작성해보세요</a:t>
            </a: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876182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6CB02-9B0A-2508-3C70-3F2D6495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FC2790F-45B4-6798-4EC4-30DB68F7CA4D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6E715B-CD60-016E-16C2-2D499DBA8430}"/>
              </a:ext>
            </a:extLst>
          </p:cNvPr>
          <p:cNvSpPr txBox="1"/>
          <p:nvPr/>
        </p:nvSpPr>
        <p:spPr>
          <a:xfrm>
            <a:off x="797058" y="1351074"/>
            <a:ext cx="4709149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def </a:t>
            </a:r>
            <a:r>
              <a:rPr lang="en-US" altLang="ko-KR" sz="1000" dirty="0" err="1">
                <a:solidFill>
                  <a:srgbClr val="076678"/>
                </a:solidFill>
                <a:latin typeface="Consolas" panose="020B0609020204030204" pitchFamily="49" charset="0"/>
              </a:rPr>
              <a:t>func_a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(month, day)</a:t>
            </a: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days_in_month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28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total 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m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range(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month):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total +=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days_in_month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[m -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total += day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total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def </a:t>
            </a:r>
            <a:r>
              <a:rPr lang="en-US" altLang="ko-KR" sz="1000" dirty="0">
                <a:solidFill>
                  <a:srgbClr val="076678"/>
                </a:solidFill>
                <a:latin typeface="Consolas" panose="020B0609020204030204" pitchFamily="49" charset="0"/>
              </a:rPr>
              <a:t>solution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B57614"/>
                </a:solidFill>
                <a:latin typeface="Consolas" panose="020B0609020204030204" pitchFamily="49" charset="0"/>
              </a:rPr>
              <a:t>start_month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B57614"/>
                </a:solidFill>
                <a:latin typeface="Consolas" panose="020B0609020204030204" pitchFamily="49" charset="0"/>
              </a:rPr>
              <a:t>start_day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B57614"/>
                </a:solidFill>
                <a:latin typeface="Consolas" panose="020B0609020204030204" pitchFamily="49" charset="0"/>
              </a:rPr>
              <a:t>end_month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B57614"/>
                </a:solidFill>
                <a:latin typeface="Consolas" panose="020B0609020204030204" pitchFamily="49" charset="0"/>
              </a:rPr>
              <a:t>end_day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start_total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func_a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start_month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start_day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end_total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func_a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end_month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end_day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end_total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-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start_total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3C3836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B9B6A-A065-0784-8720-D00DDB2F2A86}"/>
              </a:ext>
            </a:extLst>
          </p:cNvPr>
          <p:cNvSpPr txBox="1">
            <a:spLocks/>
          </p:cNvSpPr>
          <p:nvPr/>
        </p:nvSpPr>
        <p:spPr>
          <a:xfrm>
            <a:off x="609205" y="390718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[P.90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4]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자연수가 들어있는 배열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arr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매개변수로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가장 많이 등장하는 숫자와 가장 적게 등장하는 숫자의 개수를 비교하여 몇 배 더 </a:t>
            </a:r>
            <a:r>
              <a:rPr lang="ko-KR" altLang="en-US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많은지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완성하세요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58806-07F7-100A-1C98-E7954ECB0C38}"/>
              </a:ext>
            </a:extLst>
          </p:cNvPr>
          <p:cNvSpPr txBox="1"/>
          <p:nvPr/>
        </p:nvSpPr>
        <p:spPr>
          <a:xfrm>
            <a:off x="797058" y="4794297"/>
            <a:ext cx="4709149" cy="332398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counter = {}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counter: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counter[x]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counter[x]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counts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(counter)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k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counter: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counts[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counter[k]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2470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A8DA-34A7-12D6-7D8D-6FD4FA32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2782F-F26A-11F7-CEA2-B5E73A36544D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42F06-0CD1-DC1B-74FB-6EDFD98A6004}"/>
              </a:ext>
            </a:extLst>
          </p:cNvPr>
          <p:cNvSpPr txBox="1"/>
          <p:nvPr/>
        </p:nvSpPr>
        <p:spPr>
          <a:xfrm>
            <a:off x="1191406" y="1353156"/>
            <a:ext cx="4709151" cy="2400657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(counter)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(counter)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min_cnt</a:t>
            </a:r>
            <a:endParaRPr lang="en-US" altLang="ko-KR" sz="1000" b="0" i="0" u="none" strike="noStrike" dirty="0">
              <a:solidFill>
                <a:srgbClr val="3C383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0E668F8-2EE6-4072-EE0F-8FBAA17142CD}"/>
              </a:ext>
            </a:extLst>
          </p:cNvPr>
          <p:cNvSpPr txBox="1">
            <a:spLocks/>
          </p:cNvSpPr>
          <p:nvPr/>
        </p:nvSpPr>
        <p:spPr>
          <a:xfrm>
            <a:off x="971339" y="392338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[P.92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5]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주어진 배열의 순서를 뒤집으려고 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예를 들어 주어진 배열이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[1, 4, 2, 3]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이면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순서를 뒤집은 배열은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[3, 2, 4, 1]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입니다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정수가 들어있는 배열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arr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매개변수로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en-US" altLang="ko-KR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arr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를 뒤집어서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완성하세요</a:t>
            </a: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AB96A-2E3F-C10A-BBD2-EC6851AD0FB9}"/>
              </a:ext>
            </a:extLst>
          </p:cNvPr>
          <p:cNvSpPr txBox="1"/>
          <p:nvPr/>
        </p:nvSpPr>
        <p:spPr>
          <a:xfrm>
            <a:off x="1191406" y="5014888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FAD145F-F0B5-8DAB-DD8D-17083D6103B1}"/>
              </a:ext>
            </a:extLst>
          </p:cNvPr>
          <p:cNvSpPr txBox="1">
            <a:spLocks/>
          </p:cNvSpPr>
          <p:nvPr/>
        </p:nvSpPr>
        <p:spPr>
          <a:xfrm>
            <a:off x="971339" y="648370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[P.93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6] number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주어졌을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부터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number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까지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369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게임을 올바르게 진행했을 경우 박수를 총 몇 번 쳤는지 구하려고 합니다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이를 위해 다음과 같이 프로그램 구조를 작성했습니다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숫자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number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매개변수로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박수를 친 총 횟수를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완성하세요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3C694-3F6A-AB8D-DA27-EB59BBBE54E5}"/>
              </a:ext>
            </a:extLst>
          </p:cNvPr>
          <p:cNvSpPr txBox="1"/>
          <p:nvPr/>
        </p:nvSpPr>
        <p:spPr>
          <a:xfrm>
            <a:off x="1191406" y="7615848"/>
            <a:ext cx="4709151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(number)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number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x = n</a:t>
            </a:r>
          </a:p>
        </p:txBody>
      </p:sp>
    </p:spTree>
    <p:extLst>
      <p:ext uri="{BB962C8B-B14F-4D97-AF65-F5344CB8AC3E}">
        <p14:creationId xmlns:p14="http://schemas.microsoft.com/office/powerpoint/2010/main" val="48523912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6128-6F6A-DE9F-64BB-71B358DA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E32A14-0A5B-F7C9-39B3-57AB9F50F740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B2FE9F-9502-DF4E-F9F9-247DEE944447}"/>
              </a:ext>
            </a:extLst>
          </p:cNvPr>
          <p:cNvSpPr txBox="1">
            <a:spLocks/>
          </p:cNvSpPr>
          <p:nvPr/>
        </p:nvSpPr>
        <p:spPr>
          <a:xfrm>
            <a:off x="609205" y="255691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[P.94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7]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소문자 알파벳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공백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(" "),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그리고 마침표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(".")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로 이루어진 문장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sentence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주어질 </a:t>
            </a:r>
            <a:r>
              <a:rPr lang="ko-KR" altLang="en-US" sz="1050" b="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때팰린드롬인지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아닌지를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완성하세요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322ED-BC18-54BA-F457-61A05127E12D}"/>
              </a:ext>
            </a:extLst>
          </p:cNvPr>
          <p:cNvSpPr txBox="1"/>
          <p:nvPr/>
        </p:nvSpPr>
        <p:spPr>
          <a:xfrm>
            <a:off x="797058" y="1340914"/>
            <a:ext cx="4709149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x &gt;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d = x %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10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d ==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or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d ==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or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d ==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9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    count +=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x //=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10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count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B949F1-7A6F-7744-9E1E-5A50DABC9943}"/>
              </a:ext>
            </a:extLst>
          </p:cNvPr>
          <p:cNvSpPr txBox="1">
            <a:spLocks/>
          </p:cNvSpPr>
          <p:nvPr/>
        </p:nvSpPr>
        <p:spPr>
          <a:xfrm>
            <a:off x="609205" y="6172861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[P.95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문제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8]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영어 소문자 알파벳으로 이루어진 임의의 문자열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characters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가 매개변수로 주어질 때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,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연속하는 중복 문자를 삭제한 결과를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return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하도록 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solution 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메소드를 완성하세요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511FE-B4AB-1FD3-B5E3-12BE37853195}"/>
              </a:ext>
            </a:extLst>
          </p:cNvPr>
          <p:cNvSpPr txBox="1"/>
          <p:nvPr/>
        </p:nvSpPr>
        <p:spPr>
          <a:xfrm>
            <a:off x="797058" y="7120938"/>
            <a:ext cx="4709149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(characters)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result = characters[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(characters)):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characters[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!= characters[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result += characters[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EC61B-EA61-E554-4FBC-5D42F2C42EF3}"/>
              </a:ext>
            </a:extLst>
          </p:cNvPr>
          <p:cNvSpPr txBox="1"/>
          <p:nvPr/>
        </p:nvSpPr>
        <p:spPr>
          <a:xfrm>
            <a:off x="797057" y="3442161"/>
            <a:ext cx="4709149" cy="255454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(sentence)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text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sentence: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'z'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text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left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right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(text)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left &lt; right: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text[left] != text[right]: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left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right -=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1000" dirty="0">
              <a:solidFill>
                <a:srgbClr val="3C383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2238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E1DCC-2126-F7C8-B89A-6AA02BB2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31C2F-4794-BC3C-3126-F2C21A577D3D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F2F4A98E-383A-6293-7C66-DFEA15AA8FA9}"/>
              </a:ext>
            </a:extLst>
          </p:cNvPr>
          <p:cNvSpPr txBox="1">
            <a:spLocks/>
          </p:cNvSpPr>
          <p:nvPr/>
        </p:nvSpPr>
        <p:spPr>
          <a:xfrm>
            <a:off x="971339" y="1285886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P.96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9] </a:t>
            </a:r>
            <a:r>
              <a:rPr lang="ko-KR" altLang="en-US" sz="1050" b="0" dirty="0"/>
              <a:t>평균은 자료의 합을 자료의 개수로 나눈 값을 의미합니다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자연수가 들어있는 배열의 평균을 구하고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평균 이하인 숫자는 몇 개인지 구하려고 합니다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예를 들어 주어진 배열이 </a:t>
            </a:r>
            <a:r>
              <a:rPr lang="en-US" altLang="ko-KR" sz="1050" b="0" dirty="0"/>
              <a:t>[1, 2, 3, 4, 5, 6, 7, 8, 9, 10]</a:t>
            </a:r>
            <a:r>
              <a:rPr lang="ko-KR" altLang="en-US" sz="1050" b="0" dirty="0"/>
              <a:t>이라면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평균은 </a:t>
            </a:r>
            <a:r>
              <a:rPr lang="en-US" altLang="ko-KR" sz="1050" b="0" dirty="0"/>
              <a:t>5.5</a:t>
            </a:r>
            <a:r>
              <a:rPr lang="ko-KR" altLang="en-US" sz="1050" b="0" dirty="0"/>
              <a:t>이므로 배열에서 평균 이하인 값은 </a:t>
            </a:r>
            <a:r>
              <a:rPr lang="en-US" altLang="ko-KR" sz="1050" b="0" dirty="0"/>
              <a:t>5</a:t>
            </a:r>
            <a:r>
              <a:rPr lang="ko-KR" altLang="en-US" sz="1050" b="0" dirty="0"/>
              <a:t>개입니다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자연수가 들어있는 배열 </a:t>
            </a:r>
            <a:r>
              <a:rPr lang="en-US" altLang="ko-KR" sz="1050" b="0" dirty="0"/>
              <a:t>data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배열의 평균 이하인 값은 몇 개인지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85576-14C3-EBAC-4AB3-FE17A2F1005B}"/>
              </a:ext>
            </a:extLst>
          </p:cNvPr>
          <p:cNvSpPr txBox="1"/>
          <p:nvPr/>
        </p:nvSpPr>
        <p:spPr>
          <a:xfrm>
            <a:off x="1191406" y="2882405"/>
            <a:ext cx="4709151" cy="193899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(data)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data: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total += x</a:t>
            </a: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avg = total /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(data)</a:t>
            </a: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data: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&lt; avg: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endParaRPr lang="ko-KR" altLang="en-US" sz="1000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618E1CA9-C849-1D02-E648-00DA7A18A41F}"/>
              </a:ext>
            </a:extLst>
          </p:cNvPr>
          <p:cNvSpPr txBox="1">
            <a:spLocks/>
          </p:cNvSpPr>
          <p:nvPr/>
        </p:nvSpPr>
        <p:spPr>
          <a:xfrm>
            <a:off x="970722" y="5002959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P.97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10] </a:t>
            </a:r>
            <a:r>
              <a:rPr lang="ko-KR" altLang="en-US" sz="1050" b="0" dirty="0"/>
              <a:t>왼손 장갑의 제품 번호가 들어있는 배열 </a:t>
            </a:r>
            <a:r>
              <a:rPr lang="en-US" altLang="ko-KR" sz="1050" b="0" dirty="0" err="1"/>
              <a:t>leftGloves</a:t>
            </a:r>
            <a:r>
              <a:rPr lang="ko-KR" altLang="en-US" sz="1050" b="0" dirty="0"/>
              <a:t>와 오른손 장갑의 제품 번호가 들어있는 배열 </a:t>
            </a:r>
            <a:r>
              <a:rPr lang="en-US" altLang="ko-KR" sz="1050" b="0" dirty="0" err="1"/>
              <a:t>rightGloves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최대 몇 개의 장갑 쌍을 만들 수 있는지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B83D86-047C-E2DA-91E7-B3A12B239895}"/>
              </a:ext>
            </a:extLst>
          </p:cNvPr>
          <p:cNvSpPr txBox="1"/>
          <p:nvPr/>
        </p:nvSpPr>
        <p:spPr>
          <a:xfrm>
            <a:off x="1190788" y="5898438"/>
            <a:ext cx="4709151" cy="270843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(gloves)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gloves: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count[g]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left_gloves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right_gloves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left_cnt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left_gloves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right_cnt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right_gloves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left_cnt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right_cnt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left_cnt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right_cnt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en-US" altLang="ko-KR" sz="1000" dirty="0">
              <a:solidFill>
                <a:srgbClr val="3C383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53927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E7CA-A9F0-52A1-A963-2C834DF2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ECB64F2-E353-0DA4-EFE3-A6F9445F4E1D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F1A676DA-4323-4F3A-3D26-15EB198E37BC}"/>
              </a:ext>
            </a:extLst>
          </p:cNvPr>
          <p:cNvSpPr txBox="1">
            <a:spLocks/>
          </p:cNvSpPr>
          <p:nvPr/>
        </p:nvSpPr>
        <p:spPr>
          <a:xfrm>
            <a:off x="605579" y="1315249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P.99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11] </a:t>
            </a:r>
            <a:r>
              <a:rPr lang="ko-KR" altLang="en-US" sz="1050" b="0" dirty="0"/>
              <a:t>자연수가 들어있는 배열 </a:t>
            </a:r>
            <a:r>
              <a:rPr lang="en-US" altLang="ko-KR" sz="1050" b="0" dirty="0" err="1"/>
              <a:t>arr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배열에 </a:t>
            </a:r>
            <a:r>
              <a:rPr lang="en-US" altLang="ko-KR" sz="1050" b="0" dirty="0"/>
              <a:t>3</a:t>
            </a:r>
            <a:r>
              <a:rPr lang="ko-KR" altLang="en-US" sz="1050" b="0" dirty="0"/>
              <a:t>의 배수의 개수가 더 많다면 </a:t>
            </a:r>
            <a:r>
              <a:rPr lang="en-US" altLang="ko-KR" sz="1050" b="0" dirty="0"/>
              <a:t>"three", 5</a:t>
            </a:r>
            <a:r>
              <a:rPr lang="ko-KR" altLang="en-US" sz="1050" b="0" dirty="0"/>
              <a:t>의 배수의 개수가 더 많다면 </a:t>
            </a:r>
            <a:r>
              <a:rPr lang="en-US" altLang="ko-KR" sz="1050" b="0" dirty="0"/>
              <a:t>"five", 3</a:t>
            </a:r>
            <a:r>
              <a:rPr lang="ko-KR" altLang="en-US" sz="1050" b="0" dirty="0"/>
              <a:t>의 배수와 </a:t>
            </a:r>
            <a:r>
              <a:rPr lang="en-US" altLang="ko-KR" sz="1050" b="0" dirty="0"/>
              <a:t>5</a:t>
            </a:r>
            <a:r>
              <a:rPr lang="ko-KR" altLang="en-US" sz="1050" b="0" dirty="0"/>
              <a:t>의 배수의 개수가 같다면 </a:t>
            </a:r>
            <a:r>
              <a:rPr lang="en-US" altLang="ko-KR" sz="1050" b="0" dirty="0"/>
              <a:t>"same"</a:t>
            </a:r>
            <a:r>
              <a:rPr lang="ko-KR" altLang="en-US" sz="1050" b="0" dirty="0"/>
              <a:t>을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DEFD2-7C22-A84A-7CBE-0A21EF618E20}"/>
              </a:ext>
            </a:extLst>
          </p:cNvPr>
          <p:cNvSpPr txBox="1"/>
          <p:nvPr/>
        </p:nvSpPr>
        <p:spPr>
          <a:xfrm>
            <a:off x="825028" y="2382845"/>
            <a:ext cx="4709151" cy="47089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(three, five)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three &gt; five: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"three"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five &gt; three: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"five"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"same"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count_three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count_five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count_three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count_five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55C4298-89AB-A449-E02F-062748EBB0BD}"/>
              </a:ext>
            </a:extLst>
          </p:cNvPr>
          <p:cNvSpPr txBox="1">
            <a:spLocks/>
          </p:cNvSpPr>
          <p:nvPr/>
        </p:nvSpPr>
        <p:spPr>
          <a:xfrm>
            <a:off x="604346" y="728677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12]</a:t>
            </a:r>
            <a:r>
              <a:rPr lang="ko-KR" altLang="en-US" sz="1050" b="0" dirty="0"/>
              <a:t> 자연수 </a:t>
            </a:r>
            <a:r>
              <a:rPr lang="en-US" altLang="ko-KR" sz="1050" b="0" dirty="0"/>
              <a:t>number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number</a:t>
            </a:r>
            <a:r>
              <a:rPr lang="ko-KR" altLang="en-US" sz="1050" b="0" dirty="0"/>
              <a:t>의 각 자릿수 중 소수는 몇 개인지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완성하세요</a:t>
            </a:r>
            <a:endParaRPr lang="en-US" altLang="ko-KR" sz="1050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63E5B-9C3C-18D2-059F-A484CEA52235}"/>
              </a:ext>
            </a:extLst>
          </p:cNvPr>
          <p:cNvSpPr txBox="1"/>
          <p:nvPr/>
        </p:nvSpPr>
        <p:spPr>
          <a:xfrm>
            <a:off x="897564" y="7926224"/>
            <a:ext cx="4636615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(number)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 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number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digit = number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6661859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FE1E-BA15-B2E4-B76E-CAF9CF73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0B7FD-9002-B3B2-3594-27A25991B535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84332C1D-09FA-323B-FBFE-DC792663366D}"/>
              </a:ext>
            </a:extLst>
          </p:cNvPr>
          <p:cNvSpPr txBox="1">
            <a:spLocks/>
          </p:cNvSpPr>
          <p:nvPr/>
        </p:nvSpPr>
        <p:spPr>
          <a:xfrm>
            <a:off x="971339" y="3189362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13] </a:t>
            </a:r>
            <a:r>
              <a:rPr lang="ko-KR" altLang="en-US" sz="1050" b="0" dirty="0"/>
              <a:t>투표 결과가 들어있는 배열 </a:t>
            </a:r>
            <a:r>
              <a:rPr lang="en-US" altLang="ko-KR" sz="1050" b="0" dirty="0"/>
              <a:t>votes, </a:t>
            </a:r>
            <a:r>
              <a:rPr lang="ko-KR" altLang="en-US" sz="1050" b="0" dirty="0"/>
              <a:t>후보의 수 </a:t>
            </a:r>
            <a:r>
              <a:rPr lang="en-US" altLang="ko-KR" sz="1050" b="0" dirty="0"/>
              <a:t>N, </a:t>
            </a:r>
            <a:r>
              <a:rPr lang="ko-KR" altLang="en-US" sz="1050" b="0" dirty="0"/>
              <a:t>표의 개수 </a:t>
            </a:r>
            <a:r>
              <a:rPr lang="en-US" altLang="ko-KR" sz="1050" b="0" dirty="0"/>
              <a:t>K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K</a:t>
            </a:r>
            <a:r>
              <a:rPr lang="ko-KR" altLang="en-US" sz="1050" b="0" dirty="0"/>
              <a:t>표를 받은 후보는 몇 명인지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4108A1-6507-58B4-2D1C-D180FCD3BD1E}"/>
              </a:ext>
            </a:extLst>
          </p:cNvPr>
          <p:cNvSpPr txBox="1"/>
          <p:nvPr/>
        </p:nvSpPr>
        <p:spPr>
          <a:xfrm>
            <a:off x="1191406" y="4045217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(votes, N, K)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(N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votes: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count[v]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K: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E6D1D9-5F68-72CF-C5BE-0ADEC96AE13C}"/>
              </a:ext>
            </a:extLst>
          </p:cNvPr>
          <p:cNvSpPr txBox="1"/>
          <p:nvPr/>
        </p:nvSpPr>
        <p:spPr>
          <a:xfrm>
            <a:off x="1191405" y="1334021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digit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is_prime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digit):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digit %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is_prime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is_prime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number //=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endParaRPr lang="ko-KR" altLang="en-US" sz="1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FD73CEE-0878-F2CD-1AF4-59A5060489BD}"/>
              </a:ext>
            </a:extLst>
          </p:cNvPr>
          <p:cNvSpPr txBox="1">
            <a:spLocks/>
          </p:cNvSpPr>
          <p:nvPr/>
        </p:nvSpPr>
        <p:spPr>
          <a:xfrm>
            <a:off x="971339" y="6058325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14] </a:t>
            </a:r>
            <a:r>
              <a:rPr lang="ko-KR" altLang="en-US" sz="1050" b="0" dirty="0"/>
              <a:t>음료수 개수 </a:t>
            </a:r>
            <a:r>
              <a:rPr lang="en-US" altLang="ko-KR" sz="1050" b="0" dirty="0"/>
              <a:t>n</a:t>
            </a:r>
            <a:r>
              <a:rPr lang="ko-KR" altLang="en-US" sz="1050" b="0" dirty="0"/>
              <a:t>이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함수의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상자의 수와 남은 음료수 수를 리스트로 반환하도록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  </a:t>
            </a:r>
            <a:r>
              <a:rPr lang="ko-KR" altLang="en-US" sz="1050" b="0" dirty="0"/>
              <a:t>코드가 올바르게 동작할 수 있도록 빈칸을 채워 전체 코드를 완성해 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CB8A5-9352-3891-1FC2-7A4DDD2627A3}"/>
              </a:ext>
            </a:extLst>
          </p:cNvPr>
          <p:cNvSpPr txBox="1"/>
          <p:nvPr/>
        </p:nvSpPr>
        <p:spPr>
          <a:xfrm>
            <a:off x="1191405" y="6979570"/>
            <a:ext cx="4709151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box_count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n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remaining_drinks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n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box_count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remaining_drinks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6784837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68ED-C2D9-1432-A71D-B223E67E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2ACC823-F1A8-4566-BCCA-ACFFE7F30407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1A469B8C-E351-580F-7839-A74B9D5D90D3}"/>
              </a:ext>
            </a:extLst>
          </p:cNvPr>
          <p:cNvSpPr txBox="1">
            <a:spLocks/>
          </p:cNvSpPr>
          <p:nvPr/>
        </p:nvSpPr>
        <p:spPr>
          <a:xfrm>
            <a:off x="605579" y="1315249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P.99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11] </a:t>
            </a:r>
            <a:r>
              <a:rPr lang="ko-KR" altLang="en-US" sz="1050" b="0" dirty="0"/>
              <a:t>자연수가 들어있는 배열 </a:t>
            </a:r>
            <a:r>
              <a:rPr lang="en-US" altLang="ko-KR" sz="1050" b="0" dirty="0" err="1"/>
              <a:t>arr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배열에 </a:t>
            </a:r>
            <a:r>
              <a:rPr lang="en-US" altLang="ko-KR" sz="1050" b="0" dirty="0"/>
              <a:t>3</a:t>
            </a:r>
            <a:r>
              <a:rPr lang="ko-KR" altLang="en-US" sz="1050" b="0" dirty="0"/>
              <a:t>의 배수의 개수가 더 많다면 </a:t>
            </a:r>
            <a:r>
              <a:rPr lang="en-US" altLang="ko-KR" sz="1050" b="0" dirty="0"/>
              <a:t>"three", 5</a:t>
            </a:r>
            <a:r>
              <a:rPr lang="ko-KR" altLang="en-US" sz="1050" b="0" dirty="0"/>
              <a:t>의 배수의 개수가 더 많다면 </a:t>
            </a:r>
            <a:r>
              <a:rPr lang="en-US" altLang="ko-KR" sz="1050" b="0" dirty="0"/>
              <a:t>"five", 3</a:t>
            </a:r>
            <a:r>
              <a:rPr lang="ko-KR" altLang="en-US" sz="1050" b="0" dirty="0"/>
              <a:t>의 배수와 </a:t>
            </a:r>
            <a:r>
              <a:rPr lang="en-US" altLang="ko-KR" sz="1050" b="0" dirty="0"/>
              <a:t>5</a:t>
            </a:r>
            <a:r>
              <a:rPr lang="ko-KR" altLang="en-US" sz="1050" b="0" dirty="0"/>
              <a:t>의 배수의 개수가 같다면 </a:t>
            </a:r>
            <a:r>
              <a:rPr lang="en-US" altLang="ko-KR" sz="1050" b="0" dirty="0"/>
              <a:t>"same"</a:t>
            </a:r>
            <a:r>
              <a:rPr lang="ko-KR" altLang="en-US" sz="1050" b="0" dirty="0"/>
              <a:t>을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652EC-E8F2-90F7-0F18-B8B1850BAE98}"/>
              </a:ext>
            </a:extLst>
          </p:cNvPr>
          <p:cNvSpPr txBox="1"/>
          <p:nvPr/>
        </p:nvSpPr>
        <p:spPr>
          <a:xfrm>
            <a:off x="825028" y="2382845"/>
            <a:ext cx="4709151" cy="470898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cnt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(three, five)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three &gt; five: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"three"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five &gt; three: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"five"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"same"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count_three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count_five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count_three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count_five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0ACCA21-6FE8-4DAD-9895-D41B4A90A85C}"/>
              </a:ext>
            </a:extLst>
          </p:cNvPr>
          <p:cNvSpPr txBox="1">
            <a:spLocks/>
          </p:cNvSpPr>
          <p:nvPr/>
        </p:nvSpPr>
        <p:spPr>
          <a:xfrm>
            <a:off x="604346" y="7286777"/>
            <a:ext cx="4929833" cy="1059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 </a:t>
            </a:r>
            <a:r>
              <a:rPr lang="en-US" altLang="ko-KR" sz="1050" b="0" dirty="0"/>
              <a:t>12]</a:t>
            </a:r>
            <a:r>
              <a:rPr lang="ko-KR" altLang="en-US" sz="1050" b="0" dirty="0"/>
              <a:t> 자연수 </a:t>
            </a:r>
            <a:r>
              <a:rPr lang="en-US" altLang="ko-KR" sz="1050" b="0" dirty="0"/>
              <a:t>number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number</a:t>
            </a:r>
            <a:r>
              <a:rPr lang="ko-KR" altLang="en-US" sz="1050" b="0" dirty="0"/>
              <a:t>의 각 자릿수 중 소수는 몇 개인지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완성하세요</a:t>
            </a:r>
            <a:endParaRPr lang="en-US" altLang="ko-KR" sz="105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271A7-CF25-F920-4236-F5EA09944732}"/>
              </a:ext>
            </a:extLst>
          </p:cNvPr>
          <p:cNvSpPr txBox="1"/>
          <p:nvPr/>
        </p:nvSpPr>
        <p:spPr>
          <a:xfrm>
            <a:off x="897564" y="7926224"/>
            <a:ext cx="4636615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(number)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 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</a:p>
          <a:p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number &gt;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digit = number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4543295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42B89-8240-3D18-9D1B-915344E8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F72A5-42A9-D31E-C843-8E335B7D9AA6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6BB97CE9-8B19-22E1-FEB4-954BF2D9A0B8}"/>
              </a:ext>
            </a:extLst>
          </p:cNvPr>
          <p:cNvSpPr txBox="1">
            <a:spLocks/>
          </p:cNvSpPr>
          <p:nvPr/>
        </p:nvSpPr>
        <p:spPr>
          <a:xfrm>
            <a:off x="971339" y="3189362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13] </a:t>
            </a:r>
            <a:r>
              <a:rPr lang="ko-KR" altLang="en-US" sz="1050" b="0" dirty="0"/>
              <a:t>투표 결과가 들어있는 배열 </a:t>
            </a:r>
            <a:r>
              <a:rPr lang="en-US" altLang="ko-KR" sz="1050" b="0" dirty="0"/>
              <a:t>votes, </a:t>
            </a:r>
            <a:r>
              <a:rPr lang="ko-KR" altLang="en-US" sz="1050" b="0" dirty="0"/>
              <a:t>후보의 수 </a:t>
            </a:r>
            <a:r>
              <a:rPr lang="en-US" altLang="ko-KR" sz="1050" b="0" dirty="0"/>
              <a:t>N, </a:t>
            </a:r>
            <a:r>
              <a:rPr lang="ko-KR" altLang="en-US" sz="1050" b="0" dirty="0"/>
              <a:t>표의 개수 </a:t>
            </a:r>
            <a:r>
              <a:rPr lang="en-US" altLang="ko-KR" sz="1050" b="0" dirty="0"/>
              <a:t>K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K</a:t>
            </a:r>
            <a:r>
              <a:rPr lang="ko-KR" altLang="en-US" sz="1050" b="0" dirty="0"/>
              <a:t>표를 받은 후보는 몇 명인지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메소드를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008B43-C8F8-A096-8C99-2C04F2E664D2}"/>
              </a:ext>
            </a:extLst>
          </p:cNvPr>
          <p:cNvSpPr txBox="1"/>
          <p:nvPr/>
        </p:nvSpPr>
        <p:spPr>
          <a:xfrm>
            <a:off x="1191406" y="4045217"/>
            <a:ext cx="4709151" cy="178510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(votes, N, K)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(N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votes: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count[v]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N +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== K: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9A2A0-C9A9-BDC5-F146-F158D55FD9CE}"/>
              </a:ext>
            </a:extLst>
          </p:cNvPr>
          <p:cNvSpPr txBox="1"/>
          <p:nvPr/>
        </p:nvSpPr>
        <p:spPr>
          <a:xfrm>
            <a:off x="1191405" y="1334021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digit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is_prime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digit):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digit %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is_prime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is_prime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count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number //=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</a:t>
            </a:r>
            <a:endParaRPr lang="ko-KR" altLang="en-US" sz="1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563D058-2D92-2325-5560-FCB5255D0C10}"/>
              </a:ext>
            </a:extLst>
          </p:cNvPr>
          <p:cNvSpPr txBox="1">
            <a:spLocks/>
          </p:cNvSpPr>
          <p:nvPr/>
        </p:nvSpPr>
        <p:spPr>
          <a:xfrm>
            <a:off x="971339" y="5999237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14] </a:t>
            </a:r>
            <a:r>
              <a:rPr lang="ko-KR" altLang="en-US" sz="1050" b="0" dirty="0"/>
              <a:t>음료수 개수 </a:t>
            </a:r>
            <a:r>
              <a:rPr lang="en-US" altLang="ko-KR" sz="1050" b="0" dirty="0"/>
              <a:t>n</a:t>
            </a:r>
            <a:r>
              <a:rPr lang="ko-KR" altLang="en-US" sz="1050" b="0" dirty="0"/>
              <a:t>이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함수의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상자의 수와 남은 음료수 수를 리스트로 반환하도록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코드가 올바르게 동작할 수 있도록 빈칸을 채워 전체 코드를 완성해 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C8CC7-BEC2-80A2-5BD7-2C02C418A703}"/>
              </a:ext>
            </a:extLst>
          </p:cNvPr>
          <p:cNvSpPr txBox="1"/>
          <p:nvPr/>
        </p:nvSpPr>
        <p:spPr>
          <a:xfrm>
            <a:off x="1191406" y="6855092"/>
            <a:ext cx="4709151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box_count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n //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remaining_drinks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n %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box_count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remaining_drinks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2036341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5CE3-101C-BA74-0A4A-A61AC243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0D0C9D-F996-F20D-960B-7C68EEA38A7D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3811AC9-31FA-2D4E-3C1F-82A0A76A4AC8}"/>
              </a:ext>
            </a:extLst>
          </p:cNvPr>
          <p:cNvSpPr txBox="1">
            <a:spLocks/>
          </p:cNvSpPr>
          <p:nvPr/>
        </p:nvSpPr>
        <p:spPr>
          <a:xfrm>
            <a:off x="582289" y="1308525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15] </a:t>
            </a:r>
            <a:r>
              <a:rPr lang="ko-KR" altLang="en-US" sz="1050" b="0" dirty="0"/>
              <a:t>매출 데이터가 담긴 배열 </a:t>
            </a:r>
            <a:r>
              <a:rPr lang="en-US" altLang="ko-KR" sz="1050" b="0" dirty="0"/>
              <a:t>sales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전날 대비 매출 </a:t>
            </a:r>
            <a:r>
              <a:rPr lang="ko-KR" altLang="en-US" sz="1050" b="0" dirty="0" err="1"/>
              <a:t>증가량</a:t>
            </a:r>
            <a:r>
              <a:rPr lang="ko-KR" altLang="en-US" sz="1050" b="0" dirty="0"/>
              <a:t> 중 최댓값을 반환하는 함수를 작성해보세요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코드가 올바르게 동작할 수 있도록 빈칸을 채워 전체 코드를 완성해 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6E48F-7C10-9408-65C5-44AC22D2CB75}"/>
              </a:ext>
            </a:extLst>
          </p:cNvPr>
          <p:cNvSpPr txBox="1"/>
          <p:nvPr/>
        </p:nvSpPr>
        <p:spPr>
          <a:xfrm>
            <a:off x="802356" y="2164380"/>
            <a:ext cx="4709151" cy="70788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(sales)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diff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(sales)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(diff)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(diff)</a:t>
            </a:r>
            <a:endParaRPr lang="ko-KR" altLang="en-US" sz="1000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B6D5ECEB-B8B5-BE1B-CA63-8A2CA426F467}"/>
              </a:ext>
            </a:extLst>
          </p:cNvPr>
          <p:cNvSpPr txBox="1">
            <a:spLocks/>
          </p:cNvSpPr>
          <p:nvPr/>
        </p:nvSpPr>
        <p:spPr>
          <a:xfrm>
            <a:off x="582289" y="3061125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16] </a:t>
            </a:r>
            <a:r>
              <a:rPr lang="ko-KR" altLang="en-US" sz="1050" b="0" dirty="0"/>
              <a:t>점수 목록이 담긴 배열 </a:t>
            </a:r>
            <a:r>
              <a:rPr lang="en-US" altLang="ko-KR" sz="1050" b="0" dirty="0"/>
              <a:t>scores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최댓값과 최솟값의 차이를 반환하는 함수를 작성해보세요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코드가 올바르게 동작할 수 있도록 빈칸을 채워 전체 코드를 완성해 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732DA1-979C-2931-135A-2D706153833C}"/>
              </a:ext>
            </a:extLst>
          </p:cNvPr>
          <p:cNvSpPr txBox="1"/>
          <p:nvPr/>
        </p:nvSpPr>
        <p:spPr>
          <a:xfrm>
            <a:off x="802356" y="3916980"/>
            <a:ext cx="4709151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max_val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min_val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A7DD28E-004B-F6B5-3C9F-3208742EB15C}"/>
              </a:ext>
            </a:extLst>
          </p:cNvPr>
          <p:cNvSpPr txBox="1">
            <a:spLocks/>
          </p:cNvSpPr>
          <p:nvPr/>
        </p:nvSpPr>
        <p:spPr>
          <a:xfrm>
            <a:off x="581674" y="4959133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P.108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17] </a:t>
            </a:r>
            <a:r>
              <a:rPr lang="ko-KR" altLang="en-US" sz="1050" b="0" dirty="0"/>
              <a:t>사람 수 </a:t>
            </a:r>
            <a:r>
              <a:rPr lang="en-US" altLang="ko-KR" sz="1050" b="0" dirty="0"/>
              <a:t>k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모든 사람이 지나간 후 전등의 상태를 리스트로 반환하는 함수를 작성해보세요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코드가 올바르게 동작할 수 있도록 빈칸을 채워 전체 코드를 완성해 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3F894-B6FC-2052-C21C-94674AC12A2F}"/>
              </a:ext>
            </a:extLst>
          </p:cNvPr>
          <p:cNvSpPr txBox="1"/>
          <p:nvPr/>
        </p:nvSpPr>
        <p:spPr>
          <a:xfrm>
            <a:off x="801741" y="5814988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(k)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[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person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k+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multiple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range(person,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person):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answer[multiple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answer[multiple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992408C-330D-D5CA-9E0A-4A2CC9F473B4}"/>
              </a:ext>
            </a:extLst>
          </p:cNvPr>
          <p:cNvSpPr txBox="1">
            <a:spLocks/>
          </p:cNvSpPr>
          <p:nvPr/>
        </p:nvSpPr>
        <p:spPr>
          <a:xfrm>
            <a:off x="581674" y="7362608"/>
            <a:ext cx="4929833" cy="1467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P.110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18] </a:t>
            </a:r>
            <a:r>
              <a:rPr lang="ko-KR" altLang="en-US" sz="1050" b="0" dirty="0"/>
              <a:t>자연수 </a:t>
            </a:r>
            <a:r>
              <a:rPr lang="en-US" altLang="ko-KR" sz="1050" b="0" dirty="0"/>
              <a:t>k</a:t>
            </a:r>
            <a:r>
              <a:rPr lang="ko-KR" altLang="en-US" sz="1050" b="0" dirty="0"/>
              <a:t>가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함수의 매개변수로 주어질 때</a:t>
            </a:r>
            <a:r>
              <a:rPr lang="en-US" altLang="ko-KR" sz="1050" b="0" dirty="0"/>
              <a:t>, 1</a:t>
            </a:r>
            <a:r>
              <a:rPr lang="ko-KR" altLang="en-US" sz="1050" b="0" dirty="0"/>
              <a:t>부터 </a:t>
            </a:r>
            <a:r>
              <a:rPr lang="en-US" altLang="ko-KR" sz="1050" b="0" dirty="0"/>
              <a:t>k</a:t>
            </a:r>
            <a:r>
              <a:rPr lang="ko-KR" altLang="en-US" sz="1050" b="0" dirty="0"/>
              <a:t>까지 제곱의 합을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함수를 작성했습니다</a:t>
            </a:r>
            <a:r>
              <a:rPr lang="en-US" altLang="ko-KR" sz="1050" b="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50" b="0" dirty="0"/>
              <a:t>그러나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일부 코드가 잘못되어 코드가 바르게 동작하지 않습니다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주어진 코드가 모든 입력을 바르게 처리하도록 코드를 수정해주세요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코드는 한 줄만 수정해야 합니다</a:t>
            </a:r>
            <a:r>
              <a:rPr lang="en-US" altLang="ko-KR" sz="105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022900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9D368-6915-1F14-27C3-ED40E5708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7FC5F-754F-6F53-3054-5953DFC8D3B1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F1C75C63-8C63-DF62-A07F-FD41C8AE5BA0}"/>
              </a:ext>
            </a:extLst>
          </p:cNvPr>
          <p:cNvSpPr txBox="1">
            <a:spLocks/>
          </p:cNvSpPr>
          <p:nvPr/>
        </p:nvSpPr>
        <p:spPr>
          <a:xfrm>
            <a:off x="971339" y="2757562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P.111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19] </a:t>
            </a:r>
            <a:r>
              <a:rPr lang="ko-KR" altLang="en-US" sz="1050" b="0" dirty="0"/>
              <a:t>학생들의 입실 시간이 담긴 배열이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각 학생의 출결 상태를 판별하여 리스트로 반환하는 함수를 작성해보세요</a:t>
            </a:r>
            <a:r>
              <a:rPr lang="en-US" altLang="ko-KR" sz="1050" b="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50" b="0" dirty="0"/>
              <a:t>코드가 올바르게 동작할 수 있도록 빈칸을 채워 전체 코드를 완성해 주세요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코드가 올바르게 동작할 수 있도록 한 줄을 수정하여 전체 코드를 완성하세요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05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DEBD3A-71B1-61F7-3F99-866708FC1048}"/>
              </a:ext>
            </a:extLst>
          </p:cNvPr>
          <p:cNvSpPr txBox="1"/>
          <p:nvPr/>
        </p:nvSpPr>
        <p:spPr>
          <a:xfrm>
            <a:off x="1191406" y="3969017"/>
            <a:ext cx="4709151" cy="1015663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attendance &lt;= start + n: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attendance &lt;= start + m:   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answer.append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E9145-F149-11D9-DE3C-6506AA3456BF}"/>
              </a:ext>
            </a:extLst>
          </p:cNvPr>
          <p:cNvSpPr txBox="1"/>
          <p:nvPr/>
        </p:nvSpPr>
        <p:spPr>
          <a:xfrm>
            <a:off x="1191405" y="1334021"/>
            <a:ext cx="4709151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(k)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k+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44A2257-F594-6E44-2D77-973944933742}"/>
              </a:ext>
            </a:extLst>
          </p:cNvPr>
          <p:cNvSpPr txBox="1">
            <a:spLocks/>
          </p:cNvSpPr>
          <p:nvPr/>
        </p:nvSpPr>
        <p:spPr>
          <a:xfrm>
            <a:off x="971339" y="5224537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P.113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20] </a:t>
            </a:r>
            <a:r>
              <a:rPr lang="ko-KR" altLang="en-US" sz="1050" b="0" dirty="0"/>
              <a:t>우산을 가지고 다닌 날짜 목록 </a:t>
            </a:r>
            <a:r>
              <a:rPr lang="en-US" altLang="ko-KR" sz="1050" b="0" dirty="0"/>
              <a:t>umbrellas</a:t>
            </a:r>
            <a:r>
              <a:rPr lang="ko-KR" altLang="en-US" sz="1050" b="0" dirty="0"/>
              <a:t>와 비가 내린 날짜 목록 </a:t>
            </a:r>
            <a:r>
              <a:rPr lang="en-US" altLang="ko-KR" sz="1050" b="0" dirty="0"/>
              <a:t>rains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우산 없이 비를 맞은 날의 개수를 구하는 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026F5-3DB5-C3E8-19AF-3C0EDFB6D9CC}"/>
              </a:ext>
            </a:extLst>
          </p:cNvPr>
          <p:cNvSpPr txBox="1"/>
          <p:nvPr/>
        </p:nvSpPr>
        <p:spPr>
          <a:xfrm>
            <a:off x="1191406" y="6080392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(umbrellas, rains)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day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rains: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day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umbrellas: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1265789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EFFD-0B25-229C-BB57-0813499B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943F729-12F5-DB69-12F5-6609B32F9121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1F7137F-9EFF-477D-DBD4-5B5B4375422B}"/>
              </a:ext>
            </a:extLst>
          </p:cNvPr>
          <p:cNvSpPr txBox="1">
            <a:spLocks/>
          </p:cNvSpPr>
          <p:nvPr/>
        </p:nvSpPr>
        <p:spPr>
          <a:xfrm>
            <a:off x="582289" y="1308525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P.115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21] </a:t>
            </a:r>
            <a:r>
              <a:rPr lang="ko-KR" altLang="en-US" sz="1050" b="0" dirty="0"/>
              <a:t>문자열 </a:t>
            </a:r>
            <a:r>
              <a:rPr lang="en-US" altLang="ko-KR" sz="1050" b="0" dirty="0"/>
              <a:t>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문자열에 포함된 대문자의 개수를 반환하는 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9FEF3-262A-786B-0238-4D067E89C7F2}"/>
              </a:ext>
            </a:extLst>
          </p:cNvPr>
          <p:cNvSpPr txBox="1"/>
          <p:nvPr/>
        </p:nvSpPr>
        <p:spPr>
          <a:xfrm>
            <a:off x="802356" y="2011980"/>
            <a:ext cx="4709151" cy="1323439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'Z'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FD6990D-E6F1-D0B4-9BAB-5C465219CD2A}"/>
              </a:ext>
            </a:extLst>
          </p:cNvPr>
          <p:cNvSpPr txBox="1">
            <a:spLocks/>
          </p:cNvSpPr>
          <p:nvPr/>
        </p:nvSpPr>
        <p:spPr>
          <a:xfrm>
            <a:off x="582289" y="3543725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P.116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22] </a:t>
            </a:r>
            <a:r>
              <a:rPr lang="ko-KR" altLang="en-US" sz="1050" b="0" dirty="0"/>
              <a:t>격자 배열 </a:t>
            </a:r>
            <a:r>
              <a:rPr lang="en-US" altLang="ko-KR" sz="1050" b="0" dirty="0"/>
              <a:t>grid</a:t>
            </a:r>
            <a:r>
              <a:rPr lang="ko-KR" altLang="en-US" sz="1050" b="0" dirty="0"/>
              <a:t>가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함수의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조건에 맞게 값을 선택하여 리스트로 반환하도록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코드가 올바르게 동작할 수 있도록 빈칸을 채워 전체 코드를 완성해주세요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DD7025-72FC-5614-3DAE-2CFD9E2B56A3}"/>
              </a:ext>
            </a:extLst>
          </p:cNvPr>
          <p:cNvSpPr txBox="1"/>
          <p:nvPr/>
        </p:nvSpPr>
        <p:spPr>
          <a:xfrm>
            <a:off x="802356" y="4399580"/>
            <a:ext cx="4709151" cy="163121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427B58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def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76678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solution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B57614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(grid)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427B58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: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   answer = []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  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for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in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range(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6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):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      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if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%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==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: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          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answer.append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(max(grid[i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]))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      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else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: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          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answer.append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(min(grid[i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8F3F71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]))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   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9D000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return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3C3836"/>
                </a:solidFill>
                <a:effectLst/>
                <a:uLnTx/>
                <a:uFillTx/>
                <a:latin typeface="Consolas" panose="020B0609020204030204" pitchFamily="49" charset="0"/>
                <a:ea typeface="맑은 고딕" panose="020B0503020000020004" pitchFamily="50" charset="-127"/>
                <a:cs typeface="+mn-cs"/>
              </a:rPr>
              <a:t> answer</a:t>
            </a:r>
            <a:endParaRPr lang="ko-KR" altLang="en-US" sz="100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2CFAB6BA-1837-801C-FAA3-11CD062E53B1}"/>
              </a:ext>
            </a:extLst>
          </p:cNvPr>
          <p:cNvSpPr txBox="1">
            <a:spLocks/>
          </p:cNvSpPr>
          <p:nvPr/>
        </p:nvSpPr>
        <p:spPr>
          <a:xfrm>
            <a:off x="581674" y="6241833"/>
            <a:ext cx="5069826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P.118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23] </a:t>
            </a:r>
            <a:r>
              <a:rPr lang="ko-KR" altLang="en-US" sz="1050" b="0" dirty="0"/>
              <a:t>각 날짜의 기온 정보가 담긴 배열 </a:t>
            </a:r>
            <a:r>
              <a:rPr lang="en-US" altLang="ko-KR" sz="1050" b="0" dirty="0"/>
              <a:t>temperatures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전체 기간 동안 판매된 총 제품 수를 구하여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코드가 올바르게 동작할 수 있도록 빈칸을 채워 전체 코드를 완성해주세요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EEE0EB-B5D4-8FFB-1E7F-9339F44510D3}"/>
              </a:ext>
            </a:extLst>
          </p:cNvPr>
          <p:cNvSpPr txBox="1"/>
          <p:nvPr/>
        </p:nvSpPr>
        <p:spPr>
          <a:xfrm>
            <a:off x="801741" y="7097688"/>
            <a:ext cx="4709151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(temperatures)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temperature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temperatures: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temperature[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-15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temperature[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2000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500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4799864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79B0-2195-64B5-BC8A-F2788B07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7B2F3-DC84-9AA3-F010-1F17C2AF1153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B3722EF-E7FD-7FC9-8BFF-46A433F6C174}"/>
              </a:ext>
            </a:extLst>
          </p:cNvPr>
          <p:cNvSpPr txBox="1">
            <a:spLocks/>
          </p:cNvSpPr>
          <p:nvPr/>
        </p:nvSpPr>
        <p:spPr>
          <a:xfrm>
            <a:off x="971339" y="1322462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P.120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24] </a:t>
            </a:r>
            <a:r>
              <a:rPr lang="ko-KR" altLang="en-US" sz="1050" b="0" dirty="0"/>
              <a:t>정수가 들어 있는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차원 배열 </a:t>
            </a:r>
            <a:r>
              <a:rPr lang="en-US" altLang="ko-KR" sz="1050" b="0" dirty="0"/>
              <a:t>arr2d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위 과정을 수행한 결과를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50" b="0" dirty="0"/>
              <a:t>아래 프로그램 구조가 올바르게 동작할 수 있도록 빈칸을 알맞게 채워 넣으세요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1055F-2F6F-DCD0-5FC5-E911CED4AEB3}"/>
              </a:ext>
            </a:extLst>
          </p:cNvPr>
          <p:cNvSpPr txBox="1"/>
          <p:nvPr/>
        </p:nvSpPr>
        <p:spPr>
          <a:xfrm>
            <a:off x="1191406" y="2318017"/>
            <a:ext cx="4709151" cy="378565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&gt;=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x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ret[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x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 &lt;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-ret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func_c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(sum(a))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43070AD-711A-4676-DAC8-49A507DB4297}"/>
              </a:ext>
            </a:extLst>
          </p:cNvPr>
          <p:cNvSpPr txBox="1">
            <a:spLocks/>
          </p:cNvSpPr>
          <p:nvPr/>
        </p:nvSpPr>
        <p:spPr>
          <a:xfrm>
            <a:off x="971339" y="6405637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P.122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25] </a:t>
            </a:r>
            <a:r>
              <a:rPr lang="ko-KR" altLang="en-US" sz="1050" b="0" dirty="0"/>
              <a:t>참가자의 출발 시각과 도착 시각을 담은 </a:t>
            </a:r>
            <a:r>
              <a:rPr lang="en-US" altLang="ko-KR" sz="1050" b="0" dirty="0"/>
              <a:t>2</a:t>
            </a:r>
            <a:r>
              <a:rPr lang="ko-KR" altLang="en-US" sz="1050" b="0" dirty="0"/>
              <a:t>차원 배열 </a:t>
            </a:r>
            <a:r>
              <a:rPr lang="en-US" altLang="ko-KR" sz="1050" b="0" dirty="0"/>
              <a:t>times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가장 짧은 시간 안에 작업을 수행한 참가자의 번호를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아래 프로그램 구조가 올바르게 동작할 수 있도록 빈칸을 알맞게 채워 넣으세요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891AA-2402-D3D7-7932-26336CE7E0EF}"/>
              </a:ext>
            </a:extLst>
          </p:cNvPr>
          <p:cNvSpPr txBox="1"/>
          <p:nvPr/>
        </p:nvSpPr>
        <p:spPr>
          <a:xfrm>
            <a:off x="1191407" y="7566292"/>
            <a:ext cx="4447394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func_a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ret = []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start_time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end_time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func_b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(a[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ret.append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end_time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start_time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ret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8502625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5B9A-10A1-FD81-9573-6EEF06F9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87D5BE8-0AF3-1121-0EB6-F69EED8B53EF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42AEE-ED40-EDB4-119D-0182527575E2}"/>
              </a:ext>
            </a:extLst>
          </p:cNvPr>
          <p:cNvSpPr txBox="1"/>
          <p:nvPr/>
        </p:nvSpPr>
        <p:spPr>
          <a:xfrm>
            <a:off x="802356" y="1389680"/>
            <a:ext cx="4709151" cy="2862322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def </a:t>
            </a:r>
            <a:r>
              <a:rPr lang="en-US" altLang="ko-KR" sz="1000" dirty="0" err="1">
                <a:solidFill>
                  <a:srgbClr val="076678"/>
                </a:solidFill>
                <a:latin typeface="Consolas" panose="020B0609020204030204" pitchFamily="49" charset="0"/>
              </a:rPr>
              <a:t>func_b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(s)</a:t>
            </a: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hour = int(s[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]) *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+ int(s[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minute = int(s[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]) *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+ int(s[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second = int(s[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]) *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+ int(s[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7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])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hour *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3600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+ minute *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60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+ second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def </a:t>
            </a:r>
            <a:r>
              <a:rPr lang="en-US" altLang="ko-KR" sz="1000" dirty="0" err="1">
                <a:solidFill>
                  <a:srgbClr val="076678"/>
                </a:solidFill>
                <a:latin typeface="Consolas" panose="020B0609020204030204" pitchFamily="49" charset="0"/>
              </a:rPr>
              <a:t>func_c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B57614"/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min_num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 min(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, a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enumerate(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):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min_num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== a: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000" dirty="0">
                <a:solidFill>
                  <a:srgbClr val="8F3F71"/>
                </a:solidFill>
                <a:latin typeface="Consolas" panose="020B0609020204030204" pitchFamily="49" charset="0"/>
              </a:rPr>
              <a:t>1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def </a:t>
            </a:r>
            <a:r>
              <a:rPr lang="en-US" altLang="ko-KR" sz="1000" dirty="0">
                <a:solidFill>
                  <a:srgbClr val="076678"/>
                </a:solidFill>
                <a:latin typeface="Consolas" panose="020B0609020204030204" pitchFamily="49" charset="0"/>
              </a:rPr>
              <a:t>solution</a:t>
            </a:r>
            <a:r>
              <a:rPr lang="en-US" altLang="ko-KR" sz="1000" dirty="0">
                <a:solidFill>
                  <a:srgbClr val="B57614"/>
                </a:solidFill>
                <a:latin typeface="Consolas" panose="020B0609020204030204" pitchFamily="49" charset="0"/>
              </a:rPr>
              <a:t>(times)</a:t>
            </a:r>
            <a:r>
              <a:rPr lang="en-US" altLang="ko-KR" sz="1000" dirty="0">
                <a:solidFill>
                  <a:srgbClr val="427B58"/>
                </a:solidFill>
                <a:latin typeface="Consolas" panose="020B0609020204030204" pitchFamily="49" charset="0"/>
              </a:rPr>
              <a:t>: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records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func_a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(times)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answer = </a:t>
            </a:r>
            <a:r>
              <a:rPr lang="en-US" altLang="ko-KR" sz="1000" dirty="0" err="1">
                <a:solidFill>
                  <a:srgbClr val="3C3836"/>
                </a:solidFill>
                <a:latin typeface="Consolas" panose="020B0609020204030204" pitchFamily="49" charset="0"/>
              </a:rPr>
              <a:t>func_c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(records)</a:t>
            </a:r>
            <a:b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</a:b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D000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00" dirty="0">
                <a:solidFill>
                  <a:srgbClr val="3C3836"/>
                </a:solidFill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34E0F231-3550-6EF3-0036-C42ED4B70917}"/>
              </a:ext>
            </a:extLst>
          </p:cNvPr>
          <p:cNvSpPr txBox="1">
            <a:spLocks/>
          </p:cNvSpPr>
          <p:nvPr/>
        </p:nvSpPr>
        <p:spPr>
          <a:xfrm>
            <a:off x="582289" y="4534325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P.124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26] </a:t>
            </a:r>
            <a:r>
              <a:rPr lang="ko-KR" altLang="en-US" sz="1050" b="0" dirty="0"/>
              <a:t>장비의 무게 제한 </a:t>
            </a:r>
            <a:r>
              <a:rPr lang="en-US" altLang="ko-KR" sz="1050" b="0" dirty="0"/>
              <a:t>limit</a:t>
            </a:r>
            <a:r>
              <a:rPr lang="ko-KR" altLang="en-US" sz="1050" b="0" dirty="0"/>
              <a:t>과 대기자의 몸무게를 순서대로 담은 배열 </a:t>
            </a:r>
            <a:r>
              <a:rPr lang="en-US" altLang="ko-KR" sz="1050" b="0" dirty="0"/>
              <a:t>weights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탑승 가능한 최대 인원을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하지만 코드의 한 부분이 잘못되어 있어 일부 입력에서 올바르게 동작하지 않습니다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주어진 코드에서 한 줄만 수정하여 모든 입력에 대해 올바르게 동작하도록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9C44F0-09A6-F7A8-759E-D788635E083F}"/>
              </a:ext>
            </a:extLst>
          </p:cNvPr>
          <p:cNvSpPr txBox="1"/>
          <p:nvPr/>
        </p:nvSpPr>
        <p:spPr>
          <a:xfrm>
            <a:off x="802356" y="5948980"/>
            <a:ext cx="4709151" cy="1477328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(limit, weights)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weight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weights: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total + weight &gt; limit: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total += weight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0063258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7A660-659B-6EB9-8158-88B2FD4F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690C3-446A-9DB3-62B5-DC5ECF9B0492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COS PRO 2</a:t>
            </a:r>
            <a:r>
              <a:rPr lang="ko-KR" altLang="en-US" sz="1200" dirty="0"/>
              <a:t>급 기출문제 정답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E58A16CB-D359-31D0-34BE-604930C84A8E}"/>
              </a:ext>
            </a:extLst>
          </p:cNvPr>
          <p:cNvSpPr txBox="1">
            <a:spLocks/>
          </p:cNvSpPr>
          <p:nvPr/>
        </p:nvSpPr>
        <p:spPr>
          <a:xfrm>
            <a:off x="971339" y="1322462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P.126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27] </a:t>
            </a:r>
            <a:r>
              <a:rPr lang="ko-KR" altLang="en-US" sz="1050" b="0" dirty="0"/>
              <a:t>음식의 종류 수 </a:t>
            </a:r>
            <a:r>
              <a:rPr lang="en-US" altLang="ko-KR" sz="1050" b="0" dirty="0"/>
              <a:t>foods</a:t>
            </a:r>
            <a:r>
              <a:rPr lang="ko-KR" altLang="en-US" sz="1050" b="0" dirty="0"/>
              <a:t>와 날짜 수 </a:t>
            </a:r>
            <a:r>
              <a:rPr lang="en-US" altLang="ko-KR" sz="1050" b="0" dirty="0"/>
              <a:t>days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조건을 만족하는 선택 방법의 수를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하지만 현재 코드에는 오류가 있어 일부 입력에서 올바르게 동작하지 않습니다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주어진 코드에서 한 줄만 수정하여 모든 입력에서 올바르게 동작하도록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AA977-2891-1C7F-383B-013F5B220AF7}"/>
              </a:ext>
            </a:extLst>
          </p:cNvPr>
          <p:cNvSpPr txBox="1"/>
          <p:nvPr/>
        </p:nvSpPr>
        <p:spPr>
          <a:xfrm>
            <a:off x="1191406" y="2483117"/>
            <a:ext cx="4709151" cy="861774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(foods, days)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foods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days):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*= (foods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7ECC8B4-68A1-0B19-4FC7-E87E5F7E6163}"/>
              </a:ext>
            </a:extLst>
          </p:cNvPr>
          <p:cNvSpPr txBox="1">
            <a:spLocks/>
          </p:cNvSpPr>
          <p:nvPr/>
        </p:nvSpPr>
        <p:spPr>
          <a:xfrm>
            <a:off x="971339" y="3548137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P.128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28] </a:t>
            </a:r>
            <a:r>
              <a:rPr lang="ko-KR" altLang="en-US" sz="1050" b="0" dirty="0"/>
              <a:t>원하는 시간 </a:t>
            </a:r>
            <a:r>
              <a:rPr lang="en-US" altLang="ko-KR" sz="1050" b="0" dirty="0"/>
              <a:t>t</a:t>
            </a:r>
            <a:r>
              <a:rPr lang="ko-KR" altLang="en-US" sz="1050" b="0" dirty="0"/>
              <a:t>가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최소 버튼 입력 횟수를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작성했습니다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하지만 현재 코드에는 오류가 있어 일부 입력에서 올바르게 동작하지 않습니다</a:t>
            </a:r>
            <a:r>
              <a:rPr lang="en-US" altLang="ko-KR" sz="1050" b="0" dirty="0"/>
              <a:t>. </a:t>
            </a:r>
            <a:r>
              <a:rPr lang="ko-KR" altLang="en-US" sz="1050" b="0" dirty="0"/>
              <a:t>주어진 코드에서 한 줄만 수정하여 모든 입력에서 올바르게 동작하도록 완성하세요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98F9B-21E2-938C-4A21-6D0FD58588C3}"/>
              </a:ext>
            </a:extLst>
          </p:cNvPr>
          <p:cNvSpPr txBox="1"/>
          <p:nvPr/>
        </p:nvSpPr>
        <p:spPr>
          <a:xfrm>
            <a:off x="1191406" y="4708792"/>
            <a:ext cx="4709151" cy="1169551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button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button: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answer += t //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t %= b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C7CA9FC-BDB7-6FCF-5F61-DF3BA0AAE16A}"/>
              </a:ext>
            </a:extLst>
          </p:cNvPr>
          <p:cNvSpPr txBox="1">
            <a:spLocks/>
          </p:cNvSpPr>
          <p:nvPr/>
        </p:nvSpPr>
        <p:spPr>
          <a:xfrm>
            <a:off x="970724" y="6116271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050" b="0" dirty="0"/>
              <a:t>[</a:t>
            </a:r>
            <a:r>
              <a:rPr lang="en-US" altLang="ko-KR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P.130</a:t>
            </a:r>
            <a:r>
              <a:rPr lang="ko-KR" altLang="en-US" sz="1050" b="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050" b="0" dirty="0"/>
              <a:t>문제</a:t>
            </a:r>
            <a:r>
              <a:rPr lang="en-US" altLang="ko-KR" sz="1050" b="0" dirty="0"/>
              <a:t> 29] </a:t>
            </a:r>
            <a:r>
              <a:rPr lang="ko-KR" altLang="en-US" sz="1050" b="0" dirty="0"/>
              <a:t>시험 점수가 담긴 배열 </a:t>
            </a:r>
            <a:r>
              <a:rPr lang="en-US" altLang="ko-KR" sz="1050" b="0" dirty="0"/>
              <a:t>scores</a:t>
            </a:r>
            <a:r>
              <a:rPr lang="ko-KR" altLang="en-US" sz="1050" b="0" dirty="0"/>
              <a:t>가 매개변수로 주어질 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위 규칙에 따라 계산한 최종 점수를 </a:t>
            </a:r>
            <a:r>
              <a:rPr lang="en-US" altLang="ko-KR" sz="1050" b="0" dirty="0"/>
              <a:t>return </a:t>
            </a:r>
            <a:r>
              <a:rPr lang="ko-KR" altLang="en-US" sz="1050" b="0" dirty="0"/>
              <a:t>하도록 </a:t>
            </a:r>
            <a:r>
              <a:rPr lang="en-US" altLang="ko-KR" sz="1050" b="0" dirty="0"/>
              <a:t>solution() </a:t>
            </a:r>
            <a:r>
              <a:rPr lang="ko-KR" altLang="en-US" sz="1050" b="0" dirty="0"/>
              <a:t>함수를 작성해보세요</a:t>
            </a:r>
            <a:r>
              <a:rPr lang="en-US" altLang="ko-KR" sz="1050" b="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FF2DF-A62C-A24E-25FB-35B7DBABDD1F}"/>
              </a:ext>
            </a:extLst>
          </p:cNvPr>
          <p:cNvSpPr txBox="1"/>
          <p:nvPr/>
        </p:nvSpPr>
        <p:spPr>
          <a:xfrm>
            <a:off x="1190791" y="6807026"/>
            <a:ext cx="4709151" cy="707886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(scores)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total = sum(scores) - min(scores)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total // 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(scores) -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289151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18C0-DAF3-2935-0E3B-34347F75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84C8A57-2754-0728-9FA1-0026A94C26F3}"/>
              </a:ext>
            </a:extLst>
          </p:cNvPr>
          <p:cNvSpPr txBox="1">
            <a:spLocks/>
          </p:cNvSpPr>
          <p:nvPr/>
        </p:nvSpPr>
        <p:spPr>
          <a:xfrm>
            <a:off x="710682" y="923345"/>
            <a:ext cx="3733114" cy="24896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55168" rtl="0" eaLnBrk="1" fontAlgn="auto" latinLnBrk="1" hangingPunct="1">
              <a:lnSpc>
                <a:spcPct val="90000"/>
              </a:lnSpc>
              <a:spcBef>
                <a:spcPts val="71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COS PRO 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급 기출문제 정답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7753FD0-EDC6-A089-AF69-824E1F5BBDF5}"/>
              </a:ext>
            </a:extLst>
          </p:cNvPr>
          <p:cNvSpPr txBox="1">
            <a:spLocks/>
          </p:cNvSpPr>
          <p:nvPr/>
        </p:nvSpPr>
        <p:spPr>
          <a:xfrm>
            <a:off x="582289" y="1308525"/>
            <a:ext cx="4929833" cy="615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55168" rtl="0" eaLnBrk="1" fontAlgn="auto" latinLnBrk="1" hangingPunct="1">
              <a:lnSpc>
                <a:spcPct val="150000"/>
              </a:lnSpc>
              <a:spcBef>
                <a:spcPts val="71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+mn-cs"/>
              </a:rPr>
              <a:t>P.132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]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학생들의 역할을 나타내는 배열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best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매개변수로 주어질 때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조건을 만족하는 팀을 최대 몇 개 만들 수 있는지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return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하도록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solution()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함수를 작성해보세요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AD6C7-9D66-2CC6-C82A-4749FF04624B}"/>
              </a:ext>
            </a:extLst>
          </p:cNvPr>
          <p:cNvSpPr txBox="1"/>
          <p:nvPr/>
        </p:nvSpPr>
        <p:spPr>
          <a:xfrm>
            <a:off x="802356" y="2304080"/>
            <a:ext cx="4709151" cy="3477875"/>
          </a:xfrm>
          <a:prstGeom prst="rect">
            <a:avLst/>
          </a:prstGeom>
          <a:solidFill>
            <a:srgbClr val="F5FAFD"/>
          </a:solidFill>
          <a:ln>
            <a:solidFill>
              <a:schemeClr val="tx2"/>
            </a:solidFill>
            <a:prstDash val="sysDot"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(best)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count = 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  </a:t>
            </a:r>
            <a:r>
              <a:rPr lang="en-US" altLang="ko-KR" sz="1000" b="0" i="1" u="none" strike="noStrike" dirty="0">
                <a:solidFill>
                  <a:srgbClr val="928374"/>
                </a:solidFill>
                <a:effectLst/>
                <a:latin typeface="Consolas" panose="020B0609020204030204" pitchFamily="49" charset="0"/>
              </a:rPr>
              <a:t># a, b, c, d, e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best: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 err="1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x ==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"e"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count[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answer = count[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count[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 &lt; answer: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answer = count[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answer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982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22792</TotalTime>
  <Words>35362</Words>
  <Application>Microsoft Office PowerPoint</Application>
  <PresentationFormat>사용자 지정</PresentationFormat>
  <Paragraphs>2444</Paragraphs>
  <Slides>144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144</vt:i4>
      </vt:variant>
    </vt:vector>
  </HeadingPairs>
  <TitlesOfParts>
    <vt:vector size="156" baseType="lpstr">
      <vt:lpstr>12롯데마트드림Medium</vt:lpstr>
      <vt:lpstr>Microsoft GothicNeo</vt:lpstr>
      <vt:lpstr>Microsoft GothicNeo Light</vt:lpstr>
      <vt:lpstr>맑은 고딕</vt:lpstr>
      <vt:lpstr>휴먼모음T</vt:lpstr>
      <vt:lpstr>휴먼편지체</vt:lpstr>
      <vt:lpstr>Arial</vt:lpstr>
      <vt:lpstr>Calibri</vt:lpstr>
      <vt:lpstr>Calibri Light</vt:lpstr>
      <vt:lpstr>Consolas</vt:lpstr>
      <vt:lpstr>Wingdings</vt:lpstr>
      <vt:lpstr>Office 2013 - 2022 테마</vt:lpstr>
      <vt:lpstr>5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6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7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152</cp:revision>
  <cp:lastPrinted>2025-12-02T08:02:40Z</cp:lastPrinted>
  <dcterms:created xsi:type="dcterms:W3CDTF">2023-06-21T09:07:53Z</dcterms:created>
  <dcterms:modified xsi:type="dcterms:W3CDTF">2026-06-01T00:08:05Z</dcterms:modified>
</cp:coreProperties>
</file>
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432" r:id="rId2"/>
    <p:sldId id="1433" r:id="rId3"/>
    <p:sldId id="323" r:id="rId4"/>
    <p:sldId id="324" r:id="rId5"/>
    <p:sldId id="314" r:id="rId6"/>
    <p:sldId id="327" r:id="rId7"/>
    <p:sldId id="331" r:id="rId8"/>
    <p:sldId id="1430" r:id="rId9"/>
    <p:sldId id="1431" r:id="rId10"/>
    <p:sldId id="1434" r:id="rId11"/>
    <p:sldId id="335" r:id="rId12"/>
    <p:sldId id="339" r:id="rId13"/>
    <p:sldId id="1435" r:id="rId14"/>
    <p:sldId id="348" r:id="rId15"/>
    <p:sldId id="1436" r:id="rId16"/>
    <p:sldId id="349" r:id="rId17"/>
    <p:sldId id="1437" r:id="rId18"/>
    <p:sldId id="350" r:id="rId19"/>
    <p:sldId id="1438" r:id="rId20"/>
    <p:sldId id="352" r:id="rId21"/>
    <p:sldId id="374" r:id="rId22"/>
    <p:sldId id="1439" r:id="rId23"/>
    <p:sldId id="553" r:id="rId24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E7D16"/>
    <a:srgbClr val="213540"/>
    <a:srgbClr val="FFD44E"/>
    <a:srgbClr val="704837"/>
    <a:srgbClr val="7396F5"/>
    <a:srgbClr val="EE6E73"/>
    <a:srgbClr val="FE4E50"/>
    <a:srgbClr val="E6E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059" autoAdjust="0"/>
    <p:restoredTop sz="95494" autoAdjust="0"/>
  </p:normalViewPr>
  <p:slideViewPr>
    <p:cSldViewPr>
      <p:cViewPr varScale="1">
        <p:scale>
          <a:sx n="146" d="100"/>
          <a:sy n="146" d="100"/>
        </p:scale>
        <p:origin x="19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5"/>
            <a:ext cx="5510530" cy="394611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9AE60-4DB3-DF85-0EED-4C565543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FEB402-936D-EA0C-A5CE-A4C0C7D9E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44EBCA-A4BE-32AD-DB9E-DBCE34959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35238B-6A1A-A698-68B0-3B629200A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234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FD71-C1AF-DB01-EBB0-24CC2DCD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695C0D-F421-D37F-B6D2-24FE31485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DC75BD-456D-A756-7B05-B9A47D0E9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0172B-B723-A6FA-DADC-743ECDE26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21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4A69-9DB2-D465-856E-E3B95FAE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363BAE-CD8F-8E92-62E2-65D589E31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EDE1C3-2C0D-2CBF-5629-C331ED6AB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C172C-7A33-869C-2DCA-973D1FDF9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78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491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277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016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816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A4CB-A54A-F4D0-9E30-F3D8A8DB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31C2D8-7D34-2293-68F2-570D7156D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8D1CF7-D534-C561-90BA-9E8A1A441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FEA578-D741-4AAE-3E18-AA7121077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92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319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89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CDB0-0BD0-DFAE-9C2B-0DCE86B9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4D7558-3B6F-2AC0-787E-069F593B3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5CEE00-564D-FAC4-A7D9-D43E8C027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DDE4B-0906-4C73-A104-396429F49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924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221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855E-7B75-5AA4-08E5-8552A6BD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D817D0-01AD-E90B-FCCC-73C9CA88B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F16DB3-8F54-432C-371B-BD0369AB5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B1DEBA-53D0-5949-ABE4-4A4C24B89D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79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89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E25A-EB9F-44DC-F452-BBAE4953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6590C9-EE01-3DB4-7145-DFF13663A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05B9FE-3752-F446-5E14-2F8F171D2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0FA17-93E6-7F2B-4F74-B85491A15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04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137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6503-BDF2-F55E-E027-44C9763E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A81EB-2367-C6BD-4367-A3143B148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766805-4C80-4151-BE28-1D5529BDF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3CD1C-9ADC-66EB-BBDE-89F66753F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888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093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911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4758-8D34-0AC6-7411-BA0A215F3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B75389-DF27-19E4-4E1C-E9D289C15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D093F5-1E01-53BE-8A0E-5AEB73BE8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연산자 </a:t>
            </a:r>
            <a:r>
              <a:rPr lang="en-US" altLang="ko-KR" baseline="0" dirty="0"/>
              <a:t>: </a:t>
            </a:r>
            <a:r>
              <a:rPr lang="en-US" altLang="ko-KR" baseline="0" dirty="0" err="1"/>
              <a:t>int</a:t>
            </a:r>
            <a:r>
              <a:rPr lang="en-US" altLang="ko-KR" baseline="0" dirty="0"/>
              <a:t> , double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FE89BA-983E-D2AB-BDB5-784EDB5B1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D8866-25A2-4D5B-B22F-B462D513A4F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26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51034" y="1518044"/>
            <a:ext cx="6841938" cy="21604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9. 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함수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12롯데마트드림Medium" panose="02020603020101020101" pitchFamily="18" charset="-127"/>
              <a:ea typeface="나눔바른고딕 옛한글" panose="020B0603020101020101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8CE04E-3AEA-2546-82B6-E6078099DA44}"/>
              </a:ext>
            </a:extLst>
          </p:cNvPr>
          <p:cNvSpPr txBox="1"/>
          <p:nvPr/>
        </p:nvSpPr>
        <p:spPr>
          <a:xfrm>
            <a:off x="8677468" y="411510"/>
            <a:ext cx="366126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35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1AD2-6E06-F695-B1A2-23F7163F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C5C46A-B6C2-5EDD-1B11-4CA9532FAFA4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BC5B5-EBB9-D354-8DC6-8948446B5A7B}"/>
              </a:ext>
            </a:extLst>
          </p:cNvPr>
          <p:cNvSpPr txBox="1"/>
          <p:nvPr/>
        </p:nvSpPr>
        <p:spPr>
          <a:xfrm>
            <a:off x="504686" y="444110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따라해보기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F5D806-8E83-5147-83CD-444CDBC7981A}"/>
              </a:ext>
            </a:extLst>
          </p:cNvPr>
          <p:cNvSpPr/>
          <p:nvPr/>
        </p:nvSpPr>
        <p:spPr>
          <a:xfrm>
            <a:off x="5364088" y="1243188"/>
            <a:ext cx="2994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두 수를 더하는 기능을 함수로 표현</a:t>
            </a:r>
            <a:endParaRPr lang="en-US" altLang="ko-KR" sz="14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117777-96D5-F82E-12EF-978F9CF38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169" y="1763142"/>
            <a:ext cx="2362200" cy="7366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F28EE9-B3E6-4E42-BCEA-AF2DF332A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169" y="2495274"/>
            <a:ext cx="2362200" cy="406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1C8BC3F-4D8C-22A9-8A64-5ECCB779F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169" y="2927722"/>
            <a:ext cx="2362200" cy="2921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0B2C09-2259-C827-56F8-F5733992248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034"/>
          <a:stretch/>
        </p:blipFill>
        <p:spPr>
          <a:xfrm>
            <a:off x="782022" y="1306336"/>
            <a:ext cx="4222026" cy="237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911C-CE08-42D6-EEAB-100355F0C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94A28-027C-B95B-11A8-87E83AC5370E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6E557-8AB1-A500-D721-CDB27079E86C}"/>
              </a:ext>
            </a:extLst>
          </p:cNvPr>
          <p:cNvSpPr txBox="1"/>
          <p:nvPr/>
        </p:nvSpPr>
        <p:spPr>
          <a:xfrm>
            <a:off x="504686" y="444110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이해하기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2CEF5-E124-B5BD-FA78-E383BE5FE759}"/>
              </a:ext>
            </a:extLst>
          </p:cNvPr>
          <p:cNvSpPr txBox="1"/>
          <p:nvPr/>
        </p:nvSpPr>
        <p:spPr>
          <a:xfrm>
            <a:off x="518885" y="959455"/>
            <a:ext cx="7200800" cy="3844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5478" lvl="0" indent="-285750">
              <a:spcBef>
                <a:spcPts val="400"/>
              </a:spcBef>
              <a:buSzPct val="68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함수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: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특정한 작업을 처리하기 위한 프로그램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109728" lvl="0">
              <a:spcBef>
                <a:spcPts val="400"/>
              </a:spcBef>
              <a:buSzPct val="68000"/>
            </a:pP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109728" lvl="0">
              <a:spcBef>
                <a:spcPts val="400"/>
              </a:spcBef>
              <a:buSzPct val="68000"/>
            </a:pP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109728" lvl="0">
              <a:spcBef>
                <a:spcPts val="400"/>
              </a:spcBef>
              <a:buSzPct val="68000"/>
            </a:pP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395478" indent="-285750">
              <a:spcBef>
                <a:spcPts val="400"/>
              </a:spcBef>
              <a:buSzPct val="68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함수 만들기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[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정의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,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define]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: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def 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함수 이름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매개변수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,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매개변수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):</a:t>
            </a:r>
            <a:endParaRPr lang="en-US" altLang="ko-KR" sz="1400" b="1" dirty="0">
              <a:solidFill>
                <a:srgbClr val="FF0000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566928" lvl="1">
              <a:lnSpc>
                <a:spcPct val="150000"/>
              </a:lnSpc>
              <a:spcBef>
                <a:spcPts val="400"/>
              </a:spcBef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1.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함수를 만들 때 가장 먼저 이름을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정해야함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566928" lvl="1">
              <a:lnSpc>
                <a:spcPct val="150000"/>
              </a:lnSpc>
              <a:spcBef>
                <a:spcPts val="400"/>
              </a:spcBef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-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함수 이름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: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b="1" dirty="0" err="1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sum_func</a:t>
            </a:r>
            <a:endParaRPr lang="en-US" altLang="ko-KR" sz="1400" b="1" dirty="0">
              <a:solidFill>
                <a:srgbClr val="FF0000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566928" lvl="1">
              <a:lnSpc>
                <a:spcPct val="150000"/>
              </a:lnSpc>
              <a:spcBef>
                <a:spcPts val="400"/>
              </a:spcBef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2.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매개변수를 선언함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매개변수는 없어도 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,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개수 제한 없음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</a:t>
            </a:r>
          </a:p>
          <a:p>
            <a:pPr marL="566928" lvl="1">
              <a:lnSpc>
                <a:spcPct val="150000"/>
              </a:lnSpc>
              <a:spcBef>
                <a:spcPts val="400"/>
              </a:spcBef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-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매개 변수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: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(x, y)</a:t>
            </a:r>
          </a:p>
          <a:p>
            <a:pPr marL="566928" lvl="1">
              <a:lnSpc>
                <a:spcPct val="150000"/>
              </a:lnSpc>
              <a:spcBef>
                <a:spcPts val="400"/>
              </a:spcBef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3.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리턴값이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있는 경우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return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리턴할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값이 없는 경우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사용안함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</a:t>
            </a:r>
          </a:p>
          <a:p>
            <a:pPr marL="566928" lvl="1">
              <a:lnSpc>
                <a:spcPct val="150000"/>
              </a:lnSpc>
              <a:spcBef>
                <a:spcPts val="400"/>
              </a:spcBef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-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리턴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반환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: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return </a:t>
            </a:r>
            <a:r>
              <a:rPr lang="en-US" altLang="ko-KR" sz="1400" b="1" dirty="0"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ret</a:t>
            </a:r>
            <a:endParaRPr lang="ko-KR" altLang="en-US" sz="1050" b="1" dirty="0"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  <a:p>
            <a:pPr marL="393192" lvl="1">
              <a:spcBef>
                <a:spcPts val="324"/>
              </a:spcBef>
              <a:buClr>
                <a:srgbClr val="2DA2BF"/>
              </a:buClr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F91319-B30A-1A98-35BB-15C55DE5D9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2890" y="3406325"/>
            <a:ext cx="2279898" cy="7697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8DE7E4-13F4-A93B-E6D0-47C1CC603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968308"/>
            <a:ext cx="3715680" cy="102737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41E8D4A-6A37-B96C-72C1-24C18F6881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7660" b="70358"/>
          <a:stretch/>
        </p:blipFill>
        <p:spPr>
          <a:xfrm>
            <a:off x="6012160" y="3487614"/>
            <a:ext cx="2664296" cy="69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7D17-650C-0DC4-7A48-B4DE32AC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46AAE-7906-BE5B-3E8A-3FF0CD011F42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C615E2-C3E0-6320-CFE3-02C00D81731E}"/>
              </a:ext>
            </a:extLst>
          </p:cNvPr>
          <p:cNvSpPr txBox="1"/>
          <p:nvPr/>
        </p:nvSpPr>
        <p:spPr>
          <a:xfrm>
            <a:off x="504686" y="444110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사용하기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0789E3-1973-F8B7-9CFB-FF2E6E51C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979" y="1751256"/>
            <a:ext cx="3575496" cy="543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C44EA5-AFFC-0FB4-B3CA-8B5AB444090D}"/>
              </a:ext>
            </a:extLst>
          </p:cNvPr>
          <p:cNvSpPr txBox="1"/>
          <p:nvPr/>
        </p:nvSpPr>
        <p:spPr>
          <a:xfrm>
            <a:off x="667559" y="1771775"/>
            <a:ext cx="2120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 algn="r">
              <a:spcBef>
                <a:spcPts val="400"/>
              </a:spcBef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리턴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반환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되는 값 저장 변수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CCCEE28-DCA2-2423-927A-F731524D4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36"/>
          <a:stretch/>
        </p:blipFill>
        <p:spPr bwMode="auto">
          <a:xfrm>
            <a:off x="1551391" y="2184563"/>
            <a:ext cx="7056784" cy="696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9D7D6B-FB9F-115B-9474-E408237AAB81}"/>
              </a:ext>
            </a:extLst>
          </p:cNvPr>
          <p:cNvSpPr txBox="1"/>
          <p:nvPr/>
        </p:nvSpPr>
        <p:spPr>
          <a:xfrm>
            <a:off x="671285" y="1111855"/>
            <a:ext cx="720080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5478" lvl="0" indent="-285750">
              <a:spcBef>
                <a:spcPts val="400"/>
              </a:spcBef>
              <a:buSzPct val="68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함수 사용하기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호출하기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</a:t>
            </a:r>
          </a:p>
          <a:p>
            <a:pPr marL="395478" lvl="0" indent="-285750">
              <a:spcBef>
                <a:spcPts val="400"/>
              </a:spcBef>
              <a:buSzPct val="68000"/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334D94-1F79-02BA-833E-3498AA331E7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188" r="44922" b="57278"/>
          <a:stretch/>
        </p:blipFill>
        <p:spPr>
          <a:xfrm>
            <a:off x="2787978" y="3075911"/>
            <a:ext cx="3022861" cy="3338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00A5D8-5E69-53A5-B12B-EC8A82AFE0B4}"/>
              </a:ext>
            </a:extLst>
          </p:cNvPr>
          <p:cNvSpPr txBox="1"/>
          <p:nvPr/>
        </p:nvSpPr>
        <p:spPr>
          <a:xfrm>
            <a:off x="667558" y="3052453"/>
            <a:ext cx="2120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 algn="r">
              <a:spcBef>
                <a:spcPts val="400"/>
              </a:spcBef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리턴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반환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)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되는 값이 없는 경우 </a:t>
            </a:r>
            <a:r>
              <a:rPr lang="ko-KR" altLang="en-US" sz="1400" b="1" dirty="0">
                <a:solidFill>
                  <a:srgbClr val="FF000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  <a:cs typeface="한컴바탕" panose="02030600000101010101" pitchFamily="18" charset="2"/>
              </a:rPr>
              <a:t>변수 필요 없음</a:t>
            </a:r>
            <a:endParaRPr lang="en-US" altLang="ko-KR" sz="1400" b="1" dirty="0">
              <a:solidFill>
                <a:srgbClr val="FF0000"/>
              </a:solidFill>
              <a:latin typeface="12롯데마트드림Medium" panose="02020603020101020101" pitchFamily="18" charset="-127"/>
              <a:ea typeface="12롯데마트드림Medium" panose="02020603020101020101" pitchFamily="18" charset="-127"/>
              <a:cs typeface="한컴바탕" panose="02030600000101010101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5753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E57E88-59F5-A7F6-3DDA-08D7D9A3B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91" y="1835506"/>
            <a:ext cx="3582806" cy="156902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846B9A9-1BCA-8D3F-22AE-EA1C2C5FCF69}"/>
              </a:ext>
            </a:extLst>
          </p:cNvPr>
          <p:cNvSpPr/>
          <p:nvPr/>
        </p:nvSpPr>
        <p:spPr>
          <a:xfrm>
            <a:off x="611560" y="999151"/>
            <a:ext cx="7301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----------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밑줄을 함수로 표현</a:t>
            </a:r>
            <a:endParaRPr lang="en-US" altLang="ko-KR" sz="14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9D2721-C9CF-C58E-6EBE-E8914AF3C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1445267"/>
            <a:ext cx="3683000" cy="2349500"/>
          </a:xfrm>
          <a:prstGeom prst="rect">
            <a:avLst/>
          </a:prstGeom>
        </p:spPr>
      </p:pic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518405FA-41F8-949B-F1AC-E130409D357D}"/>
              </a:ext>
            </a:extLst>
          </p:cNvPr>
          <p:cNvSpPr/>
          <p:nvPr/>
        </p:nvSpPr>
        <p:spPr>
          <a:xfrm>
            <a:off x="4572000" y="2427734"/>
            <a:ext cx="432048" cy="144016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2006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FEAF6A-85CC-BAEC-F1AF-6FD323948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067458"/>
            <a:ext cx="2755900" cy="977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3AC0103-2520-D6B7-4666-9CFF9D5C1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134274"/>
            <a:ext cx="2755900" cy="33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D57E202-C425-2C8B-3B46-EDC825BA3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1707913"/>
            <a:ext cx="4809689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3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813442"/>
            <a:ext cx="7776863" cy="1512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입력 받아 첫번째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입력받은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숫자를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입력 받음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-&gt; 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함수로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전달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함수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 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전달 받아 그 중 첫번째 수를 반환함</a:t>
            </a:r>
            <a:endParaRPr lang="en-US" altLang="ko-KR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메인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 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함수가 반환한 값을 저장하고 출력한다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01432F-1AA9-2702-9DBA-3BDDA8239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493065"/>
            <a:ext cx="2324100" cy="1206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492130E-F0CF-0A0E-99DA-7CA00D63F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80" y="3763106"/>
            <a:ext cx="23241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7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813442"/>
            <a:ext cx="7776863" cy="1512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입력 받아 첫번째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입력받은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숫자를 </a:t>
            </a:r>
            <a:r>
              <a:rPr lang="ko-KR" altLang="en-US" sz="16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출력하시오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입력 받음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-&gt; 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함수로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전달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함수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 3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수를 전달 받아 그 중 첫번째 수를 반환함</a:t>
            </a:r>
            <a:endParaRPr lang="en-US" altLang="ko-KR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-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메인 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: </a:t>
            </a:r>
            <a:r>
              <a:rPr lang="ko-KR" altLang="en-US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함수가 반환한 값을 저장하고 출력한다</a:t>
            </a:r>
            <a:r>
              <a:rPr lang="en-US" altLang="ko-KR" sz="16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6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01432F-1AA9-2702-9DBA-3BDDA8239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493065"/>
            <a:ext cx="2324100" cy="1206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492130E-F0CF-0A0E-99DA-7CA00D63F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80" y="3763106"/>
            <a:ext cx="2324100" cy="304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46BE99-DE57-019D-2558-11BD40048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2524284"/>
            <a:ext cx="46990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25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78A10A-F05D-2480-A57D-ED4F7DD04A35}"/>
              </a:ext>
            </a:extLst>
          </p:cNvPr>
          <p:cNvSpPr/>
          <p:nvPr/>
        </p:nvSpPr>
        <p:spPr>
          <a:xfrm>
            <a:off x="683568" y="1059582"/>
            <a:ext cx="7301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함수 </a:t>
            </a: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line1()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안에 함수 </a:t>
            </a: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line2()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를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호출해서 다음과 같이 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출력하시오</a:t>
            </a: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44B189-F3A5-82E6-5793-B992547C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45" y="1613499"/>
            <a:ext cx="2425700" cy="825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BDFC503-9D3D-C926-C8BB-8E1007291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516" y="2090846"/>
            <a:ext cx="42418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61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E48B-9DBF-DA76-2021-3F65BE4F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595F25-82A5-0858-35F6-927D08009AC9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69316-58B7-0C39-F312-16FE45E52CB1}"/>
              </a:ext>
            </a:extLst>
          </p:cNvPr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AABF24E-6B48-FFB5-A4EE-041C1E8C4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47" y="1275606"/>
            <a:ext cx="54959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5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31590"/>
            <a:ext cx="4179133" cy="206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E7B1665-ACFC-D36E-E5BB-1CE15E915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275606"/>
            <a:ext cx="390373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80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592" y="2715766"/>
            <a:ext cx="8064896" cy="104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실수 </a:t>
            </a:r>
            <a:r>
              <a:rPr lang="en-US" altLang="ko-KR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a,b,c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를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주이진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함수는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M=(</a:t>
            </a:r>
            <a:r>
              <a:rPr lang="en-US" altLang="ko-KR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a+b+c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)/3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계산하여 계산된 결과를 반환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(return)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27968" y="1354548"/>
            <a:ext cx="8336520" cy="1045735"/>
            <a:chOff x="611560" y="1426087"/>
            <a:chExt cx="8336520" cy="1045735"/>
          </a:xfrm>
        </p:grpSpPr>
        <p:sp>
          <p:nvSpPr>
            <p:cNvPr id="11" name="TextBox 10"/>
            <p:cNvSpPr txBox="1"/>
            <p:nvPr/>
          </p:nvSpPr>
          <p:spPr>
            <a:xfrm>
              <a:off x="899592" y="1426087"/>
              <a:ext cx="8048488" cy="104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m=2, b=5,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정수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x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를 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Y=m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*</a:t>
              </a:r>
              <a:r>
                <a:rPr lang="en-US" altLang="ko-KR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x+b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를 계산하여 계산된 결과를 반환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(return)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27968" y="2715766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4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7AA1-FBD3-9CF1-5981-6A3C397D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B38B66-5335-640F-B149-9CB63436BB05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9C8AA-D9B0-3335-9937-DC3D145EF59E}"/>
              </a:ext>
            </a:extLst>
          </p:cNvPr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6FCF0-F3D0-9658-E042-29DB51630526}"/>
              </a:ext>
            </a:extLst>
          </p:cNvPr>
          <p:cNvSpPr txBox="1"/>
          <p:nvPr/>
        </p:nvSpPr>
        <p:spPr>
          <a:xfrm>
            <a:off x="899592" y="2715766"/>
            <a:ext cx="4193502" cy="109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실수 </a:t>
            </a:r>
            <a:r>
              <a:rPr lang="en-US" altLang="ko-KR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a,b,c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를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주이진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함수는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M=(</a:t>
            </a:r>
            <a:r>
              <a:rPr lang="en-US" altLang="ko-KR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a+b+c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)/3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계산하여 계산된 결과를 반환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(return)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A48278-C23E-6A2A-A8A0-7E282D03FF3B}"/>
              </a:ext>
            </a:extLst>
          </p:cNvPr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D648040-9749-BD06-62C6-99F46AC1E10D}"/>
              </a:ext>
            </a:extLst>
          </p:cNvPr>
          <p:cNvGrpSpPr/>
          <p:nvPr/>
        </p:nvGrpSpPr>
        <p:grpSpPr>
          <a:xfrm>
            <a:off x="627968" y="1399383"/>
            <a:ext cx="4664112" cy="1092479"/>
            <a:chOff x="611560" y="1470922"/>
            <a:chExt cx="8209773" cy="109247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00738C-86BC-B52B-A78E-42B911993A2D}"/>
                </a:ext>
              </a:extLst>
            </p:cNvPr>
            <p:cNvSpPr txBox="1"/>
            <p:nvPr/>
          </p:nvSpPr>
          <p:spPr>
            <a:xfrm>
              <a:off x="983570" y="1470922"/>
              <a:ext cx="7837763" cy="1092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m=2, b=5,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정수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x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를 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Y=m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*</a:t>
              </a:r>
              <a:r>
                <a:rPr lang="en-US" altLang="ko-KR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x+b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를 계산하여 계산된 결과를 반환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(return)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F770002-F0BD-E230-9025-1BD24FF21B97}"/>
                </a:ext>
              </a:extLst>
            </p:cNvPr>
            <p:cNvSpPr/>
            <p:nvPr/>
          </p:nvSpPr>
          <p:spPr>
            <a:xfrm>
              <a:off x="611560" y="1470922"/>
              <a:ext cx="858358" cy="316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9EB55D-C471-BB0C-2F03-4740741A9592}"/>
              </a:ext>
            </a:extLst>
          </p:cNvPr>
          <p:cNvSpPr/>
          <p:nvPr/>
        </p:nvSpPr>
        <p:spPr>
          <a:xfrm>
            <a:off x="627968" y="2715766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B106BF-FE8A-3E01-076A-0B683C6D4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372410"/>
            <a:ext cx="2248214" cy="18766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AE169A-51AD-7C7A-B9DF-791B4611A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787774"/>
            <a:ext cx="341042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592" y="2715766"/>
            <a:ext cx="8064896" cy="1069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정수 하나를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주이진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음수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양수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,0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 판별하여 출력한다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27968" y="1354548"/>
            <a:ext cx="8336520" cy="1069973"/>
            <a:chOff x="611560" y="1426087"/>
            <a:chExt cx="8336520" cy="1069973"/>
          </a:xfrm>
        </p:grpSpPr>
        <p:sp>
          <p:nvSpPr>
            <p:cNvPr id="11" name="TextBox 10"/>
            <p:cNvSpPr txBox="1"/>
            <p:nvPr/>
          </p:nvSpPr>
          <p:spPr>
            <a:xfrm>
              <a:off x="899592" y="1426087"/>
              <a:ext cx="8048488" cy="1069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점수를 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합격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,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불합격을 결정하여 출력한다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</a:p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(90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점 이상이면 합격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,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미만이면 불합격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3)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27968" y="2715766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326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0E680-0B63-6772-05E0-C395EC84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DABA11-F7D8-0347-367B-4D8AA1B203BB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966E0-5EDF-F30C-B38F-47BA74B24ADE}"/>
              </a:ext>
            </a:extLst>
          </p:cNvPr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229A4-4B4C-4DCE-28CB-47300C2E2F7C}"/>
              </a:ext>
            </a:extLst>
          </p:cNvPr>
          <p:cNvSpPr txBox="1"/>
          <p:nvPr/>
        </p:nvSpPr>
        <p:spPr>
          <a:xfrm>
            <a:off x="899592" y="2919431"/>
            <a:ext cx="3744416" cy="109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정수 하나를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주이진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음수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양수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 판별하여 출력한다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F5DC90-FAFD-E806-01F2-5C293103F293}"/>
              </a:ext>
            </a:extLst>
          </p:cNvPr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16C39BC-EEEE-21FD-22DF-14704D060CF5}"/>
              </a:ext>
            </a:extLst>
          </p:cNvPr>
          <p:cNvGrpSpPr/>
          <p:nvPr/>
        </p:nvGrpSpPr>
        <p:grpSpPr>
          <a:xfrm>
            <a:off x="627968" y="1354548"/>
            <a:ext cx="4016040" cy="1092479"/>
            <a:chOff x="611560" y="1426087"/>
            <a:chExt cx="4016040" cy="109247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D4D47F-6C2B-CF04-8887-86C004D21D19}"/>
                </a:ext>
              </a:extLst>
            </p:cNvPr>
            <p:cNvSpPr txBox="1"/>
            <p:nvPr/>
          </p:nvSpPr>
          <p:spPr>
            <a:xfrm>
              <a:off x="899592" y="1426087"/>
              <a:ext cx="3728008" cy="1092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점수를 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합격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,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불합격을 결정하여 출력한다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.(90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점 이상이면 합격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,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미만이면 불합격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endPara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85016C4-9C25-BD30-6E73-018C7888B937}"/>
                </a:ext>
              </a:extLst>
            </p:cNvPr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3)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F4DEC2-6D7B-74D8-4923-4E31567474F1}"/>
              </a:ext>
            </a:extLst>
          </p:cNvPr>
          <p:cNvSpPr/>
          <p:nvPr/>
        </p:nvSpPr>
        <p:spPr>
          <a:xfrm>
            <a:off x="627968" y="2919431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02D7B6-CC6B-B7EC-E9C7-2EFE6F866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566" y="1192624"/>
            <a:ext cx="2016223" cy="13791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9886C18-6416-DE1A-28C4-9021892C9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2919431"/>
            <a:ext cx="1728191" cy="179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27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592" y="2715766"/>
            <a:ext cx="8064896" cy="1378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옷의 가격이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이상이면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5%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의 세금이 부과되고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100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미만이면 세금이 부과되지 않는다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옷의 가격을 전달받아 세금을 계산하여 반환하는 함수를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옷의 가격이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이상이면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5%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의 세금이 부과되고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100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미만이면 세금이 부과되지 않는다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27968" y="1354548"/>
            <a:ext cx="8336520" cy="1045735"/>
            <a:chOff x="611560" y="1426087"/>
            <a:chExt cx="8336520" cy="1045735"/>
          </a:xfrm>
        </p:grpSpPr>
        <p:sp>
          <p:nvSpPr>
            <p:cNvPr id="11" name="TextBox 10"/>
            <p:cNvSpPr txBox="1"/>
            <p:nvPr/>
          </p:nvSpPr>
          <p:spPr>
            <a:xfrm>
              <a:off x="899592" y="1426087"/>
              <a:ext cx="8048488" cy="104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직급을 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직급별 연봉을 결정하여 반환한다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</a:p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사원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20,000,000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대리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35,000,000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과장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50,000,000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부장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80,000,000)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3)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27968" y="2715766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4159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2165-2905-B2AF-F9CB-AA969A71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66A73-8B2E-690B-27A1-2570967840BB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50B02-7B23-5CFC-EEBB-BF9C341E43C3}"/>
              </a:ext>
            </a:extLst>
          </p:cNvPr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8AEFF-7FA9-1959-96DF-B39AC24E8CD5}"/>
              </a:ext>
            </a:extLst>
          </p:cNvPr>
          <p:cNvSpPr txBox="1"/>
          <p:nvPr/>
        </p:nvSpPr>
        <p:spPr>
          <a:xfrm>
            <a:off x="899592" y="2906423"/>
            <a:ext cx="3888432" cy="1609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옷의 가격이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이상이면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5%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의 세금이 부과되고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100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미만이면 세금이 부과되지 않는다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옷의 가격을 전달받아 세금을 계산하여 반환하는 함수를 작성하시오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옷의 가격이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이상이면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5%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의 세금이 부과되고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100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달라 미만이면 세금이 부과되지 않는다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.)</a:t>
            </a:r>
            <a:endParaRPr lang="ko-KR" altLang="en-US" sz="14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59B066-EA55-81E1-AA67-A06BC2E88925}"/>
              </a:ext>
            </a:extLst>
          </p:cNvPr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BE67899-78E9-9CD6-1AB5-D1173BD0411D}"/>
              </a:ext>
            </a:extLst>
          </p:cNvPr>
          <p:cNvGrpSpPr/>
          <p:nvPr/>
        </p:nvGrpSpPr>
        <p:grpSpPr>
          <a:xfrm>
            <a:off x="627968" y="1354548"/>
            <a:ext cx="4160056" cy="1351011"/>
            <a:chOff x="611560" y="1426087"/>
            <a:chExt cx="4160056" cy="13510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9B69C5-9F90-66CA-AEF2-4C51401409AE}"/>
                </a:ext>
              </a:extLst>
            </p:cNvPr>
            <p:cNvSpPr txBox="1"/>
            <p:nvPr/>
          </p:nvSpPr>
          <p:spPr>
            <a:xfrm>
              <a:off x="899592" y="1426087"/>
              <a:ext cx="3872024" cy="1351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직급을 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직급별 연봉을 결정하여 반환한다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사원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20,000,000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대리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35,000,000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과장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50,000,000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부장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: 80,000,000)</a:t>
              </a:r>
              <a:endPara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FCC7DBA-96C7-4E31-062A-32874CAE6E8D}"/>
                </a:ext>
              </a:extLst>
            </p:cNvPr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3)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9D9621-1833-52FC-3899-67BF38986E36}"/>
              </a:ext>
            </a:extLst>
          </p:cNvPr>
          <p:cNvSpPr/>
          <p:nvPr/>
        </p:nvSpPr>
        <p:spPr>
          <a:xfrm>
            <a:off x="627968" y="2906423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4)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59025C-2295-A9C6-3985-5CB54FD23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398141"/>
            <a:ext cx="2345874" cy="23074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FE921E-F7D5-D986-1ADA-84F828597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60" y="3075806"/>
            <a:ext cx="1823257" cy="169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01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538" y="3514597"/>
            <a:ext cx="8064896" cy="71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정수 하나를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주이진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함수는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부터 전달받은 정수까지 짝수를 차례대로 출력한다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27968" y="1399383"/>
            <a:ext cx="8353648" cy="735762"/>
            <a:chOff x="611560" y="1470922"/>
            <a:chExt cx="8353648" cy="735762"/>
          </a:xfrm>
        </p:grpSpPr>
        <p:sp>
          <p:nvSpPr>
            <p:cNvPr id="11" name="TextBox 10"/>
            <p:cNvSpPr txBox="1"/>
            <p:nvPr/>
          </p:nvSpPr>
          <p:spPr>
            <a:xfrm>
              <a:off x="916720" y="1493347"/>
              <a:ext cx="8048488" cy="713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정수 하나를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“JAVA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프로그래밍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”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을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인수만큼 반복 출력한다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627968" y="3565932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87E9AF-F2A2-78E4-6A4A-B0DD0FC7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184756"/>
            <a:ext cx="1600200" cy="698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662BD5-563F-0B3D-D2E5-221C449D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657" y="2130362"/>
            <a:ext cx="1661082" cy="138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22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7B49-5363-57C1-29B7-5110AB6E9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3C668-531C-FF57-B6AE-6B6037EF4C21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B659B-5286-3F24-10CA-C47EB6186B88}"/>
              </a:ext>
            </a:extLst>
          </p:cNvPr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E212D-D1A2-4157-5397-F969836ED36B}"/>
              </a:ext>
            </a:extLst>
          </p:cNvPr>
          <p:cNvSpPr txBox="1"/>
          <p:nvPr/>
        </p:nvSpPr>
        <p:spPr>
          <a:xfrm>
            <a:off x="933128" y="2816940"/>
            <a:ext cx="3854896" cy="109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정수 하나를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주이진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함수는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부터 전달받은 정수까지 짝수를 차례대로 출력한다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sz="1400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E02C-3BE5-BDE6-4D1E-79EDBC56EE80}"/>
              </a:ext>
            </a:extLst>
          </p:cNvPr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39603BC-F0C2-3969-EA6C-5F8CE560EA92}"/>
              </a:ext>
            </a:extLst>
          </p:cNvPr>
          <p:cNvGrpSpPr/>
          <p:nvPr/>
        </p:nvGrpSpPr>
        <p:grpSpPr>
          <a:xfrm>
            <a:off x="627968" y="1399383"/>
            <a:ext cx="4160056" cy="1114904"/>
            <a:chOff x="611560" y="1470922"/>
            <a:chExt cx="4160056" cy="11149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285324-3AC6-FC52-A53C-1B24FD6839E0}"/>
                </a:ext>
              </a:extLst>
            </p:cNvPr>
            <p:cNvSpPr txBox="1"/>
            <p:nvPr/>
          </p:nvSpPr>
          <p:spPr>
            <a:xfrm>
              <a:off x="916720" y="1493347"/>
              <a:ext cx="3854896" cy="1092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정수 하나를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입력받아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이 변수들을 매개변수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“JAVA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프로그래밍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”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을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인수만큼 반복 출력한다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AADDFE9-BA44-4D79-DEFA-8870154359D7}"/>
                </a:ext>
              </a:extLst>
            </p:cNvPr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BDA987-496D-C2BF-5B5B-7DFC9CB34B03}"/>
              </a:ext>
            </a:extLst>
          </p:cNvPr>
          <p:cNvSpPr/>
          <p:nvPr/>
        </p:nvSpPr>
        <p:spPr>
          <a:xfrm>
            <a:off x="668558" y="2868275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59FD63-071B-E984-DB36-EFE5E9E20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120285"/>
            <a:ext cx="3124636" cy="132416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281379-BA26-CEAA-5ECF-91698F6F9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3003798"/>
            <a:ext cx="306747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16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27968" y="1354548"/>
            <a:ext cx="8336520" cy="1045735"/>
            <a:chOff x="611560" y="1426087"/>
            <a:chExt cx="8336520" cy="1045735"/>
          </a:xfrm>
        </p:grpSpPr>
        <p:sp>
          <p:nvSpPr>
            <p:cNvPr id="11" name="TextBox 10"/>
            <p:cNvSpPr txBox="1"/>
            <p:nvPr/>
          </p:nvSpPr>
          <p:spPr>
            <a:xfrm>
              <a:off x="899592" y="1426087"/>
              <a:ext cx="8048488" cy="104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길이가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10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인 리스트에 값 입력 이 변수들을 매개변수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전달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받은 리스트 인수의 세 번째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,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다섯 번째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,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열 번째 값의 합을 계산하여 계산된 결과를 반환한다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E9AB6DC8-113B-85EB-752F-3AD1F3C89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9742"/>
            <a:ext cx="57150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2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592" y="2715766"/>
            <a:ext cx="8064896" cy="104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길이가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인 리스트에 값을 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주어진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함수는 전달 받은 리스트 인수 중 최대값을 찾아 그 값을 반환한다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27968" y="2715766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0818707-F901-0822-35D0-E9196B31D861}"/>
              </a:ext>
            </a:extLst>
          </p:cNvPr>
          <p:cNvGrpSpPr/>
          <p:nvPr/>
        </p:nvGrpSpPr>
        <p:grpSpPr>
          <a:xfrm>
            <a:off x="627968" y="1354548"/>
            <a:ext cx="8336520" cy="1045735"/>
            <a:chOff x="611560" y="1426087"/>
            <a:chExt cx="8336520" cy="104573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D9C865-BCA7-0670-2961-92500C81A396}"/>
                </a:ext>
              </a:extLst>
            </p:cNvPr>
            <p:cNvSpPr txBox="1"/>
            <p:nvPr/>
          </p:nvSpPr>
          <p:spPr>
            <a:xfrm>
              <a:off x="899592" y="1426087"/>
              <a:ext cx="8048488" cy="104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길이가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10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인 리스트에 값 입력 이 변수들을 매개변수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전달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받은 리스트 인수의 평균을 계산하여 계산된 결과를 반환한다</a:t>
              </a: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  <a:r>
                <a:rPr lang="ko-KR" altLang="en-US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2FE822E-DB19-9F16-E525-3233D9DB7473}"/>
                </a:ext>
              </a:extLst>
            </p:cNvPr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737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33E48-7B2F-4570-6A51-0D88284D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B5C06-3887-69B3-66EB-825981891140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91479-FDA2-4694-BA1F-9E2E382F8854}"/>
              </a:ext>
            </a:extLst>
          </p:cNvPr>
          <p:cNvSpPr txBox="1"/>
          <p:nvPr/>
        </p:nvSpPr>
        <p:spPr>
          <a:xfrm>
            <a:off x="504686" y="44411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함수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56FE3-2183-B118-1257-6D5A3B8B39DD}"/>
              </a:ext>
            </a:extLst>
          </p:cNvPr>
          <p:cNvSpPr txBox="1"/>
          <p:nvPr/>
        </p:nvSpPr>
        <p:spPr>
          <a:xfrm>
            <a:off x="899592" y="2715766"/>
            <a:ext cx="4193502" cy="109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길이가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인 리스트에 값을 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이 변수들을 매개변수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(</a:t>
            </a:r>
            <a:r>
              <a:rPr lang="ko-KR" altLang="en-US" sz="1400" dirty="0" err="1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파라미터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로 주어진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함수를 호출한다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호출된 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solution() 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함수는 전달 받은 리스트 인수 중 최대값을 찾아 그 값을 반환한다</a:t>
            </a:r>
            <a:r>
              <a:rPr lang="en-US" altLang="ko-KR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r>
              <a:rPr lang="ko-KR" altLang="en-US" sz="1400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F12F25-49D7-26C7-4C6B-0EC2E2872B2B}"/>
              </a:ext>
            </a:extLst>
          </p:cNvPr>
          <p:cNvSpPr/>
          <p:nvPr/>
        </p:nvSpPr>
        <p:spPr>
          <a:xfrm>
            <a:off x="521094" y="929816"/>
            <a:ext cx="4572000" cy="380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다음의 프로그램을 작성하시오</a:t>
            </a: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89E9B0-9B37-E22F-32EA-67AB88F32058}"/>
              </a:ext>
            </a:extLst>
          </p:cNvPr>
          <p:cNvSpPr/>
          <p:nvPr/>
        </p:nvSpPr>
        <p:spPr>
          <a:xfrm>
            <a:off x="627968" y="2715766"/>
            <a:ext cx="370114" cy="38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2)</a:t>
            </a:r>
            <a:endParaRPr lang="ko-KR" altLang="en-US" dirty="0"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09297D-9F94-FA84-23E7-1AA5FD762CD9}"/>
              </a:ext>
            </a:extLst>
          </p:cNvPr>
          <p:cNvGrpSpPr/>
          <p:nvPr/>
        </p:nvGrpSpPr>
        <p:grpSpPr>
          <a:xfrm>
            <a:off x="627968" y="1354548"/>
            <a:ext cx="4304072" cy="1092479"/>
            <a:chOff x="611560" y="1426087"/>
            <a:chExt cx="4304072" cy="109247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938F0C-1512-9ED5-2C06-EADB6CA87043}"/>
                </a:ext>
              </a:extLst>
            </p:cNvPr>
            <p:cNvSpPr txBox="1"/>
            <p:nvPr/>
          </p:nvSpPr>
          <p:spPr>
            <a:xfrm>
              <a:off x="899592" y="1426087"/>
              <a:ext cx="4016040" cy="1092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길이가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10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인 리스트에 값 입력 이 변수들을 매개변수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(</a:t>
              </a:r>
              <a:r>
                <a:rPr lang="ko-KR" altLang="en-US" sz="1400" dirty="0" err="1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파라미터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로 주어진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함수를 호출한다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호출된 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solution()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함수는 전달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받은 리스트 인수의 평균을 계산하여 계산된 결과를 반환한다</a:t>
              </a:r>
              <a:r>
                <a:rPr lang="en-US" altLang="ko-KR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.</a:t>
              </a:r>
              <a:r>
                <a:rPr lang="ko-KR" altLang="en-US" sz="1400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 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9501D47-6E0F-8819-4009-E3254B7C6F20}"/>
                </a:ext>
              </a:extLst>
            </p:cNvPr>
            <p:cNvSpPr/>
            <p:nvPr/>
          </p:nvSpPr>
          <p:spPr>
            <a:xfrm>
              <a:off x="611560" y="1470922"/>
              <a:ext cx="370114" cy="3809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dirty="0">
                  <a:latin typeface="12LotteMartDreamLight" panose="02020603020101020101" pitchFamily="18" charset="-127"/>
                  <a:ea typeface="12LotteMartDreamLight" panose="02020603020101020101" pitchFamily="18" charset="-127"/>
                </a:rPr>
                <a:t>1)</a:t>
              </a:r>
              <a:endParaRPr lang="ko-KR" altLang="en-US" dirty="0">
                <a:latin typeface="12LotteMartDreamLight" panose="02020603020101020101" pitchFamily="18" charset="-127"/>
                <a:ea typeface="12LotteMartDreamLight" panose="02020603020101020101" pitchFamily="18" charset="-127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13122AB-DCF1-57D7-BC8E-1AE410EB1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946" y="723467"/>
            <a:ext cx="3295960" cy="16816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07BA54-1039-CF74-8D46-8EA23044E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222" y="2738422"/>
            <a:ext cx="3293684" cy="188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1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23517</TotalTime>
  <Words>1252</Words>
  <Application>Microsoft Office PowerPoint</Application>
  <PresentationFormat>화면 슬라이드 쇼(16:9)</PresentationFormat>
  <Paragraphs>165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10X10</vt:lpstr>
      <vt:lpstr>10X10 Bold</vt:lpstr>
      <vt:lpstr>12LotteMartDreamLight</vt:lpstr>
      <vt:lpstr>12롯데마트드림Medium</vt:lpstr>
      <vt:lpstr>나눔바른고딕 옛한글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1101</cp:revision>
  <cp:lastPrinted>2017-05-13T00:43:47Z</cp:lastPrinted>
  <dcterms:created xsi:type="dcterms:W3CDTF">2015-11-19T15:23:17Z</dcterms:created>
  <dcterms:modified xsi:type="dcterms:W3CDTF">2025-01-16T05:52:55Z</dcterms:modified>
</cp:coreProperties>
</file>
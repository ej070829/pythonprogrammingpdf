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80" r:id="rId4"/>
    <p:sldId id="284" r:id="rId5"/>
    <p:sldId id="264" r:id="rId6"/>
    <p:sldId id="282" r:id="rId7"/>
    <p:sldId id="285" r:id="rId8"/>
    <p:sldId id="286" r:id="rId9"/>
    <p:sldId id="287" r:id="rId10"/>
    <p:sldId id="288" r:id="rId11"/>
    <p:sldId id="289" r:id="rId12"/>
    <p:sldId id="290" r:id="rId13"/>
    <p:sldId id="291" r:id="rId14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A298"/>
    <a:srgbClr val="FAF1DF"/>
    <a:srgbClr val="EAE0D1"/>
    <a:srgbClr val="EDF5F9"/>
    <a:srgbClr val="E0EDF4"/>
    <a:srgbClr val="F4F2EC"/>
    <a:srgbClr val="F5F9ED"/>
    <a:srgbClr val="FCFDF9"/>
    <a:srgbClr val="F4F9EB"/>
    <a:srgbClr val="F5C9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32" autoAdjust="0"/>
    <p:restoredTop sz="96613" autoAdjust="0"/>
  </p:normalViewPr>
  <p:slideViewPr>
    <p:cSldViewPr snapToGrid="0">
      <p:cViewPr>
        <p:scale>
          <a:sx n="100" d="100"/>
          <a:sy n="100" d="100"/>
        </p:scale>
        <p:origin x="485" y="-42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2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2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D9331E65-C0B2-43A3-AEA0-27572300E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60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1919-FAD8-F735-593B-7A8ABF07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0BE2F-6390-9ECB-7689-7B79E1807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8254F-FF3A-51CB-6438-5D51E4F94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B689F-6A6A-D239-AFD7-ED351B159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03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1A11F-1625-4846-B551-B0FB2D6FBA52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D116-71D7-4302-AFCE-C8C6A543EB25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0E4B-0617-45A8-859E-E6EB3F68FE94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A9B-6EA5-40B6-9C63-673B00ADD93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5553-0EF7-4222-AD4D-B9DF44803BAD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3357-7D8F-4C3E-B154-BD95DF5D8AD2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BF9E-2460-47D7-A97E-9F3DFD456E55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6DC0-B0CC-4DAE-BF6E-F5491584EC2A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339-ED3C-413D-A913-2E4C0CAC614A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469-56C2-4D9B-8248-54D64A5567B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63D7-61A1-4068-A828-12807C55F23E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203ABBF-A026-B45E-68A6-CA18A35E6ACF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3936218" y="4390231"/>
            <a:ext cx="178743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C000A6-B495-4073-44DD-9EFAFF3A346E}"/>
              </a:ext>
            </a:extLst>
          </p:cNvPr>
          <p:cNvGrpSpPr/>
          <p:nvPr userDrawn="1"/>
        </p:nvGrpSpPr>
        <p:grpSpPr>
          <a:xfrm>
            <a:off x="822463" y="699254"/>
            <a:ext cx="3340200" cy="627616"/>
            <a:chOff x="242887" y="187648"/>
            <a:chExt cx="4724702" cy="88864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7DFE21-A543-D248-FD33-435A68893D12}"/>
                </a:ext>
              </a:extLst>
            </p:cNvPr>
            <p:cNvSpPr txBox="1"/>
            <p:nvPr/>
          </p:nvSpPr>
          <p:spPr>
            <a:xfrm>
              <a:off x="1043042" y="449506"/>
              <a:ext cx="3924547" cy="626784"/>
            </a:xfrm>
            <a:prstGeom prst="rect">
              <a:avLst/>
            </a:prstGeom>
            <a:noFill/>
            <a:ln>
              <a:solidFill>
                <a:schemeClr val="tx1">
                  <a:alpha val="0"/>
                </a:schemeClr>
              </a:solidFill>
            </a:ln>
          </p:spPr>
          <p:txBody>
            <a:bodyPr wrap="square" lIns="91430" tIns="45715" rIns="91430" bIns="45715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프로그램 언어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_Python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26397-EC88-1CEF-4F6C-1D113483D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" y="187648"/>
              <a:ext cx="924139" cy="862012"/>
            </a:xfrm>
            <a:prstGeom prst="rect">
              <a:avLst/>
            </a:prstGeom>
          </p:spPr>
        </p:pic>
      </p:grp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55FBD318-9A3E-3F8D-E7C0-BB425F7F743B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CC8000-10BF-2E3C-6889-AA709CE9D4F4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 w="3175"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391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FEEFF42E-A429-EA25-A58D-8AD385973AAD}"/>
              </a:ext>
            </a:extLst>
          </p:cNvPr>
          <p:cNvSpPr/>
          <p:nvPr userDrawn="1"/>
        </p:nvSpPr>
        <p:spPr>
          <a:xfrm>
            <a:off x="971265" y="797755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479651" y="1198688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itle 1">
            <a:extLst>
              <a:ext uri="{FF2B5EF4-FFF2-40B4-BE49-F238E27FC236}">
                <a16:creationId xmlns:a16="http://schemas.microsoft.com/office/drawing/2014/main" id="{9EC32A93-32BB-E7BE-9131-89D7050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865" y="922151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82FD4-E286-E067-9093-7B412A2CD5B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40A37B-6387-504F-DB0A-7743C2C7EB02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17">
            <a:extLst>
              <a:ext uri="{FF2B5EF4-FFF2-40B4-BE49-F238E27FC236}">
                <a16:creationId xmlns:a16="http://schemas.microsoft.com/office/drawing/2014/main" id="{8397F0A1-B839-488F-4899-66A484B56E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620203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7A6ED1AD-0D4E-3C5A-C967-F297CC00ABBE}"/>
              </a:ext>
            </a:extLst>
          </p:cNvPr>
          <p:cNvSpPr/>
          <p:nvPr userDrawn="1"/>
        </p:nvSpPr>
        <p:spPr>
          <a:xfrm>
            <a:off x="1072750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C8C9800-4199-6A36-7730-666913A4A613}"/>
              </a:ext>
            </a:extLst>
          </p:cNvPr>
          <p:cNvCxnSpPr>
            <a:cxnSpLocks/>
          </p:cNvCxnSpPr>
          <p:nvPr userDrawn="1"/>
        </p:nvCxnSpPr>
        <p:spPr>
          <a:xfrm>
            <a:off x="1581137" y="1186335"/>
            <a:ext cx="405563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9EBEED-7F25-B73B-7593-CDE62DE5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45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60B4CB-AA52-24B6-1EFE-A6491595C51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67534" y="1414471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234AC8EE-F36A-1B07-AF10-EB64BD3C83C6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55327-DAAD-159C-D84A-168AF1D85720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31047-B281-D07C-7CAB-39933E7E8A8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B90F12-7E14-FF35-8DDD-02447DA44E6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4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2A2DA-A218-05B0-B05D-2FDE789782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497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EF5C-B4D2-7F68-C96C-516355412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671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5FE957-21EE-39BA-24A8-80923A80E0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707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4934E5-1ACB-AAAA-1CFC-096C2BADAA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881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5088CD-F0E5-3327-8A29-738A26D37DE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1773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7" name="슬라이드 번호 개체 틀 17">
            <a:extLst>
              <a:ext uri="{FF2B5EF4-FFF2-40B4-BE49-F238E27FC236}">
                <a16:creationId xmlns:a16="http://schemas.microsoft.com/office/drawing/2014/main" id="{F88C35A7-717C-526B-398E-F513A4AA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A71B7-635A-BEB0-0699-EDF69AE39DB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99100-1F0C-4082-4085-92B8B1B706E8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D88B28-9E4A-1531-69A7-DFF5F93226BB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815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C2CA49-147A-84C9-0AD4-64586C429E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472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B8A381-58A8-4D04-31A5-E24085B535F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646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82874678-789F-1EE2-D97F-33A26DB8354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682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A83C7BFC-E7B7-2FF5-463E-62455CD7DBA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857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FEB078-BCE9-5A26-AC39-0E5CFE98BCA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33E74F1E-6DAA-03AD-565D-5436B25FD800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844DB8-6953-8298-50A0-39C8806FB647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2B076-99DB-B6D6-C3C8-EF10B8DEF90A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0DBF6D-91F3-8FDC-3F0C-EEC469AFE8FA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AFDABB11-1177-B3AF-C0F7-49FDDF361D52}"/>
              </a:ext>
            </a:extLst>
          </p:cNvPr>
          <p:cNvSpPr/>
          <p:nvPr userDrawn="1"/>
        </p:nvSpPr>
        <p:spPr>
          <a:xfrm>
            <a:off x="995979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AD42835-43C3-AB15-0920-7D5D3CB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B25731-EE45-269E-C253-FB73DEDEC6FA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186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EFAEEED-0306-E68A-711B-7644501B9B1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329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82F2E7FB-958B-C8EA-1F3E-B8414C4F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FA03F-B34D-E395-C2B3-180708875074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BADDE5-A3FE-AADB-1A02-FB4D8FC9B496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CC74E5-DCDE-7259-4A82-DBBD7B81AC9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순서도: 다른 페이지 연결선 22">
            <a:extLst>
              <a:ext uri="{FF2B5EF4-FFF2-40B4-BE49-F238E27FC236}">
                <a16:creationId xmlns:a16="http://schemas.microsoft.com/office/drawing/2014/main" id="{5AFAD81B-BA47-20DA-B155-1D2290CAC6D0}"/>
              </a:ext>
            </a:extLst>
          </p:cNvPr>
          <p:cNvSpPr/>
          <p:nvPr userDrawn="1"/>
        </p:nvSpPr>
        <p:spPr>
          <a:xfrm>
            <a:off x="1120879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E9E3AD-1745-895D-25BB-C850225F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478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6DDEAE-CE3F-FC42-81E3-9269E50B37A5}"/>
              </a:ext>
            </a:extLst>
          </p:cNvPr>
          <p:cNvSpPr txBox="1">
            <a:spLocks/>
          </p:cNvSpPr>
          <p:nvPr userDrawn="1"/>
        </p:nvSpPr>
        <p:spPr>
          <a:xfrm>
            <a:off x="1126539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1C0352-0C3A-7B44-9BE8-1D278F7FA8E3}"/>
              </a:ext>
            </a:extLst>
          </p:cNvPr>
          <p:cNvCxnSpPr>
            <a:cxnSpLocks/>
          </p:cNvCxnSpPr>
          <p:nvPr userDrawn="1"/>
        </p:nvCxnSpPr>
        <p:spPr>
          <a:xfrm>
            <a:off x="1629265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1CDED5-6CFE-6E1C-E71F-2076929226E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40326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4573B4A-2700-CCC7-FE3A-0EDC719ABA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141499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700D324-8AF8-3375-6583-0C43BEB7B7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141499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1" name="순서도: 다른 페이지 연결선 30">
            <a:extLst>
              <a:ext uri="{FF2B5EF4-FFF2-40B4-BE49-F238E27FC236}">
                <a16:creationId xmlns:a16="http://schemas.microsoft.com/office/drawing/2014/main" id="{471B874B-3DAB-0C20-A006-A7DEFC0B0ACF}"/>
              </a:ext>
            </a:extLst>
          </p:cNvPr>
          <p:cNvSpPr/>
          <p:nvPr userDrawn="1"/>
        </p:nvSpPr>
        <p:spPr>
          <a:xfrm>
            <a:off x="1122718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61AFAC0-3BFF-0D08-4038-E12688A5D4D6}"/>
              </a:ext>
            </a:extLst>
          </p:cNvPr>
          <p:cNvSpPr txBox="1">
            <a:spLocks/>
          </p:cNvSpPr>
          <p:nvPr userDrawn="1"/>
        </p:nvSpPr>
        <p:spPr>
          <a:xfrm>
            <a:off x="1628317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F8F58AFB-C334-4A15-4E1E-C1A603BB3631}"/>
              </a:ext>
            </a:extLst>
          </p:cNvPr>
          <p:cNvSpPr txBox="1">
            <a:spLocks/>
          </p:cNvSpPr>
          <p:nvPr userDrawn="1"/>
        </p:nvSpPr>
        <p:spPr>
          <a:xfrm>
            <a:off x="1128378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F427F5-0C21-4F28-4337-1955F45BAA66}"/>
              </a:ext>
            </a:extLst>
          </p:cNvPr>
          <p:cNvCxnSpPr>
            <a:cxnSpLocks/>
          </p:cNvCxnSpPr>
          <p:nvPr userDrawn="1"/>
        </p:nvCxnSpPr>
        <p:spPr>
          <a:xfrm>
            <a:off x="1631104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A4DD7CD-9787-FF96-FC78-BFA45134185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042165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641AD4F-E780-5B5D-CC82-D2FE487AB8A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43338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B5400023-7F3A-77D5-2852-005AFE483846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1143338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18FEC711-1E28-EB57-83C7-988875EDAE89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B92EA7-684A-A448-6459-F79B0D9B45B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548648-FDA3-5527-17AF-FB2097F94E4C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742473-5B40-ABFB-7837-9DC4989941E0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711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다른 페이지 연결선 3">
            <a:extLst>
              <a:ext uri="{FF2B5EF4-FFF2-40B4-BE49-F238E27FC236}">
                <a16:creationId xmlns:a16="http://schemas.microsoft.com/office/drawing/2014/main" id="{5FABF0C7-AE96-FEC1-1944-6467CE2E0FF3}"/>
              </a:ext>
            </a:extLst>
          </p:cNvPr>
          <p:cNvSpPr/>
          <p:nvPr userDrawn="1"/>
        </p:nvSpPr>
        <p:spPr>
          <a:xfrm>
            <a:off x="946551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8A4629-81E4-0E0E-2D95-0FB4BC0AB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1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948CE6-D3F5-2930-188B-DB04E25D20D7}"/>
              </a:ext>
            </a:extLst>
          </p:cNvPr>
          <p:cNvSpPr txBox="1">
            <a:spLocks/>
          </p:cNvSpPr>
          <p:nvPr userDrawn="1"/>
        </p:nvSpPr>
        <p:spPr>
          <a:xfrm>
            <a:off x="952212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752AA04-9C77-ECD5-689A-B72E67E33ADC}"/>
              </a:ext>
            </a:extLst>
          </p:cNvPr>
          <p:cNvCxnSpPr>
            <a:cxnSpLocks/>
          </p:cNvCxnSpPr>
          <p:nvPr userDrawn="1"/>
        </p:nvCxnSpPr>
        <p:spPr>
          <a:xfrm>
            <a:off x="1454937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FFCF4D2-F8A0-01DA-18FA-2FAC2675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65999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6CC5AF9-53BC-3A76-3C42-F1C999B7647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67171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0AC30C8-2C5F-D482-53D0-5FF1FE4CF2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967171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6" name="순서도: 다른 페이지 연결선 25">
            <a:extLst>
              <a:ext uri="{FF2B5EF4-FFF2-40B4-BE49-F238E27FC236}">
                <a16:creationId xmlns:a16="http://schemas.microsoft.com/office/drawing/2014/main" id="{1FA3DF31-719A-17CD-A129-987510266D8D}"/>
              </a:ext>
            </a:extLst>
          </p:cNvPr>
          <p:cNvSpPr/>
          <p:nvPr userDrawn="1"/>
        </p:nvSpPr>
        <p:spPr>
          <a:xfrm>
            <a:off x="948390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20B0099-C7A0-C71F-2864-C721CF3ED6B0}"/>
              </a:ext>
            </a:extLst>
          </p:cNvPr>
          <p:cNvSpPr txBox="1">
            <a:spLocks/>
          </p:cNvSpPr>
          <p:nvPr userDrawn="1"/>
        </p:nvSpPr>
        <p:spPr>
          <a:xfrm>
            <a:off x="1453990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5A56448-62FE-916F-B562-8A6FB1E3CEBD}"/>
              </a:ext>
            </a:extLst>
          </p:cNvPr>
          <p:cNvSpPr txBox="1">
            <a:spLocks/>
          </p:cNvSpPr>
          <p:nvPr userDrawn="1"/>
        </p:nvSpPr>
        <p:spPr>
          <a:xfrm>
            <a:off x="954051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EB81EAE-86F9-2EC9-18DD-8958E18E0713}"/>
              </a:ext>
            </a:extLst>
          </p:cNvPr>
          <p:cNvCxnSpPr>
            <a:cxnSpLocks/>
          </p:cNvCxnSpPr>
          <p:nvPr userDrawn="1"/>
        </p:nvCxnSpPr>
        <p:spPr>
          <a:xfrm>
            <a:off x="1456776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318C38B-4A17-E731-31C7-D19C53C806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67838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F66B1B6-A6E2-DE77-2A20-77391E2A1B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69010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172A0B7C-BF4F-D5C2-E759-862BBF676755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969010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7BC74A89-0677-292C-725F-7006A3B71001}"/>
              </a:ext>
            </a:extLst>
          </p:cNvPr>
          <p:cNvSpPr txBox="1">
            <a:spLocks/>
          </p:cNvSpPr>
          <p:nvPr userDrawn="1"/>
        </p:nvSpPr>
        <p:spPr>
          <a:xfrm>
            <a:off x="900469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5E183D-EBE0-0342-7D21-09564255F65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E37E22-89EF-8425-A190-763275E38E4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2B8211-84BB-06DA-5E23-CD6FB01D57F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876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ED4F-5061-4292-B39D-E4856B5F82A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696" r:id="rId19"/>
    <p:sldLayoutId id="2147483700" r:id="rId20"/>
    <p:sldLayoutId id="2147483699" r:id="rId21"/>
    <p:sldLayoutId id="2147483703" r:id="rId22"/>
  </p:sldLayoutIdLst>
  <p:hf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연산자 이해하기</a:t>
            </a:r>
          </a:p>
          <a:p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3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42428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9CC9D-846B-E8C3-CF51-899CF65A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연산자 이해하기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487D7-4CC3-E1C5-2949-0ACA77AE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112" y="1426916"/>
            <a:ext cx="4555725" cy="496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산술연산자란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AF61533-7D09-3FB1-D344-4D78065D0F74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2</a:t>
            </a:fld>
            <a:endParaRPr lang="ko-KR" altLang="en-US" sz="1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DA5E0ED-4733-41A4-2AAA-C2AE34D9E4AF}"/>
              </a:ext>
            </a:extLst>
          </p:cNvPr>
          <p:cNvSpPr txBox="1">
            <a:spLocks/>
          </p:cNvSpPr>
          <p:nvPr/>
        </p:nvSpPr>
        <p:spPr>
          <a:xfrm>
            <a:off x="1017090" y="180627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산술연산자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(Arithmetic Operators)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은 수학 연산을 위해 여러 가지 연산자를 사용한다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0B37217-0B0F-AB12-4E02-77325E3F19A5}"/>
              </a:ext>
            </a:extLst>
          </p:cNvPr>
          <p:cNvGrpSpPr/>
          <p:nvPr/>
        </p:nvGrpSpPr>
        <p:grpSpPr>
          <a:xfrm>
            <a:off x="822112" y="6283360"/>
            <a:ext cx="4956896" cy="766678"/>
            <a:chOff x="822112" y="6603400"/>
            <a:chExt cx="4956896" cy="766678"/>
          </a:xfrm>
        </p:grpSpPr>
        <p:sp>
          <p:nvSpPr>
            <p:cNvPr id="56" name="내용 개체 틀 2">
              <a:extLst>
                <a:ext uri="{FF2B5EF4-FFF2-40B4-BE49-F238E27FC236}">
                  <a16:creationId xmlns:a16="http://schemas.microsoft.com/office/drawing/2014/main" id="{2A0C4D4C-57F2-6A72-ACC5-B70C62358488}"/>
                </a:ext>
              </a:extLst>
            </p:cNvPr>
            <p:cNvSpPr txBox="1">
              <a:spLocks/>
            </p:cNvSpPr>
            <p:nvPr/>
          </p:nvSpPr>
          <p:spPr>
            <a:xfrm>
              <a:off x="822112" y="6603400"/>
              <a:ext cx="4555725" cy="49668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63792" indent="-163792" algn="l" defTabSz="655168" rtl="0" eaLnBrk="1" latinLnBrk="1" hangingPunct="1">
                <a:lnSpc>
                  <a:spcPct val="90000"/>
                </a:lnSpc>
                <a:spcBef>
                  <a:spcPts val="717"/>
                </a:spcBef>
                <a:buFont typeface="Arial" panose="020B0604020202020204" pitchFamily="34" charset="0"/>
                <a:buChar char="•"/>
                <a:defRPr sz="1027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20269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9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0537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143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6543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4127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01711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29295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56879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84462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100" dirty="0"/>
                <a:t>나머지 연산자 </a:t>
              </a:r>
              <a:r>
                <a:rPr lang="en-US" altLang="ko-KR" sz="1100" dirty="0"/>
                <a:t>: %</a:t>
              </a:r>
              <a:endParaRPr lang="ko-KR" altLang="en-US" sz="1100" dirty="0"/>
            </a:p>
          </p:txBody>
        </p:sp>
        <p:sp>
          <p:nvSpPr>
            <p:cNvPr id="57" name="내용 개체 틀 3">
              <a:extLst>
                <a:ext uri="{FF2B5EF4-FFF2-40B4-BE49-F238E27FC236}">
                  <a16:creationId xmlns:a16="http://schemas.microsoft.com/office/drawing/2014/main" id="{490F2647-9691-67BE-A32F-94FBDD372114}"/>
                </a:ext>
              </a:extLst>
            </p:cNvPr>
            <p:cNvSpPr txBox="1">
              <a:spLocks/>
            </p:cNvSpPr>
            <p:nvPr/>
          </p:nvSpPr>
          <p:spPr>
            <a:xfrm>
              <a:off x="1017090" y="6992688"/>
              <a:ext cx="4761918" cy="377390"/>
            </a:xfrm>
            <a:prstGeom prst="rect">
              <a:avLst/>
            </a:prstGeom>
          </p:spPr>
          <p:txBody>
            <a:bodyPr vert="horz" lIns="85403" tIns="42701" rIns="85403" bIns="42701" rtlCol="0">
              <a:normAutofit/>
            </a:bodyPr>
            <a:lstStyle>
              <a:lvl1pPr marL="228600" indent="-228600" algn="l" defTabSz="685800" rtl="0" eaLnBrk="1" latinLnBrk="1" hangingPunct="1">
                <a:lnSpc>
                  <a:spcPct val="150000"/>
                </a:lnSpc>
                <a:spcBef>
                  <a:spcPts val="750"/>
                </a:spcBef>
                <a:buFont typeface="Arial" panose="020B0604020202020204" pitchFamily="34" charset="0"/>
                <a:buAutoNum type="arabicParenR"/>
                <a:defRPr sz="1000" b="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429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Font typeface="맑은 고딕" panose="020B0503020000020004" pitchFamily="50" charset="-127"/>
                <a:buChar char="–"/>
              </a:pPr>
              <a:r>
                <a:rPr lang="ko-KR" altLang="en-US" dirty="0"/>
                <a:t>나머지 연산자 </a:t>
              </a:r>
              <a:r>
                <a:rPr lang="en-US" altLang="ko-KR" dirty="0"/>
                <a:t>[ % ]</a:t>
              </a:r>
              <a:r>
                <a:rPr lang="ko-KR" altLang="en-US" dirty="0"/>
                <a:t>는 </a:t>
              </a:r>
              <a:r>
                <a:rPr lang="en-US" altLang="ko-KR" dirty="0"/>
                <a:t>A</a:t>
              </a:r>
              <a:r>
                <a:rPr lang="ko-KR" altLang="en-US" dirty="0"/>
                <a:t>를 </a:t>
              </a:r>
              <a:r>
                <a:rPr lang="en-US" altLang="ko-KR" dirty="0"/>
                <a:t>B</a:t>
              </a:r>
              <a:r>
                <a:rPr lang="ko-KR" altLang="en-US" dirty="0"/>
                <a:t>로 나누었을 때 남는 나머지만 계산한다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3B0C2EBF-A9F9-853C-8090-16DC195B9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070073"/>
              </p:ext>
            </p:extLst>
          </p:nvPr>
        </p:nvGraphicFramePr>
        <p:xfrm>
          <a:off x="1180919" y="2239409"/>
          <a:ext cx="4488944" cy="234662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13057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1088719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1745662083"/>
                    </a:ext>
                  </a:extLst>
                </a:gridCol>
              </a:tblGrid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+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덧셈 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 + 2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뺄샘</a:t>
                      </a:r>
                      <a:r>
                        <a:rPr lang="ko-KR" altLang="en-US" sz="1000" dirty="0"/>
                        <a:t> 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 – 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곱셈 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 * 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059163"/>
                  </a:ext>
                </a:extLst>
              </a:tr>
              <a:tr h="3784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나눗셈 연산자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소수점까지 계산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 / 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4.5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181978"/>
                  </a:ext>
                </a:extLst>
              </a:tr>
              <a:tr h="3784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정수 나누기 연산자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몫만 계산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 // 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580874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나머지 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17 % 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327650"/>
                  </a:ext>
                </a:extLst>
              </a:tr>
            </a:tbl>
          </a:graphicData>
        </a:graphic>
      </p:graphicFrame>
      <p:grpSp>
        <p:nvGrpSpPr>
          <p:cNvPr id="68" name="그룹 67">
            <a:extLst>
              <a:ext uri="{FF2B5EF4-FFF2-40B4-BE49-F238E27FC236}">
                <a16:creationId xmlns:a16="http://schemas.microsoft.com/office/drawing/2014/main" id="{A4CD8036-BC0D-F7C1-8DF2-2C842B1B329B}"/>
              </a:ext>
            </a:extLst>
          </p:cNvPr>
          <p:cNvGrpSpPr/>
          <p:nvPr/>
        </p:nvGrpSpPr>
        <p:grpSpPr>
          <a:xfrm>
            <a:off x="822111" y="4764160"/>
            <a:ext cx="4956897" cy="811966"/>
            <a:chOff x="822111" y="4901320"/>
            <a:chExt cx="4956897" cy="811966"/>
          </a:xfrm>
        </p:grpSpPr>
        <p:sp>
          <p:nvSpPr>
            <p:cNvPr id="8" name="내용 개체 틀 3">
              <a:extLst>
                <a:ext uri="{FF2B5EF4-FFF2-40B4-BE49-F238E27FC236}">
                  <a16:creationId xmlns:a16="http://schemas.microsoft.com/office/drawing/2014/main" id="{775127F2-7233-65C0-8298-C04950507BB6}"/>
                </a:ext>
              </a:extLst>
            </p:cNvPr>
            <p:cNvSpPr txBox="1">
              <a:spLocks/>
            </p:cNvSpPr>
            <p:nvPr/>
          </p:nvSpPr>
          <p:spPr>
            <a:xfrm>
              <a:off x="1017090" y="5277638"/>
              <a:ext cx="4761918" cy="435648"/>
            </a:xfrm>
            <a:prstGeom prst="rect">
              <a:avLst/>
            </a:prstGeom>
          </p:spPr>
          <p:txBody>
            <a:bodyPr vert="horz" lIns="85403" tIns="42701" rIns="85403" bIns="42701" rtlCol="0">
              <a:normAutofit/>
            </a:bodyPr>
            <a:lstStyle>
              <a:lvl1pPr marL="228600" indent="-228600" algn="l" defTabSz="685800" rtl="0" eaLnBrk="1" latinLnBrk="1" hangingPunct="1">
                <a:lnSpc>
                  <a:spcPct val="150000"/>
                </a:lnSpc>
                <a:spcBef>
                  <a:spcPts val="750"/>
                </a:spcBef>
                <a:buFont typeface="Arial" panose="020B0604020202020204" pitchFamily="34" charset="0"/>
                <a:buAutoNum type="arabicParenR"/>
                <a:defRPr sz="1000" b="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429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Font typeface="맑은 고딕" panose="020B0503020000020004" pitchFamily="50" charset="-127"/>
                <a:buChar char="–"/>
              </a:pPr>
              <a:r>
                <a:rPr lang="ko-KR" altLang="en-US" dirty="0"/>
                <a:t>나누기 연산자 </a:t>
              </a:r>
              <a:r>
                <a:rPr lang="en-US" altLang="ko-KR" dirty="0"/>
                <a:t>[ / ]</a:t>
              </a:r>
              <a:r>
                <a:rPr lang="ko-KR" altLang="en-US" dirty="0"/>
                <a:t>는</a:t>
              </a:r>
              <a:r>
                <a:rPr lang="en-US" altLang="ko-KR" dirty="0"/>
                <a:t> </a:t>
              </a:r>
              <a:r>
                <a:rPr lang="ko-KR" altLang="en-US" dirty="0"/>
                <a:t>정수가 아닌 실수</a:t>
              </a:r>
              <a:r>
                <a:rPr lang="en-US" altLang="ko-KR" dirty="0"/>
                <a:t>(</a:t>
              </a:r>
              <a:r>
                <a:rPr lang="ko-KR" altLang="en-US" dirty="0"/>
                <a:t>소수점 있는 값</a:t>
              </a:r>
              <a:r>
                <a:rPr lang="en-US" altLang="ko-KR" dirty="0"/>
                <a:t>)</a:t>
              </a:r>
              <a:r>
                <a:rPr lang="ko-KR" altLang="en-US" dirty="0"/>
                <a:t>로 계산된다</a:t>
              </a:r>
              <a:r>
                <a:rPr lang="en-US" altLang="ko-KR" dirty="0"/>
                <a:t>.</a:t>
              </a:r>
            </a:p>
            <a:p>
              <a:pPr>
                <a:lnSpc>
                  <a:spcPct val="100000"/>
                </a:lnSpc>
                <a:buFont typeface="맑은 고딕" panose="020B0503020000020004" pitchFamily="50" charset="-127"/>
                <a:buChar char="–"/>
              </a:pPr>
              <a:endParaRPr lang="ko-KR" altLang="en-US" dirty="0"/>
            </a:p>
          </p:txBody>
        </p:sp>
        <p:sp>
          <p:nvSpPr>
            <p:cNvPr id="61" name="내용 개체 틀 2">
              <a:extLst>
                <a:ext uri="{FF2B5EF4-FFF2-40B4-BE49-F238E27FC236}">
                  <a16:creationId xmlns:a16="http://schemas.microsoft.com/office/drawing/2014/main" id="{C5D5117E-8798-825F-8D07-5DE35B4EAC71}"/>
                </a:ext>
              </a:extLst>
            </p:cNvPr>
            <p:cNvSpPr txBox="1">
              <a:spLocks/>
            </p:cNvSpPr>
            <p:nvPr/>
          </p:nvSpPr>
          <p:spPr>
            <a:xfrm>
              <a:off x="822111" y="4901320"/>
              <a:ext cx="4555725" cy="49668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63792" indent="-163792" algn="l" defTabSz="655168" rtl="0" eaLnBrk="1" latinLnBrk="1" hangingPunct="1">
                <a:lnSpc>
                  <a:spcPct val="90000"/>
                </a:lnSpc>
                <a:spcBef>
                  <a:spcPts val="717"/>
                </a:spcBef>
                <a:buFont typeface="Arial" panose="020B0604020202020204" pitchFamily="34" charset="0"/>
                <a:buChar char="•"/>
                <a:defRPr sz="1027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20269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9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0537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143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6543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4127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01711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29295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56879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84462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100" dirty="0"/>
                <a:t>나누기 연산자 </a:t>
              </a:r>
              <a:r>
                <a:rPr lang="en-US" altLang="ko-KR" sz="1100" dirty="0"/>
                <a:t>: /</a:t>
              </a:r>
              <a:endParaRPr lang="ko-KR" altLang="en-US" sz="1100" dirty="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BD2A505-7271-DC0B-D484-E68903616D35}"/>
              </a:ext>
            </a:extLst>
          </p:cNvPr>
          <p:cNvGrpSpPr/>
          <p:nvPr/>
        </p:nvGrpSpPr>
        <p:grpSpPr>
          <a:xfrm>
            <a:off x="822111" y="5487184"/>
            <a:ext cx="4956897" cy="811966"/>
            <a:chOff x="822111" y="5658597"/>
            <a:chExt cx="4956897" cy="811966"/>
          </a:xfrm>
        </p:grpSpPr>
        <p:sp>
          <p:nvSpPr>
            <p:cNvPr id="62" name="내용 개체 틀 3">
              <a:extLst>
                <a:ext uri="{FF2B5EF4-FFF2-40B4-BE49-F238E27FC236}">
                  <a16:creationId xmlns:a16="http://schemas.microsoft.com/office/drawing/2014/main" id="{01F260AB-7A48-F83F-DAF3-562D3EC9B39F}"/>
                </a:ext>
              </a:extLst>
            </p:cNvPr>
            <p:cNvSpPr txBox="1">
              <a:spLocks/>
            </p:cNvSpPr>
            <p:nvPr/>
          </p:nvSpPr>
          <p:spPr>
            <a:xfrm>
              <a:off x="1017090" y="6034915"/>
              <a:ext cx="4761918" cy="435648"/>
            </a:xfrm>
            <a:prstGeom prst="rect">
              <a:avLst/>
            </a:prstGeom>
          </p:spPr>
          <p:txBody>
            <a:bodyPr vert="horz" lIns="85403" tIns="42701" rIns="85403" bIns="42701" rtlCol="0">
              <a:normAutofit/>
            </a:bodyPr>
            <a:lstStyle>
              <a:lvl1pPr marL="228600" indent="-228600" algn="l" defTabSz="685800" rtl="0" eaLnBrk="1" latinLnBrk="1" hangingPunct="1">
                <a:lnSpc>
                  <a:spcPct val="150000"/>
                </a:lnSpc>
                <a:spcBef>
                  <a:spcPts val="750"/>
                </a:spcBef>
                <a:buFont typeface="Arial" panose="020B0604020202020204" pitchFamily="34" charset="0"/>
                <a:buAutoNum type="arabicParenR"/>
                <a:defRPr sz="1000" b="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429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Font typeface="맑은 고딕" panose="020B0503020000020004" pitchFamily="50" charset="-127"/>
                <a:buChar char="–"/>
              </a:pPr>
              <a:r>
                <a:rPr lang="ko-KR" altLang="en-US" dirty="0"/>
                <a:t>정수 나누기 연산자 </a:t>
              </a:r>
              <a:r>
                <a:rPr lang="en-US" altLang="ko-KR" dirty="0"/>
                <a:t>[ // ]</a:t>
              </a:r>
              <a:r>
                <a:rPr lang="ko-KR" altLang="en-US" dirty="0"/>
                <a:t>는 나누기 연산자 </a:t>
              </a:r>
              <a:r>
                <a:rPr lang="en-US" altLang="ko-KR" dirty="0"/>
                <a:t>[ / ]</a:t>
              </a:r>
              <a:r>
                <a:rPr lang="ko-KR" altLang="en-US" dirty="0"/>
                <a:t>와</a:t>
              </a:r>
              <a:r>
                <a:rPr lang="en-US" altLang="ko-KR" dirty="0"/>
                <a:t> </a:t>
              </a:r>
              <a:r>
                <a:rPr lang="ko-KR" altLang="en-US" dirty="0"/>
                <a:t>달리</a:t>
              </a:r>
              <a:r>
                <a:rPr lang="en-US" altLang="ko-KR" dirty="0"/>
                <a:t> </a:t>
              </a:r>
              <a:r>
                <a:rPr lang="ko-KR" altLang="en-US" dirty="0"/>
                <a:t>소수점 이하를 버리고 정수 부분</a:t>
              </a:r>
              <a:r>
                <a:rPr lang="en-US" altLang="ko-KR" dirty="0"/>
                <a:t>(</a:t>
              </a:r>
              <a:r>
                <a:rPr lang="ko-KR" altLang="en-US" dirty="0"/>
                <a:t>몫</a:t>
              </a:r>
              <a:r>
                <a:rPr lang="en-US" altLang="ko-KR" dirty="0"/>
                <a:t>)</a:t>
              </a:r>
              <a:r>
                <a:rPr lang="ko-KR" altLang="en-US" dirty="0"/>
                <a:t>만 계산된다</a:t>
              </a:r>
              <a:r>
                <a:rPr lang="en-US" altLang="ko-KR" dirty="0"/>
                <a:t>.</a:t>
              </a:r>
            </a:p>
            <a:p>
              <a:pPr>
                <a:lnSpc>
                  <a:spcPct val="100000"/>
                </a:lnSpc>
                <a:buFont typeface="맑은 고딕" panose="020B0503020000020004" pitchFamily="50" charset="-127"/>
                <a:buChar char="–"/>
              </a:pPr>
              <a:endParaRPr lang="ko-KR" altLang="en-US" dirty="0"/>
            </a:p>
          </p:txBody>
        </p:sp>
        <p:sp>
          <p:nvSpPr>
            <p:cNvPr id="63" name="내용 개체 틀 2">
              <a:extLst>
                <a:ext uri="{FF2B5EF4-FFF2-40B4-BE49-F238E27FC236}">
                  <a16:creationId xmlns:a16="http://schemas.microsoft.com/office/drawing/2014/main" id="{4D1AEBB1-9C01-B584-AAFC-4150B956E221}"/>
                </a:ext>
              </a:extLst>
            </p:cNvPr>
            <p:cNvSpPr txBox="1">
              <a:spLocks/>
            </p:cNvSpPr>
            <p:nvPr/>
          </p:nvSpPr>
          <p:spPr>
            <a:xfrm>
              <a:off x="822111" y="5658597"/>
              <a:ext cx="4555725" cy="49668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63792" indent="-163792" algn="l" defTabSz="655168" rtl="0" eaLnBrk="1" latinLnBrk="1" hangingPunct="1">
                <a:lnSpc>
                  <a:spcPct val="90000"/>
                </a:lnSpc>
                <a:spcBef>
                  <a:spcPts val="717"/>
                </a:spcBef>
                <a:buFont typeface="Arial" panose="020B0604020202020204" pitchFamily="34" charset="0"/>
                <a:buChar char="•"/>
                <a:defRPr sz="1027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20269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9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0537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143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6543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4127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01711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29295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56879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84462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100" dirty="0"/>
                <a:t>정수 나누기 연산자 </a:t>
              </a:r>
              <a:r>
                <a:rPr lang="en-US" altLang="ko-KR" sz="1100" dirty="0"/>
                <a:t>: //</a:t>
              </a:r>
              <a:endParaRPr lang="ko-KR" altLang="en-US" sz="1100" dirty="0"/>
            </a:p>
          </p:txBody>
        </p:sp>
      </p:grpSp>
      <p:pic>
        <p:nvPicPr>
          <p:cNvPr id="70" name="그림 69">
            <a:extLst>
              <a:ext uri="{FF2B5EF4-FFF2-40B4-BE49-F238E27FC236}">
                <a16:creationId xmlns:a16="http://schemas.microsoft.com/office/drawing/2014/main" id="{11A8AC91-3DA5-98A2-8374-DC545836465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6"/>
              </a:clrFrom>
              <a:clrTo>
                <a:srgbClr val="FFFF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55624" y="7130678"/>
            <a:ext cx="603300" cy="1036002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5DE5496B-9C9D-1D7A-EECA-139CCA8838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DF0"/>
              </a:clrFrom>
              <a:clrTo>
                <a:srgbClr val="FFFD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9531" y="7130678"/>
            <a:ext cx="534624" cy="74874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BA97799-6665-F1F1-9B53-12F058C9A92A}"/>
              </a:ext>
            </a:extLst>
          </p:cNvPr>
          <p:cNvSpPr txBox="1"/>
          <p:nvPr/>
        </p:nvSpPr>
        <p:spPr>
          <a:xfrm>
            <a:off x="980318" y="7172690"/>
            <a:ext cx="1474113" cy="56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+mn-ea"/>
              </a:rPr>
              <a:t>[</a:t>
            </a:r>
            <a:r>
              <a:rPr kumimoji="1" lang="ko-KR" altLang="en-US" sz="1100" dirty="0">
                <a:latin typeface="+mn-ea"/>
              </a:rPr>
              <a:t>소수 계산</a:t>
            </a:r>
            <a:r>
              <a:rPr kumimoji="1" lang="en-US" altLang="ko-KR" sz="1100" dirty="0">
                <a:latin typeface="+mn-ea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몫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[ / ]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: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9/2  ⇒ 4.5</a:t>
            </a:r>
            <a:endParaRPr kumimoji="1" lang="ko-Kore-KR" altLang="en-US" sz="1100" b="1" dirty="0">
              <a:latin typeface="+mn-ea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45620F-4CBA-C82C-56A1-82A41F5D1DF2}"/>
              </a:ext>
            </a:extLst>
          </p:cNvPr>
          <p:cNvSpPr txBox="1"/>
          <p:nvPr/>
        </p:nvSpPr>
        <p:spPr>
          <a:xfrm>
            <a:off x="3446509" y="7172610"/>
            <a:ext cx="1773066" cy="822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+mn-ea"/>
              </a:rPr>
              <a:t>[</a:t>
            </a:r>
            <a:r>
              <a:rPr kumimoji="1" lang="ko-KR" altLang="en-US" sz="1100" dirty="0">
                <a:latin typeface="+mn-ea"/>
              </a:rPr>
              <a:t>정수 계산</a:t>
            </a:r>
            <a:r>
              <a:rPr kumimoji="1" lang="en-US" altLang="ko-KR" sz="1100" dirty="0">
                <a:latin typeface="+mn-ea"/>
              </a:rPr>
              <a:t>]</a:t>
            </a:r>
            <a:r>
              <a:rPr kumimoji="1" lang="ko-KR" altLang="en-US" sz="1100" b="1" dirty="0">
                <a:latin typeface="+mn-ea"/>
              </a:rPr>
              <a:t> </a:t>
            </a:r>
            <a:endParaRPr kumimoji="1" lang="en-US" altLang="ko-KR" sz="1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몫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[ // ]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: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17//6 ⇒ 2</a:t>
            </a:r>
          </a:p>
          <a:p>
            <a:pPr>
              <a:lnSpc>
                <a:spcPct val="150000"/>
              </a:lnSpc>
            </a:pP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나머지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[ % ]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: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17%6 ⇒ 5</a:t>
            </a:r>
            <a:endParaRPr kumimoji="1" lang="ko-Kore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841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102C-9A82-805B-3029-E596CACC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340847F-0073-D7EB-B5B2-228F4EEB7D70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연산자 이해하기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DAA78E3-7962-3BE9-8B8D-1DB29D02F96A}"/>
              </a:ext>
            </a:extLst>
          </p:cNvPr>
          <p:cNvGrpSpPr/>
          <p:nvPr/>
        </p:nvGrpSpPr>
        <p:grpSpPr>
          <a:xfrm>
            <a:off x="1009677" y="1322970"/>
            <a:ext cx="5071083" cy="7500990"/>
            <a:chOff x="1009677" y="1322970"/>
            <a:chExt cx="5071083" cy="7500990"/>
          </a:xfrm>
        </p:grpSpPr>
        <p:sp>
          <p:nvSpPr>
            <p:cNvPr id="5" name="내용 개체 틀 3">
              <a:extLst>
                <a:ext uri="{FF2B5EF4-FFF2-40B4-BE49-F238E27FC236}">
                  <a16:creationId xmlns:a16="http://schemas.microsoft.com/office/drawing/2014/main" id="{141AE5C6-E338-E3B2-8E24-816017F86984}"/>
                </a:ext>
              </a:extLst>
            </p:cNvPr>
            <p:cNvSpPr txBox="1">
              <a:spLocks/>
            </p:cNvSpPr>
            <p:nvPr/>
          </p:nvSpPr>
          <p:spPr>
            <a:xfrm>
              <a:off x="1009677" y="1322970"/>
              <a:ext cx="5071083" cy="7500990"/>
            </a:xfrm>
            <a:prstGeom prst="rect">
              <a:avLst/>
            </a:prstGeom>
          </p:spPr>
          <p:txBody>
            <a:bodyPr vert="horz" lIns="85403" tIns="42701" rIns="85403" bIns="42701" rtlCol="0">
              <a:normAutofit/>
            </a:bodyPr>
            <a:lstStyle>
              <a:lvl1pPr marL="228600" indent="-228600" algn="l" defTabSz="685800" rtl="0" eaLnBrk="1" latinLnBrk="1" hangingPunct="1">
                <a:lnSpc>
                  <a:spcPct val="150000"/>
                </a:lnSpc>
                <a:spcBef>
                  <a:spcPts val="750"/>
                </a:spcBef>
                <a:buFont typeface="Arial" panose="020B0604020202020204" pitchFamily="34" charset="0"/>
                <a:buAutoNum type="arabicParenR"/>
                <a:defRPr sz="1000" b="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429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dirty="0"/>
                <a:t>문제 </a:t>
              </a:r>
              <a:r>
                <a:rPr lang="en-US" altLang="ko-KR" dirty="0"/>
                <a:t>1. </a:t>
              </a:r>
              <a:r>
                <a:rPr lang="ko-KR" altLang="en-US" dirty="0"/>
                <a:t>그림과 같이 스크래치 블록을 파이썬 프로그램으로 작성해 보세요</a:t>
              </a:r>
              <a:r>
                <a:rPr lang="en-US" altLang="ko-KR" dirty="0"/>
                <a:t>.</a:t>
              </a:r>
            </a:p>
            <a:p>
              <a:pPr marL="0" indent="0">
                <a:buNone/>
              </a:pPr>
              <a:r>
                <a:rPr lang="en-US" altLang="ko-KR" dirty="0"/>
                <a:t>  [Scratch </a:t>
              </a:r>
              <a:r>
                <a:rPr lang="ko-KR" altLang="en-US" dirty="0"/>
                <a:t>블록</a:t>
              </a:r>
              <a:r>
                <a:rPr lang="en-US" altLang="ko-KR" dirty="0"/>
                <a:t>]                                            [</a:t>
              </a:r>
              <a:r>
                <a:rPr lang="ko-KR" altLang="en-US" dirty="0"/>
                <a:t>실습</a:t>
              </a:r>
              <a:r>
                <a:rPr lang="en-US" altLang="ko-KR" dirty="0"/>
                <a:t>]</a:t>
              </a:r>
              <a:r>
                <a:rPr lang="ko-KR" altLang="en-US" dirty="0"/>
                <a:t> </a:t>
              </a: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r>
                <a:rPr lang="en-US" altLang="ko-KR" dirty="0"/>
                <a:t>  [</a:t>
              </a:r>
              <a:r>
                <a:rPr lang="ko-KR" altLang="en-US" dirty="0"/>
                <a:t>실습 결과</a:t>
              </a:r>
              <a:r>
                <a:rPr lang="en-US" altLang="ko-KR" dirty="0"/>
                <a:t>]</a:t>
              </a:r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r>
                <a:rPr lang="ko-KR" altLang="en-US" dirty="0"/>
                <a:t>연습 문제 </a:t>
              </a:r>
              <a:r>
                <a:rPr lang="en-US" altLang="ko-KR" dirty="0"/>
                <a:t>1. m=2, b=5</a:t>
              </a:r>
              <a:r>
                <a:rPr lang="ko-KR" altLang="en-US" dirty="0"/>
                <a:t>일 때</a:t>
              </a:r>
              <a:r>
                <a:rPr lang="en-US" altLang="ko-KR" dirty="0"/>
                <a:t>, </a:t>
              </a:r>
              <a:r>
                <a:rPr lang="ko-KR" altLang="en-US" dirty="0"/>
                <a:t>입력 받은 </a:t>
              </a:r>
              <a:r>
                <a:rPr lang="en-US" altLang="ko-KR" dirty="0"/>
                <a:t>x</a:t>
              </a:r>
              <a:r>
                <a:rPr lang="ko-KR" altLang="en-US" dirty="0"/>
                <a:t>값에 대해 식 </a:t>
              </a:r>
              <a:r>
                <a:rPr lang="en-US" altLang="ko-KR" dirty="0"/>
                <a:t>Y = m * x + b </a:t>
              </a:r>
              <a:r>
                <a:rPr lang="ko-KR" altLang="en-US" dirty="0"/>
                <a:t>를 계산하는 프로그램을 작성하세요</a:t>
              </a:r>
              <a:r>
                <a:rPr lang="en-US" altLang="ko-KR" dirty="0"/>
                <a:t>.</a:t>
              </a:r>
            </a:p>
            <a:p>
              <a:pPr marL="0" indent="0">
                <a:buNone/>
              </a:pPr>
              <a:r>
                <a:rPr lang="en-US" altLang="ko-KR" dirty="0"/>
                <a:t>[</a:t>
              </a:r>
              <a:r>
                <a:rPr lang="ko-KR" altLang="en-US" dirty="0" err="1"/>
                <a:t>입〮출력</a:t>
              </a:r>
              <a:r>
                <a:rPr lang="ko-KR" altLang="en-US" dirty="0"/>
                <a:t> 결과 예시</a:t>
              </a:r>
              <a:r>
                <a:rPr lang="en-US" altLang="ko-KR" dirty="0"/>
                <a:t>]</a:t>
              </a:r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r>
                <a:rPr lang="ko-KR" altLang="en-US" dirty="0"/>
                <a:t>연습 문제 </a:t>
              </a:r>
              <a:r>
                <a:rPr lang="en-US" altLang="ko-KR" dirty="0"/>
                <a:t>2. </a:t>
              </a:r>
              <a:r>
                <a:rPr lang="ko-KR" altLang="en-US" dirty="0"/>
                <a:t>세 개의 값을 </a:t>
              </a:r>
              <a:r>
                <a:rPr lang="ko-KR" altLang="en-US" dirty="0" err="1"/>
                <a:t>입력받아</a:t>
              </a:r>
              <a:r>
                <a:rPr lang="ko-KR" altLang="en-US" dirty="0"/>
                <a:t> 평균을 구하는 프로그램을 작성하세요</a:t>
              </a:r>
              <a:r>
                <a:rPr lang="en-US" altLang="ko-KR" dirty="0"/>
                <a:t>[ </a:t>
              </a:r>
              <a:r>
                <a:rPr lang="ko-KR" altLang="en-US" dirty="0"/>
                <a:t>계산식 </a:t>
              </a:r>
              <a:r>
                <a:rPr lang="en-US" altLang="ko-KR" dirty="0"/>
                <a:t>: M = (a + b + c) / 3].</a:t>
              </a:r>
            </a:p>
            <a:p>
              <a:pPr marL="0" indent="0">
                <a:buNone/>
              </a:pPr>
              <a:r>
                <a:rPr lang="en-US" altLang="ko-KR" dirty="0"/>
                <a:t>[</a:t>
              </a:r>
              <a:r>
                <a:rPr lang="ko-KR" altLang="en-US" dirty="0" err="1"/>
                <a:t>입〮출력</a:t>
              </a:r>
              <a:r>
                <a:rPr lang="ko-KR" altLang="en-US" dirty="0"/>
                <a:t> 결과 예시</a:t>
              </a:r>
              <a:r>
                <a:rPr lang="en-US" altLang="ko-KR" dirty="0"/>
                <a:t>]</a:t>
              </a:r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endParaRPr lang="en-US" altLang="ko-KR" dirty="0"/>
            </a:p>
            <a:p>
              <a:pPr marL="0" indent="0">
                <a:buNone/>
              </a:pPr>
              <a:r>
                <a:rPr lang="en-US" altLang="ko-KR" b="1" dirty="0">
                  <a:solidFill>
                    <a:srgbClr val="FF0000"/>
                  </a:solidFill>
                </a:rPr>
                <a:t>※ </a:t>
              </a:r>
              <a:r>
                <a:rPr lang="ko-KR" altLang="en-US" b="1" dirty="0">
                  <a:solidFill>
                    <a:srgbClr val="FF0000"/>
                  </a:solidFill>
                </a:rPr>
                <a:t>정수 한 줄 입력 명령어 </a:t>
              </a:r>
              <a:r>
                <a:rPr lang="en-US" altLang="ko-KR" b="1" dirty="0">
                  <a:solidFill>
                    <a:srgbClr val="FF0000"/>
                  </a:solidFill>
                </a:rPr>
                <a:t>:  map( int , input( ) . split( ) )</a:t>
              </a: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414307E-0BB3-EFDF-A586-A1FBE7FE4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DDDEDE"/>
                </a:clrFrom>
                <a:clrTo>
                  <a:srgbClr val="DDDED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261599" y="1675628"/>
              <a:ext cx="1600200" cy="1749649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12121C8-5550-F0AB-F019-6E5A9AE70D01}"/>
                </a:ext>
              </a:extLst>
            </p:cNvPr>
            <p:cNvSpPr/>
            <p:nvPr/>
          </p:nvSpPr>
          <p:spPr>
            <a:xfrm>
              <a:off x="3275806" y="2324100"/>
              <a:ext cx="585993" cy="845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8BC1308-64F6-30D7-DB7F-379C0CDAE3A8}"/>
                </a:ext>
              </a:extLst>
            </p:cNvPr>
            <p:cNvSpPr/>
            <p:nvPr/>
          </p:nvSpPr>
          <p:spPr>
            <a:xfrm>
              <a:off x="3402966" y="1704042"/>
              <a:ext cx="458833" cy="7191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E63395A-8634-5D8F-A7DA-E47824618B88}"/>
                </a:ext>
              </a:extLst>
            </p:cNvPr>
            <p:cNvSpPr/>
            <p:nvPr/>
          </p:nvSpPr>
          <p:spPr>
            <a:xfrm>
              <a:off x="3061699" y="1698488"/>
              <a:ext cx="458833" cy="259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7970C538-8E92-8C78-EB83-D0A05009AB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28"/>
          <a:stretch>
            <a:fillRect/>
          </a:stretch>
        </p:blipFill>
        <p:spPr>
          <a:xfrm>
            <a:off x="4389143" y="1698487"/>
            <a:ext cx="1226797" cy="14280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D7E546B-D82F-E125-E750-0B8C385A0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029" y="3633753"/>
            <a:ext cx="1600200" cy="103842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34BB01AE-0E7B-57AB-411E-CEC4DE92FE38}"/>
              </a:ext>
            </a:extLst>
          </p:cNvPr>
          <p:cNvGrpSpPr/>
          <p:nvPr/>
        </p:nvGrpSpPr>
        <p:grpSpPr>
          <a:xfrm>
            <a:off x="2376342" y="5622376"/>
            <a:ext cx="1600200" cy="572684"/>
            <a:chOff x="2406821" y="5572902"/>
            <a:chExt cx="2276793" cy="754448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831A1CB-A30C-7ED5-A404-B325E2390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06821" y="5572902"/>
              <a:ext cx="2276793" cy="552527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EEC7139-79CC-1624-5244-1196E0268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7393" y="6089192"/>
              <a:ext cx="2057687" cy="238158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FD1719D-A399-BF18-28CD-F4F96EAD2AAB}"/>
              </a:ext>
            </a:extLst>
          </p:cNvPr>
          <p:cNvGrpSpPr/>
          <p:nvPr/>
        </p:nvGrpSpPr>
        <p:grpSpPr>
          <a:xfrm>
            <a:off x="2376342" y="7216826"/>
            <a:ext cx="1485457" cy="504998"/>
            <a:chOff x="2421110" y="7153102"/>
            <a:chExt cx="2248215" cy="775877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C9F6EF3-C4FB-1D35-0641-DD071023B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21111" y="7153102"/>
              <a:ext cx="2248214" cy="57158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6E521B5-65CE-895A-ED9A-17BDD5505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21110" y="7683695"/>
              <a:ext cx="2033813" cy="2452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87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8BEBD-AC25-A9D0-2051-C53D0230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665D62-7783-1541-E29C-796880ADDB0A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세 개의 정수를 입력 받아 합</a:t>
            </a:r>
            <a:r>
              <a:rPr lang="en-US" altLang="ko-KR" dirty="0"/>
              <a:t>(sum) </a:t>
            </a:r>
            <a:r>
              <a:rPr lang="ko-KR" altLang="en-US" dirty="0"/>
              <a:t>과 평균</a:t>
            </a:r>
            <a:r>
              <a:rPr lang="en-US" altLang="ko-KR" dirty="0"/>
              <a:t>(avg) </a:t>
            </a:r>
            <a:r>
              <a:rPr lang="ko-KR" altLang="en-US" dirty="0"/>
              <a:t>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다섯 개의 수를 입력 받아 각각의 수에</a:t>
            </a:r>
            <a:r>
              <a:rPr lang="en-US" altLang="ko-KR" dirty="0"/>
              <a:t>+3, -3, *3, /3, %3 </a:t>
            </a:r>
            <a:r>
              <a:rPr lang="ko-KR" altLang="en-US" dirty="0"/>
              <a:t>연산을 적용하여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/>
              <a:t>두 개의 정수를 입력 받아</a:t>
            </a:r>
            <a:r>
              <a:rPr lang="en-US" altLang="ko-KR" dirty="0"/>
              <a:t>,</a:t>
            </a:r>
            <a:r>
              <a:rPr lang="ko-KR" altLang="en-US" dirty="0"/>
              <a:t>첫 번째 수에는 </a:t>
            </a:r>
            <a:r>
              <a:rPr lang="en-US" altLang="ko-KR" dirty="0"/>
              <a:t>100</a:t>
            </a:r>
            <a:r>
              <a:rPr lang="ko-KR" altLang="en-US" dirty="0"/>
              <a:t>을 더하고</a:t>
            </a:r>
            <a:r>
              <a:rPr lang="en-US" altLang="ko-KR" dirty="0"/>
              <a:t>,</a:t>
            </a:r>
            <a:r>
              <a:rPr lang="ko-KR" altLang="en-US" dirty="0"/>
              <a:t>두 번째 수는    </a:t>
            </a:r>
            <a:r>
              <a:rPr lang="en-US" altLang="ko-KR" dirty="0"/>
              <a:t>10</a:t>
            </a:r>
            <a:r>
              <a:rPr lang="ko-KR" altLang="en-US" dirty="0"/>
              <a:t>으로 나눈 나머지를 구하여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정수 한 줄 입력 명령어 </a:t>
            </a:r>
            <a:r>
              <a:rPr lang="en-US" altLang="ko-KR" b="1" dirty="0">
                <a:solidFill>
                  <a:srgbClr val="FF0000"/>
                </a:solidFill>
              </a:rPr>
              <a:t>:  map( int , input( ) . split( ) 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B3FE0C-9150-93F2-AF07-FFB80144E8C7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연산자 이해하기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A386DDCD-3247-998B-C0D6-8C1AF4F74CB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4</a:t>
            </a:fld>
            <a:endParaRPr lang="ko-KR" altLang="en-US" sz="10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EB2F9D4-7AF5-951F-39F5-016BD85A3A51}"/>
              </a:ext>
            </a:extLst>
          </p:cNvPr>
          <p:cNvGrpSpPr/>
          <p:nvPr/>
        </p:nvGrpSpPr>
        <p:grpSpPr>
          <a:xfrm>
            <a:off x="2374575" y="1944649"/>
            <a:ext cx="1930725" cy="760452"/>
            <a:chOff x="2290755" y="1914168"/>
            <a:chExt cx="2551800" cy="10423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09CBF94-B27D-FC80-A8A0-3476AE413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0755" y="1914168"/>
              <a:ext cx="2381582" cy="56205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1E4EEC7-F7A6-081F-3771-165FDF603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0755" y="2476220"/>
              <a:ext cx="2551800" cy="480339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A41D6BF-C224-E427-5A40-D6D4059ABD3D}"/>
              </a:ext>
            </a:extLst>
          </p:cNvPr>
          <p:cNvGrpSpPr/>
          <p:nvPr/>
        </p:nvGrpSpPr>
        <p:grpSpPr>
          <a:xfrm>
            <a:off x="2374575" y="3873459"/>
            <a:ext cx="1991685" cy="1308141"/>
            <a:chOff x="2374575" y="3881079"/>
            <a:chExt cx="2534004" cy="168616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4219A89-15DF-7757-538D-6A5A64819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4575" y="3881079"/>
              <a:ext cx="2534004" cy="59063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4E83DA6-14A4-C542-AE7E-743340CE8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4575" y="4471711"/>
              <a:ext cx="2124371" cy="1095528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ABA2F0-BEFC-F06E-55B6-BB231963C342}"/>
              </a:ext>
            </a:extLst>
          </p:cNvPr>
          <p:cNvGrpSpPr/>
          <p:nvPr/>
        </p:nvGrpSpPr>
        <p:grpSpPr>
          <a:xfrm>
            <a:off x="2374575" y="6474077"/>
            <a:ext cx="1564965" cy="742064"/>
            <a:chOff x="2374575" y="6474076"/>
            <a:chExt cx="2295845" cy="102237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D050FF6-E446-CACE-A6A3-105E7E5E0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74575" y="6474076"/>
              <a:ext cx="2295845" cy="56205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35B004A-E702-6A8C-9373-ADD12BA25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89815" y="7029661"/>
              <a:ext cx="2048161" cy="466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44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A7804-2BC9-F217-68FA-F3AD619D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복합 대입 연산자</a:t>
            </a:r>
            <a:r>
              <a:rPr lang="ko-KR" altLang="en-US" sz="1200" dirty="0"/>
              <a:t> 이해하기</a:t>
            </a:r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C14B2F75-6F72-16F0-9534-D46A4BF9E2CA}"/>
              </a:ext>
            </a:extLst>
          </p:cNvPr>
          <p:cNvSpPr txBox="1">
            <a:spLocks/>
          </p:cNvSpPr>
          <p:nvPr/>
        </p:nvSpPr>
        <p:spPr>
          <a:xfrm>
            <a:off x="986704" y="1426916"/>
            <a:ext cx="4555725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/>
              <a:t>복합 대입 연산자란</a:t>
            </a:r>
            <a:endParaRPr lang="ko-KR" altLang="en-US" sz="1100" dirty="0"/>
          </a:p>
        </p:txBody>
      </p:sp>
      <p:sp>
        <p:nvSpPr>
          <p:cNvPr id="54" name="내용 개체 틀 3">
            <a:extLst>
              <a:ext uri="{FF2B5EF4-FFF2-40B4-BE49-F238E27FC236}">
                <a16:creationId xmlns:a16="http://schemas.microsoft.com/office/drawing/2014/main" id="{CDC9E513-A5F3-0654-0668-F7AD1C9F86E6}"/>
              </a:ext>
            </a:extLst>
          </p:cNvPr>
          <p:cNvSpPr txBox="1">
            <a:spLocks/>
          </p:cNvSpPr>
          <p:nvPr/>
        </p:nvSpPr>
        <p:spPr>
          <a:xfrm>
            <a:off x="1181682" y="180627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복합 대입 연산자는 기존 변수의 값에 연산을 수행한 뒤 다시 그 결과를 같은 변수에 저장하는 연산자를 말한다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1F28909-91EF-1887-B3D6-55D604912BBB}"/>
              </a:ext>
            </a:extLst>
          </p:cNvPr>
          <p:cNvGrpSpPr/>
          <p:nvPr/>
        </p:nvGrpSpPr>
        <p:grpSpPr>
          <a:xfrm>
            <a:off x="986704" y="6039520"/>
            <a:ext cx="4956896" cy="1207100"/>
            <a:chOff x="822112" y="6603400"/>
            <a:chExt cx="4956896" cy="1207100"/>
          </a:xfrm>
        </p:grpSpPr>
        <p:sp>
          <p:nvSpPr>
            <p:cNvPr id="56" name="내용 개체 틀 2">
              <a:extLst>
                <a:ext uri="{FF2B5EF4-FFF2-40B4-BE49-F238E27FC236}">
                  <a16:creationId xmlns:a16="http://schemas.microsoft.com/office/drawing/2014/main" id="{DA44E16F-B4CB-0DFE-0440-BD1469B4230C}"/>
                </a:ext>
              </a:extLst>
            </p:cNvPr>
            <p:cNvSpPr txBox="1">
              <a:spLocks/>
            </p:cNvSpPr>
            <p:nvPr/>
          </p:nvSpPr>
          <p:spPr>
            <a:xfrm>
              <a:off x="822112" y="6603400"/>
              <a:ext cx="4555725" cy="49668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63792" indent="-163792" algn="l" defTabSz="655168" rtl="0" eaLnBrk="1" latinLnBrk="1" hangingPunct="1">
                <a:lnSpc>
                  <a:spcPct val="90000"/>
                </a:lnSpc>
                <a:spcBef>
                  <a:spcPts val="717"/>
                </a:spcBef>
                <a:buFont typeface="Arial" panose="020B0604020202020204" pitchFamily="34" charset="0"/>
                <a:buChar char="•"/>
                <a:defRPr sz="1027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20269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9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0537" indent="0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None/>
                <a:defRPr sz="143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6543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4127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01711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29295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56879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84462" indent="-163792" algn="l" defTabSz="655168" rtl="0" eaLnBrk="1" latinLnBrk="1" hangingPunct="1">
                <a:lnSpc>
                  <a:spcPct val="90000"/>
                </a:lnSpc>
                <a:spcBef>
                  <a:spcPts val="358"/>
                </a:spcBef>
                <a:buFont typeface="Arial" panose="020B0604020202020204" pitchFamily="34" charset="0"/>
                <a:buChar char="•"/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100" dirty="0"/>
                <a:t>숫자와 문자열 모두에서 사용 가능</a:t>
              </a:r>
            </a:p>
          </p:txBody>
        </p:sp>
        <p:sp>
          <p:nvSpPr>
            <p:cNvPr id="57" name="내용 개체 틀 3">
              <a:extLst>
                <a:ext uri="{FF2B5EF4-FFF2-40B4-BE49-F238E27FC236}">
                  <a16:creationId xmlns:a16="http://schemas.microsoft.com/office/drawing/2014/main" id="{1C306905-BE37-AC39-3520-DB13C47A99CD}"/>
                </a:ext>
              </a:extLst>
            </p:cNvPr>
            <p:cNvSpPr txBox="1">
              <a:spLocks/>
            </p:cNvSpPr>
            <p:nvPr/>
          </p:nvSpPr>
          <p:spPr>
            <a:xfrm>
              <a:off x="1017090" y="6992688"/>
              <a:ext cx="4761918" cy="817812"/>
            </a:xfrm>
            <a:prstGeom prst="rect">
              <a:avLst/>
            </a:prstGeom>
          </p:spPr>
          <p:txBody>
            <a:bodyPr vert="horz" lIns="85403" tIns="42701" rIns="85403" bIns="42701" rtlCol="0">
              <a:normAutofit/>
            </a:bodyPr>
            <a:lstStyle>
              <a:lvl1pPr marL="228600" indent="-228600" algn="l" defTabSz="685800" rtl="0" eaLnBrk="1" latinLnBrk="1" hangingPunct="1">
                <a:lnSpc>
                  <a:spcPct val="150000"/>
                </a:lnSpc>
                <a:spcBef>
                  <a:spcPts val="750"/>
                </a:spcBef>
                <a:buFont typeface="Arial" panose="020B0604020202020204" pitchFamily="34" charset="0"/>
                <a:buAutoNum type="arabicParenR"/>
                <a:defRPr sz="1000" b="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3429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Font typeface="맑은 고딕" panose="020B0503020000020004" pitchFamily="50" charset="-127"/>
                <a:buChar char="–"/>
              </a:pPr>
              <a:r>
                <a:rPr lang="ko-KR" altLang="en-US" dirty="0"/>
                <a:t>숫자에서는 덧셈</a:t>
              </a:r>
              <a:r>
                <a:rPr lang="en-US" altLang="ko-KR" dirty="0"/>
                <a:t>, </a:t>
              </a:r>
              <a:r>
                <a:rPr lang="ko-KR" altLang="en-US" dirty="0"/>
                <a:t>곱셈 등 연산 결과가 누적된다</a:t>
              </a:r>
              <a:r>
                <a:rPr lang="en-US" altLang="ko-KR" dirty="0"/>
                <a:t>.</a:t>
              </a:r>
            </a:p>
            <a:p>
              <a:pPr>
                <a:lnSpc>
                  <a:spcPct val="100000"/>
                </a:lnSpc>
                <a:buFont typeface="맑은 고딕" panose="020B0503020000020004" pitchFamily="50" charset="-127"/>
                <a:buChar char="–"/>
              </a:pPr>
              <a:r>
                <a:rPr lang="ko-KR" altLang="en-US" dirty="0"/>
                <a:t>문자열에서는 문자 연결</a:t>
              </a:r>
              <a:r>
                <a:rPr lang="en-US" altLang="ko-KR" dirty="0"/>
                <a:t>(</a:t>
              </a:r>
              <a:r>
                <a:rPr lang="ko-KR" altLang="en-US" dirty="0"/>
                <a:t>결합</a:t>
              </a:r>
              <a:r>
                <a:rPr lang="en-US" altLang="ko-KR" dirty="0"/>
                <a:t>) </a:t>
              </a:r>
              <a:r>
                <a:rPr lang="ko-KR" altLang="en-US" dirty="0"/>
                <a:t>기능으로 동작한다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</p:grp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7D5BED86-09CF-7CB6-8E9D-DDE3243D2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743118"/>
              </p:ext>
            </p:extLst>
          </p:nvPr>
        </p:nvGraphicFramePr>
        <p:xfrm>
          <a:off x="1345511" y="2285129"/>
          <a:ext cx="4488944" cy="229202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13057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1088719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1745662083"/>
                    </a:ext>
                  </a:extLst>
                </a:gridCol>
              </a:tblGrid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+=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기존 변수에 더한 후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1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a +=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기존 변수에 뺀 후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5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a -= 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기존 변수에 곱한 후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2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a *=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059163"/>
                  </a:ext>
                </a:extLst>
              </a:tr>
              <a:tr h="3784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기존 변수에 나눈 후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20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a /=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181978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기존 변수에 나머지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구한 후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a=8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a%=3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327650"/>
                  </a:ext>
                </a:extLst>
              </a:tr>
            </a:tbl>
          </a:graphicData>
        </a:graphic>
      </p:graphicFrame>
      <p:sp>
        <p:nvSpPr>
          <p:cNvPr id="59" name="내용 개체 틀 3">
            <a:extLst>
              <a:ext uri="{FF2B5EF4-FFF2-40B4-BE49-F238E27FC236}">
                <a16:creationId xmlns:a16="http://schemas.microsoft.com/office/drawing/2014/main" id="{72C147B3-3489-73FA-4BA0-E1E57AACB76C}"/>
              </a:ext>
            </a:extLst>
          </p:cNvPr>
          <p:cNvSpPr txBox="1">
            <a:spLocks/>
          </p:cNvSpPr>
          <p:nvPr/>
        </p:nvSpPr>
        <p:spPr>
          <a:xfrm>
            <a:off x="1181682" y="4683278"/>
            <a:ext cx="4761918" cy="43564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예를 들어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n = n + 5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줄여서 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n += 5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표현할 수 있다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467F0EC0-AF80-5861-A4D0-822B3BA13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43" y="4971821"/>
            <a:ext cx="2457629" cy="89288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01BE384A-484A-4CCE-5172-8A590D308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377" y="7053540"/>
            <a:ext cx="1996538" cy="1248573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D3795C9D-B5F4-756F-FE3A-C77117CC4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860" y="7030680"/>
            <a:ext cx="1996538" cy="146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7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02AE-9B93-5CAD-52F1-4BA401D6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4F7F7-5948-5F67-434A-55ED4471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 비교 연산자 이해하기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C3B800B-B50C-E880-C292-615E96EFE3A8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6</a:t>
            </a:fld>
            <a:endParaRPr lang="ko-KR" altLang="en-US" sz="1000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D8BA3FB3-3FC7-AC36-4074-9C4DD1579774}"/>
              </a:ext>
            </a:extLst>
          </p:cNvPr>
          <p:cNvSpPr txBox="1">
            <a:spLocks/>
          </p:cNvSpPr>
          <p:nvPr/>
        </p:nvSpPr>
        <p:spPr>
          <a:xfrm>
            <a:off x="831256" y="1344620"/>
            <a:ext cx="4555725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비교 연산자란</a:t>
            </a:r>
          </a:p>
        </p:txBody>
      </p:sp>
      <p:sp>
        <p:nvSpPr>
          <p:cNvPr id="21" name="내용 개체 틀 3">
            <a:extLst>
              <a:ext uri="{FF2B5EF4-FFF2-40B4-BE49-F238E27FC236}">
                <a16:creationId xmlns:a16="http://schemas.microsoft.com/office/drawing/2014/main" id="{FE9CB90E-F992-F2A7-1C0F-B1FAF0C78E35}"/>
              </a:ext>
            </a:extLst>
          </p:cNvPr>
          <p:cNvSpPr txBox="1">
            <a:spLocks/>
          </p:cNvSpPr>
          <p:nvPr/>
        </p:nvSpPr>
        <p:spPr>
          <a:xfrm>
            <a:off x="1026234" y="1723978"/>
            <a:ext cx="4944798" cy="612848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비교 연산자는 두 값을 비교하여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True(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참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또는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False(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거짓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으로 값이 표현된다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숫자 비교 실습 예제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문자열 비교 실습 예제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문자열은 사전순으로 비교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34D136FA-3EF1-4AC4-F6FD-653FA2EC6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081796"/>
              </p:ext>
            </p:extLst>
          </p:nvPr>
        </p:nvGraphicFramePr>
        <p:xfrm>
          <a:off x="1199207" y="2065673"/>
          <a:ext cx="4488944" cy="17408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13057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1088719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1745662083"/>
                    </a:ext>
                  </a:extLst>
                </a:gridCol>
              </a:tblGrid>
              <a:tr h="228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==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 ==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다르다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 !=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작다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 &lt;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059163"/>
                  </a:ext>
                </a:extLst>
              </a:tr>
              <a:tr h="27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작거나 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 &lt;=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False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181978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크다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 &gt;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False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327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크거나 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 &gt;= 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9171"/>
                  </a:ext>
                </a:extLst>
              </a:tr>
            </a:tbl>
          </a:graphicData>
        </a:graphic>
      </p:graphicFrame>
      <p:pic>
        <p:nvPicPr>
          <p:cNvPr id="23" name="그림 22">
            <a:extLst>
              <a:ext uri="{FF2B5EF4-FFF2-40B4-BE49-F238E27FC236}">
                <a16:creationId xmlns:a16="http://schemas.microsoft.com/office/drawing/2014/main" id="{3317382C-1706-E834-3C49-7820BCD02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034" y="4263746"/>
            <a:ext cx="1500129" cy="225365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078F21D-3D6C-D8C2-73F8-B2E4EB2C9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034" y="7117618"/>
            <a:ext cx="1997670" cy="160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2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8EFD-A01D-B1E9-4A51-E1A59092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0A900F4-26F0-9742-22EE-4A8BF09DD3BD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세 개의 변수 </a:t>
            </a:r>
            <a:r>
              <a:rPr lang="en-US" altLang="ko-KR" dirty="0"/>
              <a:t>i1, i2, i3</a:t>
            </a:r>
            <a:r>
              <a:rPr lang="ko-KR" altLang="en-US" dirty="0"/>
              <a:t>를 이용해 비교 결과</a:t>
            </a:r>
            <a:r>
              <a:rPr lang="en-US" altLang="ko-KR" dirty="0"/>
              <a:t>(True/False)</a:t>
            </a:r>
            <a:r>
              <a:rPr lang="ko-KR" altLang="en-US" dirty="0"/>
              <a:t>를 출력해보세요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</a:t>
            </a:r>
            <a:r>
              <a:rPr lang="en-US" altLang="ko-KR" dirty="0"/>
              <a:t> 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1. 3</a:t>
            </a:r>
            <a:r>
              <a:rPr lang="ko-KR" altLang="en-US" dirty="0"/>
              <a:t>개의 정수 </a:t>
            </a:r>
            <a:r>
              <a:rPr lang="en-US" altLang="ko-KR" dirty="0"/>
              <a:t>a, b, c</a:t>
            </a:r>
            <a:r>
              <a:rPr lang="ko-KR" altLang="en-US" dirty="0"/>
              <a:t>를 입력 받아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b, b</a:t>
            </a:r>
            <a:r>
              <a:rPr lang="ko-KR" altLang="en-US" dirty="0"/>
              <a:t>와 </a:t>
            </a:r>
            <a:r>
              <a:rPr lang="en-US" altLang="ko-KR" dirty="0"/>
              <a:t>c</a:t>
            </a:r>
            <a:r>
              <a:rPr lang="ko-KR" altLang="en-US" dirty="0"/>
              <a:t>를 비교하여 같으면 </a:t>
            </a:r>
            <a:r>
              <a:rPr lang="en-US" altLang="ko-KR" dirty="0"/>
              <a:t>True, </a:t>
            </a:r>
            <a:r>
              <a:rPr lang="ko-KR" altLang="en-US" dirty="0"/>
              <a:t>다르면 </a:t>
            </a:r>
            <a:r>
              <a:rPr lang="en-US" altLang="ko-KR" dirty="0"/>
              <a:t>False</a:t>
            </a:r>
            <a:r>
              <a:rPr lang="ko-KR" altLang="en-US" dirty="0"/>
              <a:t>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2. 3</a:t>
            </a:r>
            <a:r>
              <a:rPr lang="ko-KR" altLang="en-US" dirty="0"/>
              <a:t>개의 정수 </a:t>
            </a:r>
            <a:r>
              <a:rPr lang="en-US" altLang="ko-KR" dirty="0"/>
              <a:t>a, b, c</a:t>
            </a:r>
            <a:r>
              <a:rPr lang="ko-KR" altLang="en-US" dirty="0"/>
              <a:t>를 입력 받아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b, b</a:t>
            </a:r>
            <a:r>
              <a:rPr lang="ko-KR" altLang="en-US" dirty="0"/>
              <a:t>와 </a:t>
            </a:r>
            <a:r>
              <a:rPr lang="en-US" altLang="ko-KR" dirty="0"/>
              <a:t>c</a:t>
            </a:r>
            <a:r>
              <a:rPr lang="ko-KR" altLang="en-US" dirty="0"/>
              <a:t>를 비교하여 다르면 </a:t>
            </a:r>
            <a:r>
              <a:rPr lang="en-US" altLang="ko-KR" dirty="0"/>
              <a:t>True, </a:t>
            </a:r>
            <a:r>
              <a:rPr lang="ko-KR" altLang="en-US" dirty="0"/>
              <a:t>같으면 </a:t>
            </a:r>
            <a:r>
              <a:rPr lang="en-US" altLang="ko-KR" dirty="0"/>
              <a:t>False</a:t>
            </a:r>
            <a:r>
              <a:rPr lang="ko-KR" altLang="en-US" dirty="0"/>
              <a:t>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정수 한 줄 입력 명령어 </a:t>
            </a:r>
            <a:r>
              <a:rPr lang="en-US" altLang="ko-KR" b="1" dirty="0">
                <a:solidFill>
                  <a:srgbClr val="FF0000"/>
                </a:solidFill>
              </a:rPr>
              <a:t>:  map( int , input( ) . split( ) 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B90D259-1CBA-868A-4188-DB82B1B2F81F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비교 연산자 이해하기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F7FDEAC-3F5A-15BA-49FC-F3F56CF55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74" y="1862449"/>
            <a:ext cx="1759456" cy="285496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AC374AE-2F52-2185-E05B-5AC193A83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351" y="1862449"/>
            <a:ext cx="817711" cy="107277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DB384C4-428C-4431-7B96-E4235A42DD58}"/>
              </a:ext>
            </a:extLst>
          </p:cNvPr>
          <p:cNvGrpSpPr/>
          <p:nvPr/>
        </p:nvGrpSpPr>
        <p:grpSpPr>
          <a:xfrm>
            <a:off x="2362773" y="5728159"/>
            <a:ext cx="1909161" cy="624418"/>
            <a:chOff x="989487" y="5785526"/>
            <a:chExt cx="2286319" cy="75258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EB41B54-5AB8-FBAC-D4AB-6FAFE0D1F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9487" y="5785526"/>
              <a:ext cx="2286319" cy="31436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F900FD7-E41A-A3A4-BE80-92A4D1FCA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4552" y="6099895"/>
              <a:ext cx="1800476" cy="438211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91734A-83EE-BC66-7B94-9BDDBB6ACAA4}"/>
              </a:ext>
            </a:extLst>
          </p:cNvPr>
          <p:cNvGrpSpPr/>
          <p:nvPr/>
        </p:nvGrpSpPr>
        <p:grpSpPr>
          <a:xfrm>
            <a:off x="2362773" y="7315569"/>
            <a:ext cx="1909161" cy="659927"/>
            <a:chOff x="2234757" y="7185625"/>
            <a:chExt cx="2314898" cy="82084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729BE6E-46E3-344B-50EB-C40270B87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4757" y="7185625"/>
              <a:ext cx="2314898" cy="295316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8EB57D8-43F9-3141-7A2E-119159ACF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9572" y="7549210"/>
              <a:ext cx="1819529" cy="457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498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2192-B663-7C79-07C0-FB051BCE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4D06D2-D82F-0542-8553-F6B1AC558870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두 개의 정수를 입력 받아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첫 번째 줄에는 두 값이 같으면 </a:t>
            </a:r>
            <a:r>
              <a:rPr lang="en-US" altLang="ko-KR" dirty="0"/>
              <a:t>True, </a:t>
            </a:r>
            <a:r>
              <a:rPr lang="ko-KR" altLang="en-US" dirty="0"/>
              <a:t>다르면 </a:t>
            </a:r>
            <a:r>
              <a:rPr lang="en-US" altLang="ko-KR" dirty="0"/>
              <a:t>False</a:t>
            </a:r>
            <a:r>
              <a:rPr lang="ko-KR" altLang="en-US" dirty="0"/>
              <a:t>를 출력하고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두 번째 줄에는 같지 않으면 </a:t>
            </a:r>
            <a:r>
              <a:rPr lang="en-US" altLang="ko-KR" dirty="0"/>
              <a:t>True, </a:t>
            </a:r>
            <a:r>
              <a:rPr lang="ko-KR" altLang="en-US" dirty="0"/>
              <a:t>같으면 </a:t>
            </a:r>
            <a:r>
              <a:rPr lang="en-US" altLang="ko-KR" dirty="0"/>
              <a:t>False</a:t>
            </a:r>
            <a:r>
              <a:rPr lang="ko-KR" altLang="en-US" dirty="0"/>
              <a:t>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4. 3</a:t>
            </a:r>
            <a:r>
              <a:rPr lang="ko-KR" altLang="en-US" dirty="0"/>
              <a:t>개의 정수 </a:t>
            </a:r>
            <a:r>
              <a:rPr lang="en-US" altLang="ko-KR" dirty="0"/>
              <a:t>a, b, c</a:t>
            </a:r>
            <a:r>
              <a:rPr lang="ko-KR" altLang="en-US" dirty="0"/>
              <a:t>를 입력 받아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큰지</a:t>
            </a:r>
            <a:r>
              <a:rPr lang="en-US" altLang="ko-KR" dirty="0"/>
              <a:t>, b</a:t>
            </a:r>
            <a:r>
              <a:rPr lang="ko-KR" altLang="en-US" dirty="0"/>
              <a:t>가 </a:t>
            </a:r>
            <a:r>
              <a:rPr lang="en-US" altLang="ko-KR" dirty="0"/>
              <a:t>c</a:t>
            </a:r>
            <a:r>
              <a:rPr lang="ko-KR" altLang="en-US" dirty="0"/>
              <a:t>보다 크거나 </a:t>
            </a:r>
            <a:r>
              <a:rPr lang="ko-KR" altLang="en-US" dirty="0" err="1"/>
              <a:t>같은지</a:t>
            </a:r>
            <a:r>
              <a:rPr lang="en-US" altLang="ko-KR" dirty="0"/>
              <a:t>, 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작거나 </a:t>
            </a:r>
            <a:r>
              <a:rPr lang="ko-KR" altLang="en-US" dirty="0" err="1"/>
              <a:t>같은지</a:t>
            </a:r>
            <a:r>
              <a:rPr lang="en-US" altLang="ko-KR" dirty="0"/>
              <a:t>, b</a:t>
            </a:r>
            <a:r>
              <a:rPr lang="ko-KR" altLang="en-US" dirty="0"/>
              <a:t>가 </a:t>
            </a:r>
            <a:r>
              <a:rPr lang="en-US" altLang="ko-KR" dirty="0"/>
              <a:t>c</a:t>
            </a:r>
            <a:r>
              <a:rPr lang="ko-KR" altLang="en-US" dirty="0"/>
              <a:t>보다 작은지를 각각 비교하여 참이면 </a:t>
            </a:r>
            <a:r>
              <a:rPr lang="en-US" altLang="ko-KR" dirty="0"/>
              <a:t>True, </a:t>
            </a:r>
            <a:r>
              <a:rPr lang="ko-KR" altLang="en-US" dirty="0"/>
              <a:t>거짓이면 </a:t>
            </a:r>
            <a:r>
              <a:rPr lang="en-US" altLang="ko-KR" dirty="0"/>
              <a:t>False</a:t>
            </a:r>
            <a:r>
              <a:rPr lang="ko-KR" altLang="en-US" dirty="0"/>
              <a:t>를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4. 3</a:t>
            </a:r>
            <a:r>
              <a:rPr lang="ko-KR" altLang="en-US" dirty="0"/>
              <a:t>개의 정수 </a:t>
            </a:r>
            <a:r>
              <a:rPr lang="en-US" altLang="ko-KR" dirty="0"/>
              <a:t>a, b, c</a:t>
            </a:r>
            <a:r>
              <a:rPr lang="ko-KR" altLang="en-US" dirty="0"/>
              <a:t>를 입력 받아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큰지</a:t>
            </a:r>
            <a:r>
              <a:rPr lang="en-US" altLang="ko-KR" dirty="0"/>
              <a:t>, b</a:t>
            </a:r>
            <a:r>
              <a:rPr lang="ko-KR" altLang="en-US" dirty="0"/>
              <a:t>가 </a:t>
            </a:r>
            <a:r>
              <a:rPr lang="en-US" altLang="ko-KR" dirty="0"/>
              <a:t>c</a:t>
            </a:r>
            <a:r>
              <a:rPr lang="ko-KR" altLang="en-US" dirty="0"/>
              <a:t>보다 크거나 </a:t>
            </a:r>
            <a:r>
              <a:rPr lang="ko-KR" altLang="en-US" dirty="0" err="1"/>
              <a:t>같은지</a:t>
            </a:r>
            <a:r>
              <a:rPr lang="en-US" altLang="ko-KR" dirty="0"/>
              <a:t>, 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작거나 </a:t>
            </a:r>
            <a:r>
              <a:rPr lang="ko-KR" altLang="en-US" dirty="0" err="1"/>
              <a:t>같은지</a:t>
            </a:r>
            <a:r>
              <a:rPr lang="en-US" altLang="ko-KR" dirty="0"/>
              <a:t>, b</a:t>
            </a:r>
            <a:r>
              <a:rPr lang="ko-KR" altLang="en-US" dirty="0"/>
              <a:t>가 </a:t>
            </a:r>
            <a:r>
              <a:rPr lang="en-US" altLang="ko-KR" dirty="0"/>
              <a:t>c</a:t>
            </a:r>
            <a:r>
              <a:rPr lang="ko-KR" altLang="en-US" dirty="0"/>
              <a:t>보다 작은지를 각각 비교하여 참이면 </a:t>
            </a:r>
            <a:r>
              <a:rPr lang="en-US" altLang="ko-KR" dirty="0"/>
              <a:t>True, </a:t>
            </a:r>
            <a:r>
              <a:rPr lang="ko-KR" altLang="en-US" dirty="0"/>
              <a:t>거짓이면 </a:t>
            </a:r>
            <a:r>
              <a:rPr lang="en-US" altLang="ko-KR" dirty="0"/>
              <a:t>False</a:t>
            </a:r>
            <a:r>
              <a:rPr lang="ko-KR" altLang="en-US" dirty="0"/>
              <a:t>를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정수 한 줄 입력 명령어 </a:t>
            </a:r>
            <a:r>
              <a:rPr lang="en-US" altLang="ko-KR" b="1" dirty="0">
                <a:solidFill>
                  <a:srgbClr val="FF0000"/>
                </a:solidFill>
              </a:rPr>
              <a:t>:  map( int , input( ) . split( ) )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150FB8-A1E1-2B0F-4B44-1F6319457C3F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비교 연산자 이해하기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1FC8E177-9B33-F2EC-B78B-BD22E333A69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8</a:t>
            </a:fld>
            <a:endParaRPr lang="ko-KR" altLang="en-US" sz="1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3FE6A5F-619C-D8FE-CBFC-3C6EB38BF153}"/>
              </a:ext>
            </a:extLst>
          </p:cNvPr>
          <p:cNvGrpSpPr/>
          <p:nvPr/>
        </p:nvGrpSpPr>
        <p:grpSpPr>
          <a:xfrm>
            <a:off x="2367913" y="2254686"/>
            <a:ext cx="1909161" cy="684427"/>
            <a:chOff x="2302767" y="2177645"/>
            <a:chExt cx="2542383" cy="86689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0882CB6-F1D5-CC0E-67FF-32D8246DF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2767" y="2177645"/>
              <a:ext cx="2238687" cy="342948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5ED1F097-E053-BE3B-E658-4495D9F89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0199" y="2520593"/>
              <a:ext cx="2514951" cy="523948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230FF81-BF8D-2CFF-2391-729B05C942C0}"/>
              </a:ext>
            </a:extLst>
          </p:cNvPr>
          <p:cNvGrpSpPr/>
          <p:nvPr/>
        </p:nvGrpSpPr>
        <p:grpSpPr>
          <a:xfrm>
            <a:off x="2305618" y="4396382"/>
            <a:ext cx="1988606" cy="895388"/>
            <a:chOff x="2305618" y="4005796"/>
            <a:chExt cx="2324424" cy="117173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D3FD6BE-9215-0C69-9E92-50C6C67D4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5618" y="4005796"/>
              <a:ext cx="2324424" cy="32389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F1EB15D-AB78-9D1A-DD6D-9D50BA7C2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05663" y="4329691"/>
              <a:ext cx="1238423" cy="847843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1701A61-EA87-6FC6-DD8F-FB7AECE4C4C5}"/>
              </a:ext>
            </a:extLst>
          </p:cNvPr>
          <p:cNvGrpSpPr/>
          <p:nvPr/>
        </p:nvGrpSpPr>
        <p:grpSpPr>
          <a:xfrm>
            <a:off x="2310212" y="6836612"/>
            <a:ext cx="1830806" cy="935788"/>
            <a:chOff x="2235362" y="6443420"/>
            <a:chExt cx="2229161" cy="1244176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1232BB2-BCC8-F18B-7D3C-49870DC56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5362" y="6443420"/>
              <a:ext cx="2229161" cy="34294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ADA06DB-6285-1A30-9BB7-40A7C99B2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05618" y="6820700"/>
              <a:ext cx="1638529" cy="866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881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4084-15A9-9522-FAE0-A614FD8C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7A05775-3F05-C1D3-E9D6-46F8E2CE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논리 연산자</a:t>
            </a:r>
            <a:r>
              <a:rPr lang="ko-KR" altLang="en-US" sz="1200" dirty="0"/>
              <a:t> 이해하기</a:t>
            </a:r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54C23DCA-E299-5EAA-0368-34ADC324B4F0}"/>
              </a:ext>
            </a:extLst>
          </p:cNvPr>
          <p:cNvSpPr txBox="1">
            <a:spLocks/>
          </p:cNvSpPr>
          <p:nvPr/>
        </p:nvSpPr>
        <p:spPr>
          <a:xfrm>
            <a:off x="986704" y="1426916"/>
            <a:ext cx="4555725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논리 연산자란</a:t>
            </a:r>
          </a:p>
        </p:txBody>
      </p:sp>
      <p:sp>
        <p:nvSpPr>
          <p:cNvPr id="54" name="내용 개체 틀 3">
            <a:extLst>
              <a:ext uri="{FF2B5EF4-FFF2-40B4-BE49-F238E27FC236}">
                <a16:creationId xmlns:a16="http://schemas.microsoft.com/office/drawing/2014/main" id="{F7C30DA3-08FC-6682-022C-AC4462CA587C}"/>
              </a:ext>
            </a:extLst>
          </p:cNvPr>
          <p:cNvSpPr txBox="1">
            <a:spLocks/>
          </p:cNvSpPr>
          <p:nvPr/>
        </p:nvSpPr>
        <p:spPr>
          <a:xfrm>
            <a:off x="1181682" y="180627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논리 연산자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(Logical Operators)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여러 개의 조건식을 결합하거나 반대로 바꿀 때 사용하는 연산자를 말한다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결과는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True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또는 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False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출력된다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F2D0966C-526B-9A33-E477-9D2C61A40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413938"/>
              </p:ext>
            </p:extLst>
          </p:nvPr>
        </p:nvGraphicFramePr>
        <p:xfrm>
          <a:off x="1345511" y="2285129"/>
          <a:ext cx="4488944" cy="16519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13057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1088719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1745662083"/>
                    </a:ext>
                  </a:extLst>
                </a:gridCol>
              </a:tblGrid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and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두 조건이 모두 참일 때만 </a:t>
                      </a:r>
                      <a:r>
                        <a:rPr lang="en-US" altLang="ko-KR" sz="1000" dirty="0"/>
                        <a:t>True</a:t>
                      </a:r>
                      <a:r>
                        <a:rPr lang="ko-KR" altLang="en-US" sz="1000" dirty="0"/>
                        <a:t>를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a, b = 5, 6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a &gt; 1  and  b &gt; 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두 조건 중 하나라도 참이면</a:t>
                      </a:r>
                      <a:r>
                        <a:rPr lang="en-US" altLang="ko-KR" sz="1000" dirty="0"/>
                        <a:t> True</a:t>
                      </a:r>
                      <a:r>
                        <a:rPr lang="ko-KR" altLang="en-US" sz="1000" dirty="0"/>
                        <a:t>를 반환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a, b = 5, 3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a &gt; 1  or  b &gt; 10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  <a:tr h="310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참</a:t>
                      </a:r>
                      <a:r>
                        <a:rPr lang="en-US" altLang="ko-KR" sz="1000" dirty="0"/>
                        <a:t>(True)</a:t>
                      </a:r>
                      <a:r>
                        <a:rPr lang="ko-KR" altLang="en-US" sz="1000" dirty="0"/>
                        <a:t>을 거짓</a:t>
                      </a:r>
                      <a:r>
                        <a:rPr lang="en-US" altLang="ko-KR" sz="1000" dirty="0"/>
                        <a:t>(False)</a:t>
                      </a:r>
                      <a:r>
                        <a:rPr lang="ko-KR" altLang="en-US" sz="1000" dirty="0"/>
                        <a:t>으로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거짓</a:t>
                      </a:r>
                      <a:r>
                        <a:rPr lang="en-US" altLang="ko-KR" sz="1000" dirty="0"/>
                        <a:t>(False)</a:t>
                      </a:r>
                      <a:r>
                        <a:rPr lang="ko-KR" altLang="en-US" sz="1000" dirty="0"/>
                        <a:t>을 참</a:t>
                      </a:r>
                      <a:r>
                        <a:rPr lang="en-US" altLang="ko-KR" sz="1000" dirty="0"/>
                        <a:t>(True)</a:t>
                      </a:r>
                      <a:r>
                        <a:rPr lang="ko-KR" altLang="en-US" sz="1000" dirty="0"/>
                        <a:t>으로 바꿈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5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not ( a &gt; 10 )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059163"/>
                  </a:ext>
                </a:extLst>
              </a:tr>
            </a:tbl>
          </a:graphicData>
        </a:graphic>
      </p:graphicFrame>
      <p:sp>
        <p:nvSpPr>
          <p:cNvPr id="59" name="내용 개체 틀 3">
            <a:extLst>
              <a:ext uri="{FF2B5EF4-FFF2-40B4-BE49-F238E27FC236}">
                <a16:creationId xmlns:a16="http://schemas.microsoft.com/office/drawing/2014/main" id="{BD74BEA2-0AB9-8CA1-3A4D-484F23293A18}"/>
              </a:ext>
            </a:extLst>
          </p:cNvPr>
          <p:cNvSpPr txBox="1">
            <a:spLocks/>
          </p:cNvSpPr>
          <p:nvPr/>
        </p:nvSpPr>
        <p:spPr>
          <a:xfrm>
            <a:off x="1181682" y="4125039"/>
            <a:ext cx="4761918" cy="124827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dirty="0"/>
              <a:t>and </a:t>
            </a:r>
            <a:r>
              <a:rPr lang="ko-KR" altLang="en-US" dirty="0"/>
              <a:t>는 모든</a:t>
            </a:r>
            <a:r>
              <a:rPr lang="en-US" altLang="ko-KR" dirty="0"/>
              <a:t> </a:t>
            </a:r>
            <a:r>
              <a:rPr lang="ko-KR" altLang="en-US" dirty="0"/>
              <a:t>조건이 참이어야 </a:t>
            </a:r>
            <a:r>
              <a:rPr lang="en-US" altLang="ko-KR" dirty="0"/>
              <a:t>True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dirty="0"/>
              <a:t>or </a:t>
            </a:r>
            <a:r>
              <a:rPr lang="ko-KR" altLang="en-US" dirty="0"/>
              <a:t>은 조건이 하나만 참이면 </a:t>
            </a:r>
            <a:r>
              <a:rPr lang="en-US" altLang="ko-KR" dirty="0"/>
              <a:t>True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dirty="0"/>
              <a:t>not </a:t>
            </a:r>
            <a:r>
              <a:rPr lang="ko-KR" altLang="en-US" dirty="0"/>
              <a:t>은 </a:t>
            </a:r>
            <a:r>
              <a:rPr lang="en-US" altLang="ko-KR" dirty="0"/>
              <a:t>True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↔ False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파이썬에서는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C/C++, Java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달리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&amp;&amp;, ||, !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대신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and, or, not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사용한다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22A887-A143-EE9E-FFD6-B07F1C84F650}"/>
              </a:ext>
            </a:extLst>
          </p:cNvPr>
          <p:cNvSpPr txBox="1">
            <a:spLocks/>
          </p:cNvSpPr>
          <p:nvPr/>
        </p:nvSpPr>
        <p:spPr>
          <a:xfrm>
            <a:off x="991389" y="5401195"/>
            <a:ext cx="5071083" cy="3426651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두 개의 변수 </a:t>
            </a:r>
            <a:r>
              <a:rPr lang="en-US" altLang="ko-KR" dirty="0"/>
              <a:t>a, b</a:t>
            </a:r>
            <a:r>
              <a:rPr lang="ko-KR" altLang="en-US" dirty="0"/>
              <a:t>를 이용해 논리 결과</a:t>
            </a:r>
            <a:r>
              <a:rPr lang="en-US" altLang="ko-KR" dirty="0"/>
              <a:t>(True/False)</a:t>
            </a:r>
            <a:r>
              <a:rPr lang="ko-KR" altLang="en-US" dirty="0"/>
              <a:t>를 출력해보세요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</a:t>
            </a:r>
            <a:r>
              <a:rPr lang="en-US" altLang="ko-KR" dirty="0"/>
              <a:t> 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415005-F8D5-2AFD-98CB-C910C32C5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91" y="6046585"/>
            <a:ext cx="1792118" cy="18477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9634F78-DF99-F3F3-D3AA-660D9FBE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181" y="6040883"/>
            <a:ext cx="569207" cy="52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46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21A1-E828-9AEB-5B8B-65A31F72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DA342-AE92-DA2B-2C52-2CAAF1AE631D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3. 3</a:t>
            </a:r>
            <a:r>
              <a:rPr lang="ko-KR" altLang="en-US" dirty="0"/>
              <a:t>개의 변수 </a:t>
            </a:r>
            <a:r>
              <a:rPr lang="en-US" altLang="ko-KR" dirty="0"/>
              <a:t>a, b, c</a:t>
            </a:r>
            <a:r>
              <a:rPr lang="ko-KR" altLang="en-US" dirty="0"/>
              <a:t>를 선언하여 각각 </a:t>
            </a:r>
            <a:r>
              <a:rPr lang="en-US" altLang="ko-KR" dirty="0"/>
              <a:t>False, True, False</a:t>
            </a:r>
            <a:r>
              <a:rPr lang="ko-KR" altLang="en-US" dirty="0"/>
              <a:t>로 초기화한 후 다음 조건을 비교하는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조건</a:t>
            </a:r>
            <a:r>
              <a:rPr lang="en-US" altLang="ko-KR" dirty="0"/>
              <a:t>]   (1)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모두 참인지 </a:t>
            </a:r>
            <a:r>
              <a:rPr lang="en-US" altLang="ko-KR" dirty="0"/>
              <a:t>?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           (2) a </a:t>
            </a:r>
            <a:r>
              <a:rPr lang="ko-KR" altLang="en-US" dirty="0"/>
              <a:t>또는 </a:t>
            </a:r>
            <a:r>
              <a:rPr lang="en-US" altLang="ko-KR" dirty="0"/>
              <a:t>b</a:t>
            </a:r>
            <a:r>
              <a:rPr lang="ko-KR" altLang="en-US" dirty="0"/>
              <a:t>가 참인지 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           (3) b</a:t>
            </a:r>
            <a:r>
              <a:rPr lang="ko-KR" altLang="en-US" dirty="0"/>
              <a:t>와 </a:t>
            </a:r>
            <a:r>
              <a:rPr lang="en-US" altLang="ko-KR" dirty="0"/>
              <a:t>c</a:t>
            </a:r>
            <a:r>
              <a:rPr lang="ko-KR" altLang="en-US" dirty="0"/>
              <a:t>가 모두 참인지 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           (4) a</a:t>
            </a:r>
            <a:r>
              <a:rPr lang="ko-KR" altLang="en-US" dirty="0"/>
              <a:t>가 참이 아닌지 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4. 3</a:t>
            </a:r>
            <a:r>
              <a:rPr lang="ko-KR" altLang="en-US" dirty="0"/>
              <a:t>개의 정수 </a:t>
            </a:r>
            <a:r>
              <a:rPr lang="en-US" altLang="ko-KR" dirty="0"/>
              <a:t>a, b, c</a:t>
            </a:r>
            <a:r>
              <a:rPr lang="ko-KR" altLang="en-US" dirty="0"/>
              <a:t>를 각각 </a:t>
            </a:r>
            <a:r>
              <a:rPr lang="en-US" altLang="ko-KR" dirty="0"/>
              <a:t>0, 1, 2</a:t>
            </a:r>
            <a:r>
              <a:rPr lang="ko-KR" altLang="en-US" dirty="0"/>
              <a:t>로 초기화하고 출력 결과 예시와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4. 3</a:t>
            </a:r>
            <a:r>
              <a:rPr lang="ko-KR" altLang="en-US" dirty="0"/>
              <a:t>개의 정수 </a:t>
            </a:r>
            <a:r>
              <a:rPr lang="en-US" altLang="ko-KR" dirty="0"/>
              <a:t>a, b, c</a:t>
            </a:r>
            <a:r>
              <a:rPr lang="ko-KR" altLang="en-US" dirty="0"/>
              <a:t>를 각각 </a:t>
            </a:r>
            <a:r>
              <a:rPr lang="en-US" altLang="ko-KR" dirty="0"/>
              <a:t>0, 1, 2</a:t>
            </a:r>
            <a:r>
              <a:rPr lang="ko-KR" altLang="en-US" dirty="0"/>
              <a:t>로 초기화하고 출력 결과 예시와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정수 한 줄 입력 명령어 </a:t>
            </a:r>
            <a:r>
              <a:rPr lang="en-US" altLang="ko-KR" b="1" dirty="0">
                <a:solidFill>
                  <a:srgbClr val="FF0000"/>
                </a:solidFill>
              </a:rPr>
              <a:t>:  map( int , input( ) . split( ) 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68CD1EE-0767-F198-6959-7FB05D91664D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논리 연산자 이해하기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D593FDD-705B-544C-6D7A-9FFE902B03D5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10</a:t>
            </a:fld>
            <a:endParaRPr lang="ko-KR" altLang="en-US" sz="1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D2648C-454D-2C5D-BF42-9689DA727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621" y="1945881"/>
            <a:ext cx="585997" cy="7287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16C9DA-CEB7-BD83-E670-13E13AC5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641" y="4373623"/>
            <a:ext cx="2185279" cy="725982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8917ABCF-954B-11DB-429D-D1C5D6743220}"/>
              </a:ext>
            </a:extLst>
          </p:cNvPr>
          <p:cNvGrpSpPr/>
          <p:nvPr/>
        </p:nvGrpSpPr>
        <p:grpSpPr>
          <a:xfrm>
            <a:off x="1365641" y="6277712"/>
            <a:ext cx="1816700" cy="617067"/>
            <a:chOff x="1315120" y="6194008"/>
            <a:chExt cx="2286319" cy="785759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4E4989A-F7BB-BC24-F844-CD6FDD255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5120" y="6194008"/>
              <a:ext cx="2286319" cy="362001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422BB1E9-0E92-2EEA-D1FB-6A824830F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9258" y="6522503"/>
              <a:ext cx="1771897" cy="457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7548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7BF5-1C31-2EBE-2FF0-27148D69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C3B7B37-0876-B763-86EC-EB97AC43ABA4}"/>
              </a:ext>
            </a:extLst>
          </p:cNvPr>
          <p:cNvSpPr txBox="1">
            <a:spLocks/>
          </p:cNvSpPr>
          <p:nvPr/>
        </p:nvSpPr>
        <p:spPr>
          <a:xfrm>
            <a:off x="1009677" y="1359547"/>
            <a:ext cx="5071083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1. 534</a:t>
            </a:r>
            <a:r>
              <a:rPr lang="ko-KR" altLang="en-US" dirty="0"/>
              <a:t>자루의 연필을 </a:t>
            </a:r>
            <a:r>
              <a:rPr lang="en-US" altLang="ko-KR" dirty="0"/>
              <a:t>30</a:t>
            </a:r>
            <a:r>
              <a:rPr lang="ko-KR" altLang="en-US" dirty="0"/>
              <a:t>명의 학생들이 똑같은 개수로 나누어 줄 때 학생당 몇 개를 가질 수 있고</a:t>
            </a:r>
            <a:r>
              <a:rPr lang="en-US" altLang="ko-KR" dirty="0"/>
              <a:t>, </a:t>
            </a:r>
            <a:r>
              <a:rPr lang="ko-KR" altLang="en-US" dirty="0"/>
              <a:t>최종적으로 몇 개가 남는지를 구하는 코드입니다</a:t>
            </a:r>
            <a:r>
              <a:rPr lang="en-US" altLang="ko-KR" dirty="0"/>
              <a:t>. ( )</a:t>
            </a:r>
            <a:r>
              <a:rPr lang="ko-KR" altLang="en-US" dirty="0"/>
              <a:t>에 들어갈 알맞은 코드를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                     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다음은 십의 자리 이하를 버리는 코드입니다</a:t>
            </a:r>
            <a:r>
              <a:rPr lang="en-US" altLang="ko-KR" dirty="0"/>
              <a:t>. </a:t>
            </a:r>
            <a:r>
              <a:rPr lang="ko-KR" altLang="en-US" dirty="0"/>
              <a:t>변수 </a:t>
            </a:r>
            <a:r>
              <a:rPr lang="en-US" altLang="ko-KR" dirty="0"/>
              <a:t>value</a:t>
            </a:r>
            <a:r>
              <a:rPr lang="ko-KR" altLang="en-US" dirty="0"/>
              <a:t>의 값이 </a:t>
            </a:r>
            <a:r>
              <a:rPr lang="en-US" altLang="ko-KR" dirty="0"/>
              <a:t>356</a:t>
            </a:r>
            <a:r>
              <a:rPr lang="ko-KR" altLang="en-US" dirty="0"/>
              <a:t>이라면 </a:t>
            </a:r>
            <a:r>
              <a:rPr lang="en-US" altLang="ko-KR" dirty="0"/>
              <a:t>300</a:t>
            </a:r>
            <a:r>
              <a:rPr lang="ko-KR" altLang="en-US" dirty="0"/>
              <a:t>이 나올 수 있도록 </a:t>
            </a:r>
            <a:r>
              <a:rPr lang="en-US" altLang="ko-KR" dirty="0"/>
              <a:t>( )</a:t>
            </a:r>
            <a:r>
              <a:rPr lang="ko-KR" altLang="en-US" dirty="0"/>
              <a:t>에 알맞은 코드를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                     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아래는 변수 </a:t>
            </a:r>
            <a:r>
              <a:rPr lang="en-US" altLang="ko-KR" dirty="0"/>
              <a:t>num</a:t>
            </a:r>
            <a:r>
              <a:rPr lang="ko-KR" altLang="en-US" dirty="0"/>
              <a:t>의 값 중에서 십의 자리 이하를 버리는 코드입니다</a:t>
            </a:r>
            <a:r>
              <a:rPr lang="en-US" altLang="ko-KR" dirty="0"/>
              <a:t>. </a:t>
            </a:r>
            <a:r>
              <a:rPr lang="ko-KR" altLang="en-US" dirty="0"/>
              <a:t>만일 </a:t>
            </a:r>
            <a:r>
              <a:rPr lang="en-US" altLang="ko-KR" dirty="0"/>
              <a:t>num</a:t>
            </a:r>
            <a:r>
              <a:rPr lang="ko-KR" altLang="en-US" dirty="0"/>
              <a:t>이 </a:t>
            </a:r>
            <a:r>
              <a:rPr lang="en-US" altLang="ko-KR" dirty="0"/>
              <a:t>456</a:t>
            </a:r>
            <a:r>
              <a:rPr lang="ko-KR" altLang="en-US" dirty="0"/>
              <a:t>이라면 </a:t>
            </a:r>
            <a:r>
              <a:rPr lang="en-US" altLang="ko-KR" dirty="0"/>
              <a:t>400, 111</a:t>
            </a:r>
            <a:r>
              <a:rPr lang="ko-KR" altLang="en-US" dirty="0"/>
              <a:t>이라면 </a:t>
            </a:r>
            <a:r>
              <a:rPr lang="en-US" altLang="ko-KR" dirty="0"/>
              <a:t>100</a:t>
            </a:r>
            <a:r>
              <a:rPr lang="ko-KR" altLang="en-US" dirty="0"/>
              <a:t>이 됩니다</a:t>
            </a:r>
            <a:r>
              <a:rPr lang="en-US" altLang="ko-KR" dirty="0"/>
              <a:t>. ( )</a:t>
            </a:r>
            <a:r>
              <a:rPr lang="ko-KR" altLang="en-US" dirty="0"/>
              <a:t>에 알맞은 코드를 넣으세요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                                                          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12AA25-A0A2-9E40-B7CE-87893FC5C1E1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21EEFBF-4FD7-A76A-28E7-152677482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644" y="2443860"/>
            <a:ext cx="2105051" cy="15187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D02EF84-7B07-DE78-6529-078CBEAA2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302" y="2525433"/>
            <a:ext cx="493034" cy="42146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8A75C26-39F0-0C65-886E-EF082637A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44" y="5351717"/>
            <a:ext cx="2263940" cy="69094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2A274CC-D86E-C63F-6F1A-FC8D26421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0302" y="5351717"/>
            <a:ext cx="1241667" cy="246791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965761F0-7F07-DD51-0FEF-547ED992DB51}"/>
              </a:ext>
            </a:extLst>
          </p:cNvPr>
          <p:cNvGrpSpPr/>
          <p:nvPr/>
        </p:nvGrpSpPr>
        <p:grpSpPr>
          <a:xfrm>
            <a:off x="4040303" y="7225325"/>
            <a:ext cx="1910918" cy="432775"/>
            <a:chOff x="4040302" y="7225324"/>
            <a:chExt cx="2295845" cy="581107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C4833CE-D942-82E0-5B56-6FC5D1E55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40302" y="7225324"/>
              <a:ext cx="2295845" cy="33342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A57EFC0B-A005-9F62-97D4-EAE4222E6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97459" y="7558746"/>
              <a:ext cx="2181529" cy="247685"/>
            </a:xfrm>
            <a:prstGeom prst="rect">
              <a:avLst/>
            </a:prstGeom>
          </p:spPr>
        </p:pic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62BCE098-5F86-D0B4-F8B9-259B3FC428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9644" y="7191310"/>
            <a:ext cx="2263940" cy="71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66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9783-91A3-0F1C-2744-8750C583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409587-7CAE-5119-3102-9E8D9B0E2953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연습 문제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아래는 변수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num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값 중에서 일의 자리를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바꾸는 코드입니다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만일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num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값이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333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331, 777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771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됩니다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( 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 알맞은 코드를 넣으세요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                                                          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</a:t>
            </a: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연습 문제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5. 10000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보다 작은 정수를 입력 받아서 이것을 천의 자리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백의 자리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십의 자리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일의 자리로 분리하여 출력하는 프로그램을 작성하세요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정답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쪽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].</a:t>
            </a:r>
          </a:p>
          <a:p>
            <a:pPr marL="0" lvl="0" indent="0">
              <a:buNone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dirty="0">
                <a:solidFill>
                  <a:srgbClr val="000000"/>
                </a:solidFill>
              </a:rPr>
              <a:t>입〮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출력 결과 예시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lvl="0" indent="0">
              <a:buNone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연습 문제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시간을 초 단위로 입력하여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입력된 시간이 몇 시간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 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 초에 해당하는지를 계산하는 프로그램을 작성하세요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예를 들어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3662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초는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초입니다</a:t>
            </a:r>
            <a:r>
              <a:rPr lang="en-US" altLang="ko-KR" dirty="0">
                <a:solidFill>
                  <a:srgbClr val="000000"/>
                </a:solidFill>
              </a:rPr>
              <a:t>[</a:t>
            </a:r>
            <a:r>
              <a:rPr lang="ko-KR" altLang="en-US" dirty="0">
                <a:solidFill>
                  <a:srgbClr val="000000"/>
                </a:solidFill>
              </a:rPr>
              <a:t>정답 </a:t>
            </a:r>
            <a:r>
              <a:rPr lang="en-US" altLang="ko-KR" dirty="0">
                <a:solidFill>
                  <a:srgbClr val="000000"/>
                </a:solidFill>
              </a:rPr>
              <a:t>13</a:t>
            </a:r>
            <a:r>
              <a:rPr lang="ko-KR" altLang="en-US" dirty="0">
                <a:solidFill>
                  <a:srgbClr val="000000"/>
                </a:solidFill>
              </a:rPr>
              <a:t>쪽</a:t>
            </a:r>
            <a:r>
              <a:rPr lang="en-US" altLang="ko-KR" dirty="0">
                <a:solidFill>
                  <a:srgbClr val="000000"/>
                </a:solidFill>
              </a:rPr>
              <a:t>].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입〮출력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결과 예시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118F17-974E-1139-9FB7-24B368AFF509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7B6529D2-78E0-783B-171B-57360ACB96E7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52EAC-BE29-4AAD-B8A8-A623A2B85899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E644AD0-623C-B658-101C-A97DE8EC099B}"/>
              </a:ext>
            </a:extLst>
          </p:cNvPr>
          <p:cNvGrpSpPr/>
          <p:nvPr/>
        </p:nvGrpSpPr>
        <p:grpSpPr>
          <a:xfrm>
            <a:off x="3859530" y="2389481"/>
            <a:ext cx="1988820" cy="490879"/>
            <a:chOff x="3550920" y="2381861"/>
            <a:chExt cx="2305372" cy="60015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73683F4-2B70-1879-BD3B-DAC13B03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0920" y="2381861"/>
              <a:ext cx="2305372" cy="34294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53AFC13-9018-6736-443C-FD1813113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1400" y="2724809"/>
              <a:ext cx="1848108" cy="257211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21CA349A-BE10-F2AC-57A4-9D4A0D92D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445" y="2389481"/>
            <a:ext cx="2344136" cy="458309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1AFA64A-B0DE-6CE6-C1E5-41F074AFB6D2}"/>
              </a:ext>
            </a:extLst>
          </p:cNvPr>
          <p:cNvGrpSpPr/>
          <p:nvPr/>
        </p:nvGrpSpPr>
        <p:grpSpPr>
          <a:xfrm>
            <a:off x="1174023" y="4305300"/>
            <a:ext cx="1652998" cy="1075214"/>
            <a:chOff x="1250222" y="4229698"/>
            <a:chExt cx="2276793" cy="140989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A7FC344-FEA9-C94A-C6E4-241328342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0222" y="4229698"/>
              <a:ext cx="2276793" cy="533474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60F2BD47-9F49-94E0-9519-16350733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0222" y="4763172"/>
              <a:ext cx="1762371" cy="876422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FDED0C5-C524-3D9F-404C-41A9563FD0E4}"/>
              </a:ext>
            </a:extLst>
          </p:cNvPr>
          <p:cNvGrpSpPr/>
          <p:nvPr/>
        </p:nvGrpSpPr>
        <p:grpSpPr>
          <a:xfrm>
            <a:off x="1174023" y="7054446"/>
            <a:ext cx="2047125" cy="590632"/>
            <a:chOff x="1228681" y="7115406"/>
            <a:chExt cx="2905530" cy="811108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F22D030-592F-0328-1DF3-B897DCE64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8681" y="7115406"/>
              <a:ext cx="2905530" cy="5906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2E41E98-9693-072E-B56A-21C887FAA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9327" y="7678829"/>
              <a:ext cx="2562583" cy="247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691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D23A-7635-8A59-B473-0EE619EF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BDE9C05-046B-00AA-5EF7-3B83835A737A}"/>
              </a:ext>
            </a:extLst>
          </p:cNvPr>
          <p:cNvSpPr txBox="1">
            <a:spLocks/>
          </p:cNvSpPr>
          <p:nvPr/>
        </p:nvSpPr>
        <p:spPr>
          <a:xfrm>
            <a:off x="1009677" y="1359547"/>
            <a:ext cx="5071083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정답</a:t>
            </a:r>
            <a:r>
              <a:rPr lang="en-US" altLang="ko-KR" dirty="0"/>
              <a:t>] </a:t>
            </a: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>
                <a:solidFill>
                  <a:srgbClr val="000000"/>
                </a:solidFill>
              </a:rPr>
              <a:t>연습 문제 </a:t>
            </a:r>
            <a:r>
              <a:rPr lang="en-US" altLang="ko-KR" dirty="0">
                <a:solidFill>
                  <a:srgbClr val="000000"/>
                </a:solidFill>
              </a:rPr>
              <a:t>5. 10000</a:t>
            </a:r>
            <a:r>
              <a:rPr lang="ko-KR" altLang="en-US" dirty="0">
                <a:solidFill>
                  <a:srgbClr val="000000"/>
                </a:solidFill>
              </a:rPr>
              <a:t>보다 작은 정수를 입력 받아서 이것을 천의 자리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백의 자리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십의 자리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일의 자리로 분리하여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정답</a:t>
            </a:r>
            <a:r>
              <a:rPr lang="en-US" altLang="ko-KR" dirty="0"/>
              <a:t>] </a:t>
            </a:r>
            <a:r>
              <a:rPr lang="ko-KR" altLang="en-US" dirty="0">
                <a:solidFill>
                  <a:srgbClr val="000000"/>
                </a:solidFill>
              </a:rPr>
              <a:t>연습 문제 </a:t>
            </a:r>
            <a:r>
              <a:rPr lang="en-US" altLang="ko-KR" dirty="0">
                <a:solidFill>
                  <a:srgbClr val="000000"/>
                </a:solidFill>
              </a:rPr>
              <a:t>6. </a:t>
            </a:r>
            <a:r>
              <a:rPr lang="ko-KR" altLang="en-US" dirty="0">
                <a:solidFill>
                  <a:srgbClr val="000000"/>
                </a:solidFill>
              </a:rPr>
              <a:t>시간을 초 단위로 입력하여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입력된 시간이 몇 시간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몇 분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몇 초에 해당하는지를 계산하는 프로그램을 작성하세요</a:t>
            </a:r>
            <a:r>
              <a:rPr lang="en-US" altLang="ko-KR" dirty="0">
                <a:solidFill>
                  <a:srgbClr val="000000"/>
                </a:solidFill>
              </a:rPr>
              <a:t>. </a:t>
            </a:r>
            <a:r>
              <a:rPr lang="ko-KR" altLang="en-US" dirty="0">
                <a:solidFill>
                  <a:srgbClr val="000000"/>
                </a:solidFill>
              </a:rPr>
              <a:t>예를 들어 </a:t>
            </a:r>
            <a:r>
              <a:rPr lang="en-US" altLang="ko-KR" dirty="0">
                <a:solidFill>
                  <a:srgbClr val="000000"/>
                </a:solidFill>
              </a:rPr>
              <a:t>3662</a:t>
            </a:r>
            <a:r>
              <a:rPr lang="ko-KR" altLang="en-US" dirty="0">
                <a:solidFill>
                  <a:srgbClr val="000000"/>
                </a:solidFill>
              </a:rPr>
              <a:t>초는 </a:t>
            </a:r>
            <a:r>
              <a:rPr lang="en-US" altLang="ko-KR" dirty="0">
                <a:solidFill>
                  <a:srgbClr val="000000"/>
                </a:solidFill>
              </a:rPr>
              <a:t>1</a:t>
            </a:r>
            <a:r>
              <a:rPr lang="ko-KR" altLang="en-US" dirty="0">
                <a:solidFill>
                  <a:srgbClr val="000000"/>
                </a:solidFill>
              </a:rPr>
              <a:t>시간 </a:t>
            </a:r>
            <a:r>
              <a:rPr lang="en-US" altLang="ko-KR" dirty="0">
                <a:solidFill>
                  <a:srgbClr val="000000"/>
                </a:solidFill>
              </a:rPr>
              <a:t>1</a:t>
            </a:r>
            <a:r>
              <a:rPr lang="ko-KR" altLang="en-US" dirty="0">
                <a:solidFill>
                  <a:srgbClr val="000000"/>
                </a:solidFill>
              </a:rPr>
              <a:t>분 </a:t>
            </a: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초입니다</a:t>
            </a:r>
            <a:r>
              <a:rPr lang="en-US" altLang="ko-KR" dirty="0"/>
              <a:t>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716784F-9408-6151-0B94-85C9F30D08BC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7D197E-167E-35A4-3CB6-DAB4D48EE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69" y="2012071"/>
            <a:ext cx="3078539" cy="22170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1BE59F-8AFC-6D6D-E62C-058E987E6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169" y="5388397"/>
            <a:ext cx="3078539" cy="201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97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14969</TotalTime>
  <Words>1645</Words>
  <Application>Microsoft Office PowerPoint</Application>
  <PresentationFormat>사용자 지정</PresentationFormat>
  <Paragraphs>348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12LotteMartDreamMedium</vt:lpstr>
      <vt:lpstr>210 옴니고딕 030</vt:lpstr>
      <vt:lpstr>맑은 고딕</vt:lpstr>
      <vt:lpstr>휴먼모음T</vt:lpstr>
      <vt:lpstr>휴먼편지체</vt:lpstr>
      <vt:lpstr>Arial</vt:lpstr>
      <vt:lpstr>Calibri</vt:lpstr>
      <vt:lpstr>Calibri Light</vt:lpstr>
      <vt:lpstr>Wingdings</vt:lpstr>
      <vt:lpstr>Office 2013 - 2022 테마</vt:lpstr>
      <vt:lpstr>3</vt:lpstr>
      <vt:lpstr>연산자 이해하기</vt:lpstr>
      <vt:lpstr>PowerPoint 프레젠테이션</vt:lpstr>
      <vt:lpstr>PowerPoint 프레젠테이션</vt:lpstr>
      <vt:lpstr>복합 대입 연산자 이해하기</vt:lpstr>
      <vt:lpstr> 비교 연산자 이해하기</vt:lpstr>
      <vt:lpstr>PowerPoint 프레젠테이션</vt:lpstr>
      <vt:lpstr>PowerPoint 프레젠테이션</vt:lpstr>
      <vt:lpstr>논리 연산자 이해하기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124</cp:revision>
  <cp:lastPrinted>2025-10-31T06:11:16Z</cp:lastPrinted>
  <dcterms:created xsi:type="dcterms:W3CDTF">2023-06-21T09:07:53Z</dcterms:created>
  <dcterms:modified xsi:type="dcterms:W3CDTF">2025-11-04T12:57:11Z</dcterms:modified>
</cp:coreProperties>
</file>
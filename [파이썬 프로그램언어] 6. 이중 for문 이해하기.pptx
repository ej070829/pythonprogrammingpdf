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00" r:id="rId4"/>
    <p:sldId id="301" r:id="rId5"/>
    <p:sldId id="302" r:id="rId6"/>
    <p:sldId id="282" r:id="rId7"/>
    <p:sldId id="285" r:id="rId8"/>
    <p:sldId id="286" r:id="rId9"/>
    <p:sldId id="308" r:id="rId10"/>
    <p:sldId id="309" r:id="rId11"/>
    <p:sldId id="298" r:id="rId12"/>
    <p:sldId id="288" r:id="rId13"/>
    <p:sldId id="295" r:id="rId14"/>
    <p:sldId id="310" r:id="rId15"/>
    <p:sldId id="311" r:id="rId16"/>
    <p:sldId id="312" r:id="rId17"/>
    <p:sldId id="313" r:id="rId18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298"/>
    <a:srgbClr val="FAF1DF"/>
    <a:srgbClr val="EAE0D1"/>
    <a:srgbClr val="EDF5F9"/>
    <a:srgbClr val="E0EDF4"/>
    <a:srgbClr val="F4F2EC"/>
    <a:srgbClr val="F5F9ED"/>
    <a:srgbClr val="FCFDF9"/>
    <a:srgbClr val="F4F9EB"/>
    <a:srgbClr val="F5C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2" autoAdjust="0"/>
    <p:restoredTop sz="96613" autoAdjust="0"/>
  </p:normalViewPr>
  <p:slideViewPr>
    <p:cSldViewPr snapToGrid="0">
      <p:cViewPr>
        <p:scale>
          <a:sx n="100" d="100"/>
          <a:sy n="100" d="100"/>
        </p:scale>
        <p:origin x="318" y="-426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0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1919-FAD8-F735-593B-7A8ABF07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0BE2F-6390-9ECB-7689-7B79E180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8254F-FF3A-51CB-6438-5D51E4F94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B689F-6A6A-D239-AFD7-ED351B159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03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340200" cy="627616"/>
            <a:chOff x="242887" y="187648"/>
            <a:chExt cx="4724702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3924547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프로그램 언어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_Python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71265" y="797755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79651" y="11986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8397F0A1-B839-488F-4899-66A484B56E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72750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186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234AC8EE-F36A-1B07-AF10-EB64BD3C83C6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31047-B281-D07C-7CAB-39933E7E8A8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90F12-7E14-FF35-8DDD-02447DA44E6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7" name="슬라이드 번호 개체 틀 17">
            <a:extLst>
              <a:ext uri="{FF2B5EF4-FFF2-40B4-BE49-F238E27FC236}">
                <a16:creationId xmlns:a16="http://schemas.microsoft.com/office/drawing/2014/main" id="{F88C35A7-717C-526B-398E-F513A4AA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186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82F2E7FB-958B-C8EA-1F3E-B8414C4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18FEC711-1E28-EB57-83C7-988875EDAE89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548648-FDA3-5527-17AF-FB2097F94E4C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742473-5B40-ABFB-7837-9DC4989941E0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711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7BC74A89-0677-292C-725F-7006A3B71001}"/>
              </a:ext>
            </a:extLst>
          </p:cNvPr>
          <p:cNvSpPr txBox="1">
            <a:spLocks/>
          </p:cNvSpPr>
          <p:nvPr userDrawn="1"/>
        </p:nvSpPr>
        <p:spPr>
          <a:xfrm>
            <a:off x="900469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37E22-89EF-8425-A190-763275E38E4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8211-84BB-06DA-5E23-CD6FB01D57F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76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96" r:id="rId19"/>
    <p:sldLayoutId id="2147483700" r:id="rId20"/>
    <p:sldLayoutId id="2147483699" r:id="rId21"/>
    <p:sldLayoutId id="2147483703" r:id="rId22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6.png"/><Relationship Id="rId7" Type="http://schemas.openxmlformats.org/officeDocument/2006/relationships/image" Target="../media/image5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이중 </a:t>
            </a:r>
            <a:r>
              <a:rPr lang="en-US" altLang="ko-KR" sz="2000" dirty="0"/>
              <a:t>for</a:t>
            </a:r>
            <a:r>
              <a:rPr lang="ko-KR" altLang="en-US" sz="2000" dirty="0"/>
              <a:t>문 이해하기</a:t>
            </a:r>
          </a:p>
          <a:p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6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42428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CC9D-846B-E8C3-CF51-899CF65A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이중 </a:t>
            </a:r>
            <a:r>
              <a:rPr lang="en-US" altLang="ko-KR" sz="1200" dirty="0"/>
              <a:t>for </a:t>
            </a:r>
            <a:r>
              <a:rPr lang="ko-KR" altLang="en-US" sz="1200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487D7-4CC3-E1C5-2949-0ACA77AE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이중 </a:t>
            </a:r>
            <a:r>
              <a:rPr lang="en-US" altLang="ko-KR" sz="1100" dirty="0"/>
              <a:t>for </a:t>
            </a:r>
            <a:r>
              <a:rPr lang="ko-KR" altLang="en-US" sz="1100" dirty="0"/>
              <a:t>문이란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F61533-7D09-3FB1-D344-4D78065D0F74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2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DA5E0ED-4733-41A4-2AAA-C2AE34D9E4AF}"/>
              </a:ext>
            </a:extLst>
          </p:cNvPr>
          <p:cNvSpPr txBox="1">
            <a:spLocks/>
          </p:cNvSpPr>
          <p:nvPr/>
        </p:nvSpPr>
        <p:spPr>
          <a:xfrm>
            <a:off x="1017090" y="1760554"/>
            <a:ext cx="4944798" cy="701768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 안에 또 다른 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문이 포함된 구조이다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이중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문을 학습하는 이유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배열을 학습을 위함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명령어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print( 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라면 표의 형태로 표현된다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4000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cs typeface="Arial Hebrew Scholar" pitchFamily="2" charset="-79"/>
              </a:rPr>
              <a:t>이중 </a:t>
            </a:r>
            <a:r>
              <a:rPr kumimoji="1" lang="en-US" altLang="ko-KR" dirty="0">
                <a:cs typeface="Arial Hebrew Scholar" pitchFamily="2" charset="-79"/>
              </a:rPr>
              <a:t>for</a:t>
            </a:r>
            <a:r>
              <a:rPr kumimoji="1" lang="ko-KR" altLang="en-US" dirty="0">
                <a:cs typeface="Arial Hebrew Scholar" pitchFamily="2" charset="-79"/>
              </a:rPr>
              <a:t>문 구조 중요</a:t>
            </a:r>
            <a:r>
              <a:rPr kumimoji="1" lang="en-US" altLang="ko-KR" dirty="0">
                <a:cs typeface="Arial Hebrew Scholar" pitchFamily="2" charset="-79"/>
              </a:rPr>
              <a:t>!</a:t>
            </a:r>
          </a:p>
          <a:p>
            <a:pPr marL="0" indent="0">
              <a:buNone/>
            </a:pPr>
            <a:r>
              <a:rPr kumimoji="1" lang="ko-KR" altLang="en-US" dirty="0">
                <a:cs typeface="Arial Hebrew Scholar" pitchFamily="2" charset="-79"/>
              </a:rPr>
              <a:t>      </a:t>
            </a:r>
            <a:r>
              <a:rPr kumimoji="1" lang="en-US" altLang="ko-KR" dirty="0">
                <a:cs typeface="Arial Hebrew Scholar" pitchFamily="2" charset="-79"/>
              </a:rPr>
              <a:t>1.</a:t>
            </a:r>
            <a:r>
              <a:rPr kumimoji="1" lang="ko-KR" altLang="en-US" dirty="0">
                <a:cs typeface="Arial Hebrew Scholar" pitchFamily="2" charset="-79"/>
              </a:rPr>
              <a:t> 밖의 </a:t>
            </a:r>
            <a:r>
              <a:rPr kumimoji="1" lang="en-US" altLang="ko-KR" dirty="0">
                <a:cs typeface="Arial Hebrew Scholar" pitchFamily="2" charset="-79"/>
              </a:rPr>
              <a:t>for</a:t>
            </a:r>
            <a:r>
              <a:rPr kumimoji="1" lang="ko-KR" altLang="en-US" dirty="0">
                <a:cs typeface="Arial Hebrew Scholar" pitchFamily="2" charset="-79"/>
              </a:rPr>
              <a:t> 문 </a:t>
            </a:r>
            <a:r>
              <a:rPr kumimoji="1" lang="en-US" altLang="ko-KR" dirty="0">
                <a:cs typeface="Arial Hebrew Scholar" pitchFamily="2" charset="-79"/>
              </a:rPr>
              <a:t>:</a:t>
            </a:r>
            <a:r>
              <a:rPr kumimoji="1" lang="ko-KR" altLang="en-US" dirty="0">
                <a:cs typeface="Arial Hebrew Scholar" pitchFamily="2" charset="-79"/>
              </a:rPr>
              <a:t> 세로줄 </a:t>
            </a:r>
            <a:r>
              <a:rPr kumimoji="1" lang="en-US" altLang="ko-KR" dirty="0">
                <a:cs typeface="Arial Hebrew Scholar" pitchFamily="2" charset="-79"/>
              </a:rPr>
              <a:t>[</a:t>
            </a:r>
            <a:r>
              <a:rPr kumimoji="1" lang="ko-KR" altLang="en-US" b="1" dirty="0">
                <a:solidFill>
                  <a:srgbClr val="FF0000"/>
                </a:solidFill>
                <a:cs typeface="Arial Hebrew Scholar" pitchFamily="2" charset="-79"/>
              </a:rPr>
              <a:t>변수는 </a:t>
            </a:r>
            <a:r>
              <a:rPr kumimoji="1" lang="en-US" altLang="ko-KR" b="1" dirty="0" err="1">
                <a:solidFill>
                  <a:srgbClr val="FF0000"/>
                </a:solidFill>
                <a:cs typeface="Arial Hebrew Scholar" pitchFamily="2" charset="-79"/>
              </a:rPr>
              <a:t>i</a:t>
            </a:r>
            <a:r>
              <a:rPr kumimoji="1" lang="en-US" altLang="ko-KR" dirty="0">
                <a:cs typeface="Arial Hebrew Scholar" pitchFamily="2" charset="-79"/>
              </a:rPr>
              <a:t>]</a:t>
            </a:r>
          </a:p>
          <a:p>
            <a:pPr marL="0" indent="0">
              <a:buNone/>
            </a:pPr>
            <a:r>
              <a:rPr kumimoji="1" lang="en-US" altLang="ko-KR" dirty="0">
                <a:cs typeface="Arial Hebrew Scholar" pitchFamily="2" charset="-79"/>
              </a:rPr>
              <a:t>      2. </a:t>
            </a:r>
            <a:r>
              <a:rPr kumimoji="1" lang="ko-KR" altLang="en-US" dirty="0">
                <a:cs typeface="Arial Hebrew Scholar" pitchFamily="2" charset="-79"/>
              </a:rPr>
              <a:t>안의 </a:t>
            </a:r>
            <a:r>
              <a:rPr kumimoji="1" lang="en-US" altLang="ko-KR" dirty="0">
                <a:cs typeface="Arial Hebrew Scholar" pitchFamily="2" charset="-79"/>
              </a:rPr>
              <a:t>for</a:t>
            </a:r>
            <a:r>
              <a:rPr kumimoji="1" lang="ko-KR" altLang="en-US" dirty="0">
                <a:cs typeface="Arial Hebrew Scholar" pitchFamily="2" charset="-79"/>
              </a:rPr>
              <a:t> 문</a:t>
            </a:r>
            <a:r>
              <a:rPr kumimoji="1" lang="en-US" altLang="ko-KR" dirty="0">
                <a:cs typeface="Arial Hebrew Scholar" pitchFamily="2" charset="-79"/>
              </a:rPr>
              <a:t> :</a:t>
            </a:r>
            <a:r>
              <a:rPr kumimoji="1" lang="ko-KR" altLang="en-US" dirty="0">
                <a:cs typeface="Arial Hebrew Scholar" pitchFamily="2" charset="-79"/>
              </a:rPr>
              <a:t> 가로줄</a:t>
            </a:r>
            <a:r>
              <a:rPr kumimoji="1" lang="en-US" altLang="ko-KR" dirty="0">
                <a:cs typeface="Arial Hebrew Scholar" pitchFamily="2" charset="-79"/>
              </a:rPr>
              <a:t> [</a:t>
            </a:r>
            <a:r>
              <a:rPr kumimoji="1" lang="ko-KR" altLang="en-US" b="1" dirty="0">
                <a:solidFill>
                  <a:srgbClr val="FF0000"/>
                </a:solidFill>
                <a:cs typeface="Arial Hebrew Scholar" pitchFamily="2" charset="-79"/>
              </a:rPr>
              <a:t>변수는 </a:t>
            </a:r>
            <a:r>
              <a:rPr kumimoji="1" lang="en-US" altLang="ko-KR" b="1" dirty="0">
                <a:solidFill>
                  <a:srgbClr val="FF0000"/>
                </a:solidFill>
                <a:cs typeface="Arial Hebrew Scholar" pitchFamily="2" charset="-79"/>
              </a:rPr>
              <a:t>j</a:t>
            </a:r>
            <a:r>
              <a:rPr kumimoji="1" lang="en-US" altLang="ko-KR" dirty="0">
                <a:cs typeface="Arial Hebrew Scholar" pitchFamily="2" charset="-79"/>
              </a:rPr>
              <a:t>]</a:t>
            </a:r>
          </a:p>
          <a:p>
            <a:pPr marL="0" indent="0">
              <a:buNone/>
            </a:pPr>
            <a:endParaRPr kumimoji="1" lang="en-US" altLang="ko-KR" dirty="0">
              <a:cs typeface="Arial Hebrew Scholar" pitchFamily="2" charset="-79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기본 구조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예시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44AC740-541B-FD86-08D3-2F1D74731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06" y="4017261"/>
            <a:ext cx="4856374" cy="46759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28EE298-F1F0-A5FC-0B16-FACD7F6A7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233" y="2377830"/>
            <a:ext cx="3450846" cy="132549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469B759-9B5E-3ED7-4EC4-4A35FE706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784" y="4867919"/>
            <a:ext cx="1468691" cy="1241256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0FDFE811-2DD5-DA77-CB9A-C68EF3462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705" y="6578519"/>
            <a:ext cx="2278047" cy="881825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2AF32773-0D81-13AC-E480-235E1CD52B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0381" y="7688360"/>
            <a:ext cx="984259" cy="10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1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6DAB-9CCF-AD73-78D5-7CE065C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B16E84C-2D9A-CB92-B8A8-A1DCED67CA4C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다음과 같이 행 번호가 반복되는 형태로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다음과 같이 각 행에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까지의 숫자가 출력되는 형태로 </a:t>
            </a:r>
            <a:r>
              <a:rPr lang="ko-KR" altLang="en-US" dirty="0" err="1"/>
              <a:t>프로그램을작성하세요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다음 출력 결과 예시와 같이 결과가 나오도록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ACE9C5-37A6-84C9-25EF-8F4C4D0FFBCE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이중 </a:t>
            </a:r>
            <a:r>
              <a:rPr lang="en-US" altLang="ko-KR" sz="1200" dirty="0"/>
              <a:t>for </a:t>
            </a:r>
            <a:r>
              <a:rPr lang="ko-KR" altLang="en-US" sz="1200" dirty="0"/>
              <a:t>문 이해하기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2D5E37-396D-74F6-6A41-6E055F19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253" y="1985251"/>
            <a:ext cx="958553" cy="1011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ED2B32-C027-80D1-0C46-0C913A70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254" y="4271251"/>
            <a:ext cx="870612" cy="10113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7E9AD4-75E5-54BC-F2EE-7ED6A78A7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253" y="6255384"/>
            <a:ext cx="958553" cy="99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2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1DF7-15FC-31A7-6831-EFDF7774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1750CF-8427-EE22-54DD-CBB23BF2BB41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다음 출력 결과와 같이 </a:t>
            </a:r>
            <a:r>
              <a:rPr lang="en-US" altLang="ko-KR" dirty="0"/>
              <a:t>2</a:t>
            </a:r>
            <a:r>
              <a:rPr lang="ko-KR" altLang="en-US" dirty="0"/>
              <a:t>단부터 </a:t>
            </a:r>
            <a:r>
              <a:rPr lang="en-US" altLang="ko-KR" dirty="0"/>
              <a:t>4</a:t>
            </a:r>
            <a:r>
              <a:rPr lang="ko-KR" altLang="en-US" dirty="0"/>
              <a:t>단까지의 구구단을 출력하는 프로그램을 작성하시요</a:t>
            </a:r>
            <a:r>
              <a:rPr lang="en-US" altLang="ko-KR" dirty="0"/>
              <a:t>. (</a:t>
            </a:r>
            <a:r>
              <a:rPr lang="ko-KR" altLang="en-US" dirty="0"/>
              <a:t>탭 기능 사용</a:t>
            </a:r>
            <a:r>
              <a:rPr lang="en-US" altLang="ko-KR" dirty="0"/>
              <a:t>: "\t").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다음 출력 결과와 같이 </a:t>
            </a:r>
            <a:r>
              <a:rPr lang="en-US" altLang="ko-KR" dirty="0"/>
              <a:t>4</a:t>
            </a:r>
            <a:r>
              <a:rPr lang="ko-KR" altLang="en-US" dirty="0"/>
              <a:t>단부터 </a:t>
            </a:r>
            <a:r>
              <a:rPr lang="en-US" altLang="ko-KR" dirty="0"/>
              <a:t>6</a:t>
            </a:r>
            <a:r>
              <a:rPr lang="ko-KR" altLang="en-US" dirty="0"/>
              <a:t>단까지의 구구단을 출력하는 프로그램을 작성하시요</a:t>
            </a:r>
            <a:r>
              <a:rPr lang="en-US" altLang="ko-KR" dirty="0"/>
              <a:t>. (</a:t>
            </a:r>
            <a:r>
              <a:rPr lang="ko-KR" altLang="en-US" dirty="0"/>
              <a:t>탭 기능 사용</a:t>
            </a:r>
            <a:r>
              <a:rPr lang="en-US" altLang="ko-KR" dirty="0"/>
              <a:t>: "\t").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</a:t>
            </a:r>
            <a:r>
              <a:rPr lang="ko-KR" altLang="en-US" dirty="0"/>
              <a:t>행</a:t>
            </a:r>
            <a:r>
              <a:rPr lang="en-US" altLang="ko-KR" dirty="0"/>
              <a:t>(Row)</a:t>
            </a:r>
            <a:r>
              <a:rPr lang="ko-KR" altLang="en-US" dirty="0"/>
              <a:t>과 열</a:t>
            </a:r>
            <a:r>
              <a:rPr lang="en-US" altLang="ko-KR" dirty="0"/>
              <a:t>(Column)</a:t>
            </a:r>
            <a:r>
              <a:rPr lang="ko-KR" altLang="en-US" dirty="0"/>
              <a:t>의 수를 입력 받아 다음과 같이 출력하는 프로그램을 작성하시요</a:t>
            </a:r>
            <a:r>
              <a:rPr lang="en-US" altLang="ko-KR" dirty="0"/>
              <a:t>. (</a:t>
            </a:r>
            <a:r>
              <a:rPr lang="ko-KR" altLang="en-US" dirty="0"/>
              <a:t>탭 기능 사용</a:t>
            </a:r>
            <a:r>
              <a:rPr lang="en-US" altLang="ko-KR" dirty="0"/>
              <a:t>: "\t").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C90C37-4829-A20C-B3D0-5E073A9B7FF7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이중 </a:t>
            </a:r>
            <a:r>
              <a:rPr lang="en-US" altLang="ko-KR" sz="1200" dirty="0"/>
              <a:t>for </a:t>
            </a:r>
            <a:r>
              <a:rPr lang="ko-KR" altLang="en-US" sz="1200" dirty="0"/>
              <a:t>문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08458F6-04CF-1E79-00A9-6F93EACEC210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4</a:t>
            </a:fld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90A276-D7BD-49BD-FCA4-6A91BDB8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07" y="2240981"/>
            <a:ext cx="4933844" cy="2865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89F856-CD9C-18E2-D53E-89F15239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408" y="4032938"/>
            <a:ext cx="3147017" cy="1609727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66A2A926-8BDD-E245-A4EE-CFCA9D1A1E13}"/>
              </a:ext>
            </a:extLst>
          </p:cNvPr>
          <p:cNvGrpSpPr/>
          <p:nvPr/>
        </p:nvGrpSpPr>
        <p:grpSpPr>
          <a:xfrm>
            <a:off x="1413408" y="6956291"/>
            <a:ext cx="1990620" cy="967221"/>
            <a:chOff x="1285186" y="6857265"/>
            <a:chExt cx="2096243" cy="96215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59C0696-FEBF-A88B-4177-412B36FBA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5637" y="6857265"/>
              <a:ext cx="2095792" cy="323895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08BA8CB-3952-DD97-345A-96E80DF39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5186" y="7181160"/>
              <a:ext cx="857370" cy="638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867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036B-826D-398C-E891-5BDF6308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2621992-B8D9-901B-7FFB-AF39AF169DBC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7. </a:t>
            </a:r>
            <a:r>
              <a:rPr lang="ko-KR" altLang="en-US" dirty="0"/>
              <a:t>정수를 입력 받아 다음과 같이 순서쌍 </a:t>
            </a:r>
            <a:r>
              <a:rPr lang="en-US" altLang="ko-KR" dirty="0"/>
              <a:t>( </a:t>
            </a:r>
            <a:r>
              <a:rPr lang="en-US" altLang="ko-KR" dirty="0" err="1"/>
              <a:t>i</a:t>
            </a:r>
            <a:r>
              <a:rPr lang="en-US" altLang="ko-KR" dirty="0"/>
              <a:t>, j )</a:t>
            </a:r>
            <a:r>
              <a:rPr lang="ko-KR" altLang="en-US" dirty="0"/>
              <a:t> 형태로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8. </a:t>
            </a:r>
            <a:r>
              <a:rPr lang="ko-KR" altLang="en-US" dirty="0"/>
              <a:t>사용자로부터 한 개의 정수를 입력 받아</a:t>
            </a:r>
            <a:r>
              <a:rPr lang="en-US" altLang="ko-KR" dirty="0"/>
              <a:t>,</a:t>
            </a:r>
            <a:r>
              <a:rPr lang="ko-KR" altLang="en-US" dirty="0"/>
              <a:t>해당 크기의 정사각형 별</a:t>
            </a:r>
            <a:r>
              <a:rPr lang="en-US" altLang="ko-KR" dirty="0"/>
              <a:t>(*)</a:t>
            </a:r>
            <a:r>
              <a:rPr lang="ko-KR" altLang="en-US" dirty="0"/>
              <a:t>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9. </a:t>
            </a:r>
            <a:r>
              <a:rPr lang="ko-KR" altLang="en-US" dirty="0"/>
              <a:t>사용자로부터 한 개의 정수를 입력 받아</a:t>
            </a:r>
            <a:r>
              <a:rPr lang="en-US" altLang="ko-KR" dirty="0"/>
              <a:t>,</a:t>
            </a:r>
            <a:r>
              <a:rPr lang="ko-KR" altLang="en-US" dirty="0"/>
              <a:t>해당 크기의 정사각형 별</a:t>
            </a:r>
            <a:r>
              <a:rPr lang="en-US" altLang="ko-KR" dirty="0"/>
              <a:t>(*)</a:t>
            </a:r>
            <a:r>
              <a:rPr lang="ko-KR" altLang="en-US" dirty="0"/>
              <a:t>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C1DF44-5AD2-CC42-1BAD-A311BAC60F6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이중 </a:t>
            </a:r>
            <a:r>
              <a:rPr lang="en-US" altLang="ko-KR" sz="1200" dirty="0"/>
              <a:t>for </a:t>
            </a:r>
            <a:r>
              <a:rPr lang="ko-KR" altLang="en-US" sz="1200" dirty="0"/>
              <a:t>문 이해하기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A70622-2575-1331-472C-4B37AC9C3838}"/>
              </a:ext>
            </a:extLst>
          </p:cNvPr>
          <p:cNvGrpSpPr/>
          <p:nvPr/>
        </p:nvGrpSpPr>
        <p:grpSpPr>
          <a:xfrm>
            <a:off x="1446827" y="2393095"/>
            <a:ext cx="3095263" cy="1268156"/>
            <a:chOff x="1615633" y="2215824"/>
            <a:chExt cx="3429479" cy="12990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A42EE1A-568A-A6B2-292A-C62131D89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633" y="2215824"/>
              <a:ext cx="2105319" cy="3524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B69B8A2-3C53-0532-6169-55495BB9A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5633" y="2619364"/>
              <a:ext cx="3429479" cy="895475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E63A5E8-6747-A52F-FE3F-F44F1F72C59E}"/>
              </a:ext>
            </a:extLst>
          </p:cNvPr>
          <p:cNvGrpSpPr/>
          <p:nvPr/>
        </p:nvGrpSpPr>
        <p:grpSpPr>
          <a:xfrm>
            <a:off x="1446828" y="5121365"/>
            <a:ext cx="2014002" cy="1198412"/>
            <a:chOff x="1446827" y="5181041"/>
            <a:chExt cx="2162477" cy="118555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A690498-DE7A-AC9C-C056-FAABC34CA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6827" y="5181041"/>
              <a:ext cx="2162477" cy="53347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2E425A6-9971-D180-7F3E-01608426B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6827" y="5756915"/>
              <a:ext cx="647790" cy="609685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ECF8409-1BF0-ED34-CA1D-EAAE27DC5B8E}"/>
              </a:ext>
            </a:extLst>
          </p:cNvPr>
          <p:cNvGrpSpPr/>
          <p:nvPr/>
        </p:nvGrpSpPr>
        <p:grpSpPr>
          <a:xfrm>
            <a:off x="1446828" y="7795132"/>
            <a:ext cx="1900148" cy="897456"/>
            <a:chOff x="1446827" y="7795131"/>
            <a:chExt cx="2124371" cy="100978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04E24FD-FACE-6DD1-3184-56D014A5E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6827" y="7795131"/>
              <a:ext cx="2124371" cy="533474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17F3F06-32F0-2ECC-9DC0-3AA2B9BE6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3298" y="8347650"/>
              <a:ext cx="647790" cy="457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443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02AE-9B93-5CAD-52F1-4BA401D6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4F7F7-5948-5F67-434A-55ED4471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이중</a:t>
            </a:r>
            <a:r>
              <a:rPr lang="en-US" altLang="ko-KR" sz="1200" dirty="0"/>
              <a:t> for </a:t>
            </a:r>
            <a:r>
              <a:rPr lang="ko-KR" altLang="en-US" sz="1200" dirty="0"/>
              <a:t>문과 대각선</a:t>
            </a:r>
            <a:r>
              <a:rPr lang="en-US" altLang="ko-KR" sz="1200" dirty="0"/>
              <a:t> </a:t>
            </a:r>
            <a:r>
              <a:rPr lang="ko-KR" altLang="en-US" sz="1200" dirty="0"/>
              <a:t>이해하기 </a:t>
            </a:r>
            <a:r>
              <a:rPr lang="en-US" altLang="ko-KR" sz="1200" dirty="0"/>
              <a:t>I</a:t>
            </a:r>
            <a:endParaRPr lang="ko-KR" altLang="en-US" sz="1200" dirty="0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C3B800B-B50C-E880-C292-615E96EFE3A8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6</a:t>
            </a:fld>
            <a:endParaRPr lang="ko-KR" altLang="en-US" sz="1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6D431-43BA-AA7F-28E6-F55CF0FFB859}"/>
              </a:ext>
            </a:extLst>
          </p:cNvPr>
          <p:cNvSpPr txBox="1">
            <a:spLocks/>
          </p:cNvSpPr>
          <p:nvPr/>
        </p:nvSpPr>
        <p:spPr>
          <a:xfrm>
            <a:off x="806589" y="1257119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이중 </a:t>
            </a:r>
            <a:r>
              <a:rPr lang="en-US" altLang="ko-KR" sz="1100" dirty="0"/>
              <a:t>for </a:t>
            </a:r>
            <a:r>
              <a:rPr lang="ko-KR" altLang="en-US" sz="1100" dirty="0"/>
              <a:t>문과 대각선</a:t>
            </a:r>
            <a:r>
              <a:rPr lang="en-US" altLang="ko-KR" sz="1100" dirty="0"/>
              <a:t>( </a:t>
            </a:r>
            <a:r>
              <a:rPr lang="en-US" altLang="ko-KR" sz="1100" dirty="0" err="1"/>
              <a:t>i</a:t>
            </a:r>
            <a:r>
              <a:rPr lang="en-US" altLang="ko-KR" sz="1100" dirty="0"/>
              <a:t> == j ) </a:t>
            </a:r>
            <a:r>
              <a:rPr lang="ko-KR" altLang="en-US" sz="1100" dirty="0"/>
              <a:t>이해하기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4C75A5D-F71F-86D7-A3E2-2CB87D73532A}"/>
              </a:ext>
            </a:extLst>
          </p:cNvPr>
          <p:cNvSpPr txBox="1">
            <a:spLocks/>
          </p:cNvSpPr>
          <p:nvPr/>
        </p:nvSpPr>
        <p:spPr>
          <a:xfrm>
            <a:off x="1001567" y="1590755"/>
            <a:ext cx="4944798" cy="678365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다음과 같이 출력되도록 프로그램을 작성하세요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dirty="0">
                <a:ea typeface="12LotteMartDreamMedium" panose="02020603020101020101" pitchFamily="18" charset="-127"/>
              </a:rPr>
              <a:t>* </a:t>
            </a:r>
            <a:r>
              <a:rPr lang="ko-KR" altLang="en-US" dirty="0">
                <a:ea typeface="12LotteMartDreamMedium" panose="02020603020101020101" pitchFamily="18" charset="-127"/>
              </a:rPr>
              <a:t>는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행 번호</a:t>
            </a:r>
            <a:r>
              <a:rPr lang="en-US" altLang="ko-KR" dirty="0">
                <a:ea typeface="12LotteMartDreamMedium" panose="02020603020101020101" pitchFamily="18" charset="-127"/>
              </a:rPr>
              <a:t>( </a:t>
            </a: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en-US" altLang="ko-KR" dirty="0">
                <a:ea typeface="12LotteMartDreamMedium" panose="02020603020101020101" pitchFamily="18" charset="-127"/>
              </a:rPr>
              <a:t> )</a:t>
            </a:r>
            <a:r>
              <a:rPr lang="ko-KR" altLang="en-US" dirty="0">
                <a:ea typeface="12LotteMartDreamMedium" panose="02020603020101020101" pitchFamily="18" charset="-127"/>
              </a:rPr>
              <a:t>가 열 번호</a:t>
            </a:r>
            <a:r>
              <a:rPr lang="en-US" altLang="ko-KR" dirty="0">
                <a:ea typeface="12LotteMartDreamMedium" panose="02020603020101020101" pitchFamily="18" charset="-127"/>
              </a:rPr>
              <a:t>( j</a:t>
            </a:r>
            <a:r>
              <a:rPr lang="ko-KR" altLang="en-US" dirty="0"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ea typeface="12LotteMartDreamMedium" panose="02020603020101020101" pitchFamily="18" charset="-127"/>
              </a:rPr>
              <a:t>)</a:t>
            </a:r>
            <a:r>
              <a:rPr lang="ko-KR" altLang="en-US" dirty="0">
                <a:ea typeface="12LotteMartDreamMedium" panose="02020603020101020101" pitchFamily="18" charset="-127"/>
              </a:rPr>
              <a:t>보다 크거나 같을 때 출력한다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>
                <a:ea typeface="12LotteMartDreamMedium" panose="02020603020101020101" pitchFamily="18" charset="-127"/>
              </a:rPr>
              <a:t>@</a:t>
            </a:r>
            <a:r>
              <a:rPr lang="ko-KR" altLang="en-US" dirty="0">
                <a:ea typeface="12LotteMartDreamMedium" panose="02020603020101020101" pitchFamily="18" charset="-127"/>
              </a:rPr>
              <a:t>는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그 외의 위치에서 출력한다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와 </a:t>
            </a:r>
            <a:r>
              <a:rPr lang="en-US" altLang="ko-KR" dirty="0">
                <a:ea typeface="12LotteMartDreamMedium" panose="02020603020101020101" pitchFamily="18" charset="-127"/>
              </a:rPr>
              <a:t>j </a:t>
            </a:r>
            <a:r>
              <a:rPr lang="ko-KR" altLang="en-US" dirty="0">
                <a:ea typeface="12LotteMartDreamMedium" panose="02020603020101020101" pitchFamily="18" charset="-127"/>
              </a:rPr>
              <a:t>가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같은 위치 </a:t>
            </a:r>
            <a:r>
              <a:rPr lang="en-US" altLang="ko-KR" dirty="0">
                <a:ea typeface="12LotteMartDreamMedium" panose="02020603020101020101" pitchFamily="18" charset="-127"/>
              </a:rPr>
              <a:t>( </a:t>
            </a:r>
            <a:r>
              <a:rPr lang="en-US" altLang="ko-KR" b="1" dirty="0" err="1">
                <a:ea typeface="12LotteMartDreamMedium" panose="02020603020101020101" pitchFamily="18" charset="-127"/>
              </a:rPr>
              <a:t>i</a:t>
            </a:r>
            <a:r>
              <a:rPr lang="en-US" altLang="ko-KR" b="1" dirty="0">
                <a:ea typeface="12LotteMartDreamMedium" panose="02020603020101020101" pitchFamily="18" charset="-127"/>
              </a:rPr>
              <a:t> == j </a:t>
            </a:r>
            <a:r>
              <a:rPr lang="en-US" altLang="ko-KR" dirty="0">
                <a:ea typeface="12LotteMartDreamMedium" panose="02020603020101020101" pitchFamily="18" charset="-127"/>
              </a:rPr>
              <a:t>)</a:t>
            </a:r>
            <a:r>
              <a:rPr lang="ko-KR" altLang="en-US" dirty="0">
                <a:ea typeface="12LotteMartDreamMedium" panose="02020603020101020101" pitchFamily="18" charset="-127"/>
              </a:rPr>
              <a:t>는 </a:t>
            </a:r>
            <a:r>
              <a:rPr lang="en-US" altLang="ko-KR" dirty="0">
                <a:ea typeface="12LotteMartDreamMedium" panose="02020603020101020101" pitchFamily="18" charset="-127"/>
              </a:rPr>
              <a:t>* </a:t>
            </a:r>
            <a:r>
              <a:rPr lang="ko-KR" altLang="en-US" dirty="0">
                <a:ea typeface="12LotteMartDreamMedium" panose="02020603020101020101" pitchFamily="18" charset="-127"/>
              </a:rPr>
              <a:t>과 </a:t>
            </a:r>
            <a:r>
              <a:rPr lang="en-US" altLang="ko-KR" dirty="0">
                <a:ea typeface="12LotteMartDreamMedium" panose="02020603020101020101" pitchFamily="18" charset="-127"/>
              </a:rPr>
              <a:t>@</a:t>
            </a:r>
            <a:r>
              <a:rPr lang="ko-KR" altLang="en-US" dirty="0">
                <a:ea typeface="12LotteMartDreamMedium" panose="02020603020101020101" pitchFamily="18" charset="-127"/>
              </a:rPr>
              <a:t>이 바뀌는 </a:t>
            </a:r>
            <a:r>
              <a:rPr lang="ko-KR" altLang="en-US" b="1" dirty="0">
                <a:ea typeface="12LotteMartDreamMedium" panose="02020603020101020101" pitchFamily="18" charset="-127"/>
              </a:rPr>
              <a:t>대각선</a:t>
            </a:r>
            <a:r>
              <a:rPr lang="en-US" altLang="ko-KR" dirty="0">
                <a:ea typeface="12LotteMartDreamMedium" panose="02020603020101020101" pitchFamily="18" charset="-127"/>
              </a:rPr>
              <a:t>(</a:t>
            </a:r>
            <a:r>
              <a:rPr lang="ko-KR" altLang="en-US" dirty="0">
                <a:ea typeface="12LotteMartDreamMedium" panose="02020603020101020101" pitchFamily="18" charset="-127"/>
              </a:rPr>
              <a:t>경계</a:t>
            </a:r>
            <a:r>
              <a:rPr lang="en-US" altLang="ko-KR" dirty="0">
                <a:ea typeface="12LotteMartDreamMedium" panose="02020603020101020101" pitchFamily="18" charset="-127"/>
              </a:rPr>
              <a:t>)</a:t>
            </a:r>
            <a:r>
              <a:rPr lang="ko-KR" altLang="en-US" dirty="0">
                <a:ea typeface="12LotteMartDreamMedium" panose="02020603020101020101" pitchFamily="18" charset="-127"/>
              </a:rPr>
              <a:t>를 의미한다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160559C-8153-B868-0CF8-75B9BBC3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344" y="1897048"/>
            <a:ext cx="2701836" cy="182117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66DD253-DDA4-F720-AF17-9ABE40CB8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480" y="5361172"/>
            <a:ext cx="2850990" cy="167506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5B9F396-B609-8F49-6CE8-7D907F74D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776" y="7354902"/>
            <a:ext cx="807142" cy="88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8EFD-A01D-B1E9-4A51-E1A59092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0A900F4-26F0-9742-22EE-4A8BF09DD3BD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아래 모양과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아래 모양과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ko-KR" altLang="en-US" dirty="0" err="1"/>
              <a:t>입력받아</a:t>
            </a:r>
            <a:r>
              <a:rPr lang="ko-KR" altLang="en-US" dirty="0"/>
              <a:t>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B90D259-1CBA-868A-4188-DB82B1B2F81F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0CBEB0A-9A54-168C-7C0E-B3A1D515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482" y="1839010"/>
            <a:ext cx="628738" cy="65731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EEF622F-6E0A-D3D4-F451-6A3D3A7AF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482" y="3484910"/>
            <a:ext cx="705132" cy="780682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DD119DA0-A397-B3A5-C0AB-BB1BD90326B8}"/>
              </a:ext>
            </a:extLst>
          </p:cNvPr>
          <p:cNvGrpSpPr/>
          <p:nvPr/>
        </p:nvGrpSpPr>
        <p:grpSpPr>
          <a:xfrm>
            <a:off x="2307481" y="5254175"/>
            <a:ext cx="2252944" cy="1501449"/>
            <a:chOff x="2307482" y="5367180"/>
            <a:chExt cx="2162477" cy="1435010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13BD03BC-795E-C4F3-BB47-DD8BE2A9E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7482" y="5367180"/>
              <a:ext cx="2162477" cy="33342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1EA3C47C-3459-25A8-026E-4803464B9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1297" y="5773346"/>
              <a:ext cx="1057423" cy="1028844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5191D2E8-1044-FDB8-516D-EF5EC6100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157" y="7523512"/>
            <a:ext cx="902390" cy="96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8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2192-B663-7C79-07C0-FB051BCE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D06D2-D82F-0542-8553-F6B1AC558870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</a:t>
            </a:r>
            <a:r>
              <a:rPr lang="ko-KR" altLang="en-US" dirty="0"/>
              <a:t>아래 모양과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6. 1</a:t>
            </a:r>
            <a:r>
              <a:rPr lang="ko-KR" altLang="en-US" dirty="0"/>
              <a:t>부터 </a:t>
            </a:r>
            <a:r>
              <a:rPr lang="en-US" altLang="ko-KR" dirty="0"/>
              <a:t>19</a:t>
            </a:r>
            <a:r>
              <a:rPr lang="ko-KR" altLang="en-US" dirty="0"/>
              <a:t>까지의 홀수만 더한 합을 구해</a:t>
            </a:r>
            <a:r>
              <a:rPr lang="en-US" altLang="ko-KR" dirty="0"/>
              <a:t> </a:t>
            </a:r>
            <a:r>
              <a:rPr lang="ko-KR" altLang="en-US" dirty="0"/>
              <a:t>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150FB8-A1E1-2B0F-4B44-1F6319457C3F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FC8E177-9B33-F2EC-B78B-BD22E333A69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8</a:t>
            </a:fld>
            <a:endParaRPr lang="ko-KR" altLang="en-US" sz="10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8AB25F9-C03F-202B-741F-E1200870F656}"/>
              </a:ext>
            </a:extLst>
          </p:cNvPr>
          <p:cNvGrpSpPr/>
          <p:nvPr/>
        </p:nvGrpSpPr>
        <p:grpSpPr>
          <a:xfrm>
            <a:off x="1422687" y="1872688"/>
            <a:ext cx="2130741" cy="994695"/>
            <a:chOff x="1422687" y="1872688"/>
            <a:chExt cx="2124371" cy="100046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F5B98CC-853A-5083-6485-CE7AEC9A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2687" y="1872688"/>
              <a:ext cx="2124371" cy="323895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E518A9C-CEF8-8FBE-10FD-DA3318F82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8688" y="2244418"/>
              <a:ext cx="676369" cy="628738"/>
            </a:xfrm>
            <a:prstGeom prst="rect">
              <a:avLst/>
            </a:prstGeom>
          </p:spPr>
        </p:pic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5F8C6AB8-0168-F130-CE0A-45724F579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960" y="3969931"/>
            <a:ext cx="762106" cy="876422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B8A3C299-A55C-2F79-5250-D7DE69BCBDA1}"/>
              </a:ext>
            </a:extLst>
          </p:cNvPr>
          <p:cNvGrpSpPr/>
          <p:nvPr/>
        </p:nvGrpSpPr>
        <p:grpSpPr>
          <a:xfrm>
            <a:off x="1438736" y="6532854"/>
            <a:ext cx="2114692" cy="1450149"/>
            <a:chOff x="1466221" y="6546658"/>
            <a:chExt cx="2143424" cy="140532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8C2C6E6E-D29E-0040-E508-9B281D174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6221" y="6546658"/>
              <a:ext cx="2143424" cy="323895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CA5DC7F-48C4-C8D3-340C-D57054643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2691" y="6951714"/>
              <a:ext cx="866896" cy="1000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881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C09B-FA15-E333-33F7-19088C89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729EE53-0335-4DB0-CB21-667BD46CD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이중</a:t>
            </a:r>
            <a:r>
              <a:rPr lang="en-US" altLang="ko-KR" sz="1200" dirty="0"/>
              <a:t> for </a:t>
            </a:r>
            <a:r>
              <a:rPr lang="ko-KR" altLang="en-US" sz="1200" dirty="0"/>
              <a:t>문과 대각선</a:t>
            </a:r>
            <a:r>
              <a:rPr lang="en-US" altLang="ko-KR" sz="1200" dirty="0"/>
              <a:t> </a:t>
            </a:r>
            <a:r>
              <a:rPr lang="ko-KR" altLang="en-US" sz="1200" dirty="0"/>
              <a:t>이해하기 </a:t>
            </a:r>
            <a:r>
              <a:rPr lang="en-US" altLang="ko-KR" sz="1200" dirty="0"/>
              <a:t>II</a:t>
            </a:r>
            <a:endParaRPr lang="ko-KR" altLang="en-US" sz="12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42DAD49-8D54-9180-2568-B89E70F6F3DA}"/>
              </a:ext>
            </a:extLst>
          </p:cNvPr>
          <p:cNvSpPr txBox="1">
            <a:spLocks/>
          </p:cNvSpPr>
          <p:nvPr/>
        </p:nvSpPr>
        <p:spPr>
          <a:xfrm>
            <a:off x="986704" y="1437234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 err="1"/>
              <a:t>i</a:t>
            </a:r>
            <a:r>
              <a:rPr lang="en-US" altLang="ko-KR" sz="1100" dirty="0"/>
              <a:t> </a:t>
            </a:r>
            <a:r>
              <a:rPr lang="ko-KR" altLang="en-US" sz="1100" dirty="0"/>
              <a:t>값이 감소하는 형태 이해하기</a:t>
            </a: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86D18D28-1B1B-9CD8-148A-DF1D879AE528}"/>
              </a:ext>
            </a:extLst>
          </p:cNvPr>
          <p:cNvSpPr txBox="1">
            <a:spLocks/>
          </p:cNvSpPr>
          <p:nvPr/>
        </p:nvSpPr>
        <p:spPr>
          <a:xfrm>
            <a:off x="1181682" y="1770871"/>
            <a:ext cx="4944798" cy="6805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다음과 같이 출력되도록 프로그램을 작성하세요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ea typeface="12LotteMartDreamMedium" panose="02020603020101020101" pitchFamily="18" charset="-127"/>
              </a:rPr>
              <a:t>보통 </a:t>
            </a:r>
            <a:r>
              <a:rPr lang="en-US" altLang="ko-KR" dirty="0"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ea typeface="12LotteMartDreamMedium" panose="02020603020101020101" pitchFamily="18" charset="-127"/>
              </a:rPr>
              <a:t>문은 </a:t>
            </a:r>
            <a:r>
              <a:rPr lang="en-US" altLang="ko-KR" dirty="0">
                <a:ea typeface="12LotteMartDreamMedium" panose="02020603020101020101" pitchFamily="18" charset="-127"/>
              </a:rPr>
              <a:t>range( 1, 6 ) </a:t>
            </a:r>
            <a:r>
              <a:rPr lang="ko-KR" altLang="en-US" dirty="0">
                <a:ea typeface="12LotteMartDreamMedium" panose="02020603020101020101" pitchFamily="18" charset="-127"/>
              </a:rPr>
              <a:t>처럼 </a:t>
            </a: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가</a:t>
            </a:r>
            <a:r>
              <a:rPr lang="en-US" altLang="ko-KR" dirty="0">
                <a:ea typeface="12LotteMartDreamMedium" panose="02020603020101020101" pitchFamily="18" charset="-127"/>
              </a:rPr>
              <a:t> 1</a:t>
            </a:r>
            <a:r>
              <a:rPr lang="ko-KR" altLang="en-US" dirty="0">
                <a:ea typeface="12LotteMartDreamMedium" panose="02020603020101020101" pitchFamily="18" charset="-127"/>
              </a:rPr>
              <a:t>에서 </a:t>
            </a:r>
            <a:r>
              <a:rPr lang="en-US" altLang="ko-KR" dirty="0">
                <a:ea typeface="12LotteMartDreamMedium" panose="02020603020101020101" pitchFamily="18" charset="-127"/>
              </a:rPr>
              <a:t>5</a:t>
            </a:r>
            <a:r>
              <a:rPr lang="ko-KR" altLang="en-US" dirty="0">
                <a:ea typeface="12LotteMartDreamMedium" panose="02020603020101020101" pitchFamily="18" charset="-127"/>
              </a:rPr>
              <a:t>로 증가하지만 </a:t>
            </a: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ea typeface="12LotteMartDreamMedium" panose="02020603020101020101" pitchFamily="18" charset="-127"/>
              </a:rPr>
              <a:t>    </a:t>
            </a:r>
            <a:r>
              <a:rPr lang="ko-KR" altLang="en-US" dirty="0">
                <a:ea typeface="12LotteMartDreamMedium" panose="02020603020101020101" pitchFamily="18" charset="-127"/>
              </a:rPr>
              <a:t>이번에는 </a:t>
            </a:r>
            <a:r>
              <a:rPr lang="en-US" altLang="ko-KR" dirty="0">
                <a:ea typeface="12LotteMartDreamMedium" panose="02020603020101020101" pitchFamily="18" charset="-127"/>
              </a:rPr>
              <a:t>range( 5, 0, -1 ) </a:t>
            </a:r>
            <a:r>
              <a:rPr lang="ko-KR" altLang="en-US" dirty="0">
                <a:ea typeface="12LotteMartDreamMedium" panose="02020603020101020101" pitchFamily="18" charset="-127"/>
              </a:rPr>
              <a:t>처럼 </a:t>
            </a: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가 </a:t>
            </a:r>
            <a:r>
              <a:rPr lang="en-US" altLang="ko-KR" dirty="0">
                <a:ea typeface="12LotteMartDreamMedium" panose="02020603020101020101" pitchFamily="18" charset="-127"/>
              </a:rPr>
              <a:t>5</a:t>
            </a:r>
            <a:r>
              <a:rPr lang="ko-KR" altLang="en-US" dirty="0">
                <a:ea typeface="12LotteMartDreamMedium" panose="02020603020101020101" pitchFamily="18" charset="-127"/>
              </a:rPr>
              <a:t>부터 </a:t>
            </a:r>
            <a:r>
              <a:rPr lang="en-US" altLang="ko-KR" dirty="0">
                <a:ea typeface="12LotteMartDreamMedium" panose="02020603020101020101" pitchFamily="18" charset="-127"/>
              </a:rPr>
              <a:t>1</a:t>
            </a:r>
            <a:r>
              <a:rPr lang="ko-KR" altLang="en-US" dirty="0">
                <a:ea typeface="12LotteMartDreamMedium" panose="02020603020101020101" pitchFamily="18" charset="-127"/>
              </a:rPr>
              <a:t>까지 까지 감소하면서 반복된다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>
                <a:ea typeface="12LotteMartDreamMedium" panose="02020603020101020101" pitchFamily="18" charset="-127"/>
              </a:rPr>
              <a:t>“for </a:t>
            </a:r>
            <a:r>
              <a:rPr lang="ko-KR" altLang="en-US" dirty="0">
                <a:ea typeface="12LotteMartDreamMedium" panose="02020603020101020101" pitchFamily="18" charset="-127"/>
              </a:rPr>
              <a:t>문이 거꾸로 돈다</a:t>
            </a:r>
            <a:r>
              <a:rPr lang="en-US" altLang="ko-KR" dirty="0">
                <a:ea typeface="12LotteMartDreamMedium" panose="02020603020101020101" pitchFamily="18" charset="-127"/>
              </a:rPr>
              <a:t>” : </a:t>
            </a:r>
            <a:r>
              <a:rPr lang="ko-KR" altLang="en-US" dirty="0">
                <a:ea typeface="12LotteMartDreamMedium" panose="02020603020101020101" pitchFamily="18" charset="-127"/>
              </a:rPr>
              <a:t>큰 숫자부터 줄어드는 방향으로 반복하는 형태이다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78A6CC41-6A7E-6EDF-81DA-8E24E4B5C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581" y="2108330"/>
            <a:ext cx="2119749" cy="185158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9A1802-BF85-1271-9558-524BE5CA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520" y="5292033"/>
            <a:ext cx="2550710" cy="146702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542A362-B21D-2625-0833-A33DA6D15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53" y="7269981"/>
            <a:ext cx="87642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0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971BA-E269-7344-5716-0490E346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0E2EE7-3455-ECBF-1E49-6EE945C5EBB1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아래 모양과 같이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아래처럼 출력하세요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n=4).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아래처럼 출력하세요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n=3).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오른쪽으로 붙여 출력하세요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n=5).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51B7F5-EE04-4B3F-2B34-BEFB49F2C695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7CBA8C14-3B59-8764-251F-481BF0E0AF23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10</a:t>
            </a:fld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B0A457-01DD-9AE3-D7B7-88999F01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034" y="1674959"/>
            <a:ext cx="638264" cy="600159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9F10B9-7AFC-A8E1-8E29-CE989DD172F2}"/>
              </a:ext>
            </a:extLst>
          </p:cNvPr>
          <p:cNvGrpSpPr/>
          <p:nvPr/>
        </p:nvGrpSpPr>
        <p:grpSpPr>
          <a:xfrm>
            <a:off x="2232060" y="3121363"/>
            <a:ext cx="2015852" cy="1172845"/>
            <a:chOff x="2274969" y="3121363"/>
            <a:chExt cx="2162477" cy="120506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B5A681D-7A89-393D-1E8E-AAAA3335E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4969" y="3121363"/>
              <a:ext cx="2162477" cy="32389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E2B6EA9-5C36-0007-2C48-5C660B2D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1269" y="3507167"/>
              <a:ext cx="733527" cy="81926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78D9509-26BD-B8FE-0B5F-28FB5786FD7D}"/>
              </a:ext>
            </a:extLst>
          </p:cNvPr>
          <p:cNvGrpSpPr/>
          <p:nvPr/>
        </p:nvGrpSpPr>
        <p:grpSpPr>
          <a:xfrm>
            <a:off x="2275221" y="5101317"/>
            <a:ext cx="1972691" cy="1010116"/>
            <a:chOff x="2275221" y="5190746"/>
            <a:chExt cx="2095792" cy="100617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1C57F90-6583-C805-DF32-6B9B3A1A2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75221" y="5190746"/>
              <a:ext cx="2095792" cy="31436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C1C86FD-AE37-EE29-D9D5-67446F3DB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0295" y="5577707"/>
              <a:ext cx="533474" cy="619211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371DD85-0BB3-A4F5-A8CC-C02E04B588B4}"/>
              </a:ext>
            </a:extLst>
          </p:cNvPr>
          <p:cNvGrpSpPr/>
          <p:nvPr/>
        </p:nvGrpSpPr>
        <p:grpSpPr>
          <a:xfrm>
            <a:off x="2275221" y="7081638"/>
            <a:ext cx="2015853" cy="1412189"/>
            <a:chOff x="2192519" y="7128944"/>
            <a:chExt cx="2143424" cy="144546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EF397A3-550E-D7CA-0D25-141C38A7B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92519" y="7128944"/>
              <a:ext cx="2143424" cy="33342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C5E24D5-EEA8-8631-2ABD-214E9CF4B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5669" y="7574139"/>
              <a:ext cx="905001" cy="1000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40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CE86-9D0F-A3FA-28D5-460713FB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ACE8B29-850E-6CCD-340C-E4A37678C680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2.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3.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DB126C-F661-F3F8-2378-CEE37653BC6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F01FD4E-BA05-A720-AFA6-C5185CBA97CC}"/>
              </a:ext>
            </a:extLst>
          </p:cNvPr>
          <p:cNvGrpSpPr/>
          <p:nvPr/>
        </p:nvGrpSpPr>
        <p:grpSpPr>
          <a:xfrm>
            <a:off x="1691604" y="2096089"/>
            <a:ext cx="1950329" cy="1367074"/>
            <a:chOff x="1730812" y="2031295"/>
            <a:chExt cx="2172003" cy="138986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6E798846-6D14-18E2-21C8-DA20D81DF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0812" y="2031295"/>
              <a:ext cx="2172003" cy="304843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8CD9A94-FB52-EF76-6CEC-E8F3C04AB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344" y="2373260"/>
              <a:ext cx="1457528" cy="1047896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88938-E107-679C-724D-7E7DFFC61BA1}"/>
              </a:ext>
            </a:extLst>
          </p:cNvPr>
          <p:cNvGrpSpPr/>
          <p:nvPr/>
        </p:nvGrpSpPr>
        <p:grpSpPr>
          <a:xfrm>
            <a:off x="1691604" y="4829153"/>
            <a:ext cx="1950329" cy="1030716"/>
            <a:chOff x="1749550" y="4724981"/>
            <a:chExt cx="2076740" cy="1195562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5CCD2CD0-7C4A-A3BC-FF35-539780C22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9550" y="4724981"/>
              <a:ext cx="2076740" cy="323895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5CD44F7-A759-AA65-E258-A45BD6DCE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9000" y="5091752"/>
              <a:ext cx="771633" cy="828791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B437BEF-F912-FBAE-9FDE-61098FC92B34}"/>
              </a:ext>
            </a:extLst>
          </p:cNvPr>
          <p:cNvGrpSpPr/>
          <p:nvPr/>
        </p:nvGrpSpPr>
        <p:grpSpPr>
          <a:xfrm>
            <a:off x="1668454" y="7155861"/>
            <a:ext cx="1950329" cy="923268"/>
            <a:chOff x="1691604" y="7155861"/>
            <a:chExt cx="2143424" cy="1029757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8E3B4EE-ADA5-750C-27BC-1745A87E1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91604" y="7155861"/>
              <a:ext cx="2143424" cy="323895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BC495712-6E19-7485-99E9-D67F6CE54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49550" y="7556880"/>
              <a:ext cx="571580" cy="628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920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21A1-E828-9AEB-5B8B-65A31F72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DA342-AE92-DA2B-2C52-2CAAF1AE631D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4.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아래와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※ </a:t>
            </a:r>
            <a:r>
              <a:rPr lang="ko-KR" altLang="en-US" dirty="0"/>
              <a:t>알파벳 출력 방법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 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68CD1EE-0767-F198-6959-7FB05D91664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D593FDD-705B-544C-6D7A-9FFE902B03D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12</a:t>
            </a:fld>
            <a:endParaRPr lang="ko-KR" altLang="en-US" sz="10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39C2831-239C-904B-72AC-913DDAE14EC0}"/>
              </a:ext>
            </a:extLst>
          </p:cNvPr>
          <p:cNvGrpSpPr/>
          <p:nvPr/>
        </p:nvGrpSpPr>
        <p:grpSpPr>
          <a:xfrm>
            <a:off x="1651563" y="1981782"/>
            <a:ext cx="1624244" cy="1143383"/>
            <a:chOff x="1413454" y="1889184"/>
            <a:chExt cx="1950329" cy="1252292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A3CE494-B2E8-BDD0-23D6-5CB30ADC7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3454" y="1889184"/>
              <a:ext cx="1950329" cy="279236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1064B76-8902-2A57-219B-3BFD6CCD6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3454" y="2265054"/>
              <a:ext cx="819264" cy="876422"/>
            </a:xfrm>
            <a:prstGeom prst="rect">
              <a:avLst/>
            </a:prstGeom>
          </p:spPr>
        </p:pic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BE9EF8BC-42FA-7F81-D1D7-917D29157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69" y="3994119"/>
            <a:ext cx="2652471" cy="151048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51365EE-764B-4A5C-1996-31771910F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077" y="6289714"/>
            <a:ext cx="718594" cy="743373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58752E4-BE81-2C48-3C5F-75EC6198F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077" y="7270168"/>
            <a:ext cx="3797163" cy="145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5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F23A-70EE-E8B1-BE63-0436C332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D612C51-E55C-C1DE-4455-14B4954AB66A}"/>
              </a:ext>
            </a:extLst>
          </p:cNvPr>
          <p:cNvSpPr txBox="1">
            <a:spLocks/>
          </p:cNvSpPr>
          <p:nvPr/>
        </p:nvSpPr>
        <p:spPr>
          <a:xfrm>
            <a:off x="1009678" y="1359547"/>
            <a:ext cx="5057748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5.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대문자 알파벳을 차례로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6.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숫자와 알파벳을 순서대로 섞어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7.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숫자와 알파벳을 순서대로 섞어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FD20DE-0C0E-F19D-B8A2-60616F14F513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2BCF002-39FE-9A46-26C7-17D354B3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794" y="7209208"/>
            <a:ext cx="2652471" cy="1510486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34F2E588-40B1-5FBC-0806-C8280491A8D8}"/>
              </a:ext>
            </a:extLst>
          </p:cNvPr>
          <p:cNvGrpSpPr/>
          <p:nvPr/>
        </p:nvGrpSpPr>
        <p:grpSpPr>
          <a:xfrm>
            <a:off x="1651562" y="2042742"/>
            <a:ext cx="1624244" cy="1087403"/>
            <a:chOff x="1651562" y="2032582"/>
            <a:chExt cx="1624244" cy="1087403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B26208B3-87B8-014D-303E-A6C3B9063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562" y="2032582"/>
              <a:ext cx="1624244" cy="254951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DA5F61AF-7551-F73C-2111-3F33FC226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203" y="2355128"/>
              <a:ext cx="756358" cy="764857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CFB614C-2E45-B1A7-E584-B2791F280202}"/>
              </a:ext>
            </a:extLst>
          </p:cNvPr>
          <p:cNvGrpSpPr/>
          <p:nvPr/>
        </p:nvGrpSpPr>
        <p:grpSpPr>
          <a:xfrm>
            <a:off x="1686329" y="4368800"/>
            <a:ext cx="1624244" cy="934720"/>
            <a:chOff x="1692203" y="4263337"/>
            <a:chExt cx="2086266" cy="1029481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65C2164F-CC6A-E90F-6EF8-BF8AFB51E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92203" y="4263337"/>
              <a:ext cx="2086266" cy="304843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0CC57F4-8A1E-09E6-9164-DD0CB7B7D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9209" y="4625975"/>
              <a:ext cx="714475" cy="666843"/>
            </a:xfrm>
            <a:prstGeom prst="rect">
              <a:avLst/>
            </a:prstGeom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80C1C31-8F35-7D7D-56F6-BAE15C49F2D7}"/>
              </a:ext>
            </a:extLst>
          </p:cNvPr>
          <p:cNvGrpSpPr/>
          <p:nvPr/>
        </p:nvGrpSpPr>
        <p:grpSpPr>
          <a:xfrm>
            <a:off x="1651562" y="6543836"/>
            <a:ext cx="1827443" cy="764857"/>
            <a:chOff x="2557095" y="6277136"/>
            <a:chExt cx="2210108" cy="981212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7F975E3C-31FB-506D-6E3B-CB920B492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57095" y="6277136"/>
              <a:ext cx="2210108" cy="333422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DFC4319A-4F64-B4BD-FE1C-A90173C69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83622" y="6610558"/>
              <a:ext cx="676369" cy="647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874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07D1-517D-0592-B330-B6B30AB0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1DB1EA-0A46-C927-5C21-2FE99AD170DE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8.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숫자와 알파벳을 순서대로 섞어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9. </a:t>
            </a:r>
            <a:r>
              <a:rPr lang="ko-KR" altLang="en-US" dirty="0"/>
              <a:t>자연수 </a:t>
            </a:r>
            <a:r>
              <a:rPr lang="en-US" altLang="ko-KR" dirty="0"/>
              <a:t>n=4</a:t>
            </a:r>
            <a:r>
              <a:rPr lang="ko-KR" altLang="en-US" dirty="0"/>
              <a:t>와 같다면 </a:t>
            </a:r>
            <a:r>
              <a:rPr lang="en-US" altLang="ko-KR" dirty="0"/>
              <a:t>n</a:t>
            </a:r>
            <a:r>
              <a:rPr lang="ko-KR" altLang="en-US" dirty="0"/>
              <a:t>개의 줄에 </a:t>
            </a:r>
            <a:r>
              <a:rPr lang="en-US" altLang="ko-KR" dirty="0"/>
              <a:t>n + 1 </a:t>
            </a:r>
            <a:r>
              <a:rPr lang="ko-KR" altLang="en-US" dirty="0"/>
              <a:t>개의 숫자와 문자로 채워서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10. </a:t>
            </a:r>
            <a:r>
              <a:rPr lang="ko-KR" altLang="en-US" dirty="0"/>
              <a:t>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144DA29-E748-A26A-653D-5EC5A3E94C43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87B52759-7AC7-E04F-B365-D1E9E39C9E8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14</a:t>
            </a:fld>
            <a:endParaRPr lang="ko-KR" altLang="en-US" sz="1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A95E56-856F-A339-3950-2F08D3F582D6}"/>
              </a:ext>
            </a:extLst>
          </p:cNvPr>
          <p:cNvGrpSpPr/>
          <p:nvPr/>
        </p:nvGrpSpPr>
        <p:grpSpPr>
          <a:xfrm>
            <a:off x="1651562" y="2164662"/>
            <a:ext cx="1624244" cy="1007632"/>
            <a:chOff x="1651562" y="2164662"/>
            <a:chExt cx="1624244" cy="1007632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AA32CCF1-CCB6-2F8F-1843-7930E6C77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1562" y="2164662"/>
              <a:ext cx="1624244" cy="254951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8D6C302-5701-AF28-5DD6-D57B618C8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9844" y="2457959"/>
              <a:ext cx="658775" cy="71433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4AE934C-3FFC-9AB6-49DE-193741000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562" y="4386466"/>
            <a:ext cx="962098" cy="7093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F108A0-0847-DBE1-DCF1-D9FDFF9E7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562" y="6373112"/>
            <a:ext cx="716771" cy="68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34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8361-7D78-08EF-6C78-9A51408F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1EA3311-696A-F28F-966A-7CEE1944C134}"/>
              </a:ext>
            </a:extLst>
          </p:cNvPr>
          <p:cNvSpPr txBox="1">
            <a:spLocks/>
          </p:cNvSpPr>
          <p:nvPr/>
        </p:nvSpPr>
        <p:spPr>
          <a:xfrm>
            <a:off x="1009678" y="1359547"/>
            <a:ext cx="5057748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※ </a:t>
            </a:r>
            <a:r>
              <a:rPr lang="ko-KR" altLang="en-US" dirty="0"/>
              <a:t>가로줄에서 변수 시작하는 방법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줄마다 숫자가 다시 시작 </a:t>
            </a:r>
            <a:r>
              <a:rPr lang="en-US" altLang="ko-KR" dirty="0"/>
              <a:t>: x = 1</a:t>
            </a:r>
            <a:r>
              <a:rPr lang="ko-KR" altLang="en-US" dirty="0"/>
              <a:t>이 안쪽 </a:t>
            </a:r>
            <a:r>
              <a:rPr lang="en-US" altLang="ko-KR" dirty="0"/>
              <a:t>for</a:t>
            </a:r>
            <a:r>
              <a:rPr lang="ko-KR" altLang="en-US" dirty="0"/>
              <a:t>문 위에 있어야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실행 결과</a:t>
            </a:r>
            <a:r>
              <a:rPr lang="en-US" altLang="ko-KR" dirty="0"/>
              <a:t>]                           [</a:t>
            </a:r>
            <a:r>
              <a:rPr lang="ko-KR" altLang="en-US" dirty="0"/>
              <a:t>코드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11. </a:t>
            </a:r>
            <a:r>
              <a:rPr lang="ko-KR" altLang="en-US" dirty="0"/>
              <a:t>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12.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764DF0D-AEFC-A3DF-0735-24809044A66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7F8DC4-108D-4144-AAAC-3B92BBA8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12" y="2150514"/>
            <a:ext cx="2180023" cy="13247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BDE4ADA-0DB5-F8CC-F11D-B25D86AA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96" y="2356060"/>
            <a:ext cx="716771" cy="6895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D416BB-F5BD-095D-4591-03484D134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181" y="4359226"/>
            <a:ext cx="559097" cy="689552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9B1EB7B-D89B-E975-3FD0-2B898C69196B}"/>
              </a:ext>
            </a:extLst>
          </p:cNvPr>
          <p:cNvGrpSpPr/>
          <p:nvPr/>
        </p:nvGrpSpPr>
        <p:grpSpPr>
          <a:xfrm>
            <a:off x="1756181" y="6474975"/>
            <a:ext cx="1691869" cy="811666"/>
            <a:chOff x="1756181" y="6360659"/>
            <a:chExt cx="1733792" cy="93357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7982913-A63C-5AA4-4920-A6CA0B231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6181" y="6360659"/>
              <a:ext cx="1733792" cy="22863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422661E-71AB-E86F-42FB-F0FCD26CB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09724" y="6617866"/>
              <a:ext cx="609685" cy="676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659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100F-7335-436F-EAD7-42F1BBC6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F638F2-BD15-C413-6113-8939447B823F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13. . </a:t>
            </a:r>
            <a:r>
              <a:rPr lang="ko-KR" altLang="en-US" dirty="0"/>
              <a:t>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14.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문자로 채워서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15.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문자로 채워서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73612C-5418-EBFD-5BC9-D2062E1D172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A5C07417-65BD-D203-A40B-CEC812D60CE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16</a:t>
            </a:fld>
            <a:endParaRPr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E633D6-990C-2E65-C84F-377404DA8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63" y="1970212"/>
            <a:ext cx="528358" cy="628998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E7A907-E4D4-8AC7-C6F3-F1BC94050E60}"/>
              </a:ext>
            </a:extLst>
          </p:cNvPr>
          <p:cNvGrpSpPr/>
          <p:nvPr/>
        </p:nvGrpSpPr>
        <p:grpSpPr>
          <a:xfrm>
            <a:off x="1715102" y="4230335"/>
            <a:ext cx="1474114" cy="973566"/>
            <a:chOff x="1651562" y="4087796"/>
            <a:chExt cx="1752845" cy="113297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3CF5EF2-AB2C-1A7A-3037-C05C1789C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562" y="4087796"/>
              <a:ext cx="1752845" cy="23815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5BE2323-B82C-8C90-D0E0-FC812DB73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7935" y="4372929"/>
              <a:ext cx="752580" cy="847843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D9A6C03-82FA-B203-368C-71F57D7F2DE2}"/>
              </a:ext>
            </a:extLst>
          </p:cNvPr>
          <p:cNvGrpSpPr/>
          <p:nvPr/>
        </p:nvGrpSpPr>
        <p:grpSpPr>
          <a:xfrm>
            <a:off x="1719258" y="6451405"/>
            <a:ext cx="1426705" cy="1056505"/>
            <a:chOff x="1719258" y="6225234"/>
            <a:chExt cx="1733792" cy="124999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54A7F1D-F667-849B-2017-B17417640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9258" y="6225234"/>
              <a:ext cx="1733792" cy="209579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B301CE8-8908-AD57-5780-80B28A2EB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3489" y="6513071"/>
              <a:ext cx="876422" cy="962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1012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DC28-9344-09D3-7BE7-D2DA259A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9176A1E-FB05-84C7-1412-D5B9DE5D9D7D}"/>
              </a:ext>
            </a:extLst>
          </p:cNvPr>
          <p:cNvSpPr txBox="1">
            <a:spLocks/>
          </p:cNvSpPr>
          <p:nvPr/>
        </p:nvSpPr>
        <p:spPr>
          <a:xfrm>
            <a:off x="1009678" y="1359547"/>
            <a:ext cx="5057748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16.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문자로 채워서 다음과 같이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17.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 다음과 같이 숫자 배열 패턴을 출력하세요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18.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</a:t>
            </a:r>
            <a:r>
              <a:rPr lang="en-US" altLang="ko-KR" dirty="0"/>
              <a:t>, </a:t>
            </a:r>
            <a:r>
              <a:rPr lang="ko-KR" altLang="en-US" dirty="0"/>
              <a:t>아래와 같이 </a:t>
            </a:r>
            <a:r>
              <a:rPr lang="en-US" altLang="ko-KR" dirty="0"/>
              <a:t># </a:t>
            </a:r>
            <a:r>
              <a:rPr lang="ko-KR" altLang="en-US" dirty="0"/>
              <a:t>기호로 좌측 직각삼각형과 우측 </a:t>
            </a:r>
            <a:r>
              <a:rPr lang="ko-KR" altLang="en-US" dirty="0" err="1"/>
              <a:t>역직각삼각형을</a:t>
            </a:r>
            <a:r>
              <a:rPr lang="ko-KR" altLang="en-US" dirty="0"/>
              <a:t> 이어서 출력하세요</a:t>
            </a:r>
            <a:r>
              <a:rPr lang="en-US" altLang="ko-KR" dirty="0"/>
              <a:t>.(</a:t>
            </a:r>
            <a:r>
              <a:rPr lang="ko-KR" altLang="en-US" dirty="0"/>
              <a:t>두 번째 삼각형은 한 줄 내려서 시작하지 않고</a:t>
            </a:r>
            <a:r>
              <a:rPr lang="en-US" altLang="ko-KR" dirty="0"/>
              <a:t>, </a:t>
            </a:r>
            <a:r>
              <a:rPr lang="ko-KR" altLang="en-US" dirty="0"/>
              <a:t>첫 모양 바로 아래에 연이어 출력됩니다</a:t>
            </a:r>
            <a:r>
              <a:rPr lang="en-US" altLang="ko-KR" dirty="0"/>
              <a:t>.).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28D4B7-6C79-1DCF-7E73-DEC23C664A1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B23ADFD-2399-9CA9-F054-C0F9B264DAB7}"/>
              </a:ext>
            </a:extLst>
          </p:cNvPr>
          <p:cNvGrpSpPr/>
          <p:nvPr/>
        </p:nvGrpSpPr>
        <p:grpSpPr>
          <a:xfrm>
            <a:off x="1651406" y="2312550"/>
            <a:ext cx="1691869" cy="754501"/>
            <a:chOff x="1651406" y="2245875"/>
            <a:chExt cx="1691869" cy="75450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FB1EE46-CBA8-7383-F9CB-CBA180ECC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1406" y="2245875"/>
              <a:ext cx="1691869" cy="1987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280FC5-7D91-CB26-84D5-F9DAD2A8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407" y="2444652"/>
              <a:ext cx="508090" cy="555724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2CE854F-2015-6F9D-5723-6818FA4EF909}"/>
              </a:ext>
            </a:extLst>
          </p:cNvPr>
          <p:cNvGrpSpPr/>
          <p:nvPr/>
        </p:nvGrpSpPr>
        <p:grpSpPr>
          <a:xfrm>
            <a:off x="1651406" y="4288056"/>
            <a:ext cx="1691869" cy="712570"/>
            <a:chOff x="1651406" y="4244957"/>
            <a:chExt cx="1752845" cy="76679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2F79578-03BE-5F88-907E-702451F47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1406" y="4244957"/>
              <a:ext cx="1752845" cy="24768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800714A-A535-F4C0-7ECD-53F626D82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83181" y="4506861"/>
              <a:ext cx="476316" cy="5048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F11FFB9-27CE-9391-2181-700FFD9848A8}"/>
              </a:ext>
            </a:extLst>
          </p:cNvPr>
          <p:cNvGrpSpPr/>
          <p:nvPr/>
        </p:nvGrpSpPr>
        <p:grpSpPr>
          <a:xfrm>
            <a:off x="1682076" y="6740625"/>
            <a:ext cx="1691869" cy="1220537"/>
            <a:chOff x="1651405" y="6342314"/>
            <a:chExt cx="1691869" cy="122053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1B699FE8-6A33-9C84-28DE-11ED6EDB0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1405" y="6342314"/>
              <a:ext cx="1691869" cy="198776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A12EA53-575E-2B1B-B239-4B2DBED28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51405" y="6585603"/>
              <a:ext cx="547259" cy="9772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629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20518</TotalTime>
  <Words>1205</Words>
  <Application>Microsoft Office PowerPoint</Application>
  <PresentationFormat>사용자 지정</PresentationFormat>
  <Paragraphs>434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12LotteMartDreamMedium</vt:lpstr>
      <vt:lpstr>210 옴니고딕 030</vt:lpstr>
      <vt:lpstr>Arial Hebrew Scholar</vt:lpstr>
      <vt:lpstr>휴먼모음T</vt:lpstr>
      <vt:lpstr>휴먼편지체</vt:lpstr>
      <vt:lpstr>Arial</vt:lpstr>
      <vt:lpstr>Calibri</vt:lpstr>
      <vt:lpstr>Calibri Light</vt:lpstr>
      <vt:lpstr>Wingdings</vt:lpstr>
      <vt:lpstr>맑은 고딕</vt:lpstr>
      <vt:lpstr>Office 2013 - 2022 테마</vt:lpstr>
      <vt:lpstr>6</vt:lpstr>
      <vt:lpstr>이중 for 문</vt:lpstr>
      <vt:lpstr>PowerPoint 프레젠테이션</vt:lpstr>
      <vt:lpstr>PowerPoint 프레젠테이션</vt:lpstr>
      <vt:lpstr>PowerPoint 프레젠테이션</vt:lpstr>
      <vt:lpstr>이중 for 문과 대각선 이해하기 I</vt:lpstr>
      <vt:lpstr>PowerPoint 프레젠테이션</vt:lpstr>
      <vt:lpstr>PowerPoint 프레젠테이션</vt:lpstr>
      <vt:lpstr>이중 for 문과 대각선 이해하기 II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156</cp:revision>
  <cp:lastPrinted>2025-10-31T06:11:16Z</cp:lastPrinted>
  <dcterms:created xsi:type="dcterms:W3CDTF">2023-06-21T09:07:53Z</dcterms:created>
  <dcterms:modified xsi:type="dcterms:W3CDTF">2025-11-13T07:15:44Z</dcterms:modified>
</cp:coreProperties>
</file>